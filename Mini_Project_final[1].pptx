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3"/>
  </p:notesMasterIdLst>
  <p:sldIdLst>
    <p:sldId id="257" r:id="rId2"/>
    <p:sldId id="259" r:id="rId3"/>
    <p:sldId id="258" r:id="rId4"/>
    <p:sldId id="292" r:id="rId5"/>
    <p:sldId id="281" r:id="rId6"/>
    <p:sldId id="294" r:id="rId7"/>
    <p:sldId id="260" r:id="rId8"/>
    <p:sldId id="262" r:id="rId9"/>
    <p:sldId id="301" r:id="rId10"/>
    <p:sldId id="296" r:id="rId11"/>
    <p:sldId id="297" r:id="rId12"/>
    <p:sldId id="318" r:id="rId13"/>
    <p:sldId id="310" r:id="rId14"/>
    <p:sldId id="298" r:id="rId15"/>
    <p:sldId id="299" r:id="rId16"/>
    <p:sldId id="317" r:id="rId17"/>
    <p:sldId id="304" r:id="rId18"/>
    <p:sldId id="305" r:id="rId19"/>
    <p:sldId id="306" r:id="rId20"/>
    <p:sldId id="309" r:id="rId21"/>
    <p:sldId id="307" r:id="rId22"/>
    <p:sldId id="308" r:id="rId23"/>
    <p:sldId id="311" r:id="rId24"/>
    <p:sldId id="312" r:id="rId25"/>
    <p:sldId id="313" r:id="rId26"/>
    <p:sldId id="314" r:id="rId27"/>
    <p:sldId id="315" r:id="rId28"/>
    <p:sldId id="316" r:id="rId29"/>
    <p:sldId id="300" r:id="rId30"/>
    <p:sldId id="293" r:id="rId31"/>
    <p:sldId id="277" r:id="rId3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548" autoAdjust="0"/>
    <p:restoredTop sz="94660"/>
  </p:normalViewPr>
  <p:slideViewPr>
    <p:cSldViewPr snapToGrid="0">
      <p:cViewPr varScale="1">
        <p:scale>
          <a:sx n="82" d="100"/>
          <a:sy n="82" d="100"/>
        </p:scale>
        <p:origin x="557" y="7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HESH GHORPADE M" userId="e06ac2b037c00fef" providerId="LiveId" clId="{5025E19A-8C11-4623-B4C0-E9F6B8262267}"/>
    <pc:docChg chg="modSld">
      <pc:chgData name="MAHESH GHORPADE M" userId="e06ac2b037c00fef" providerId="LiveId" clId="{5025E19A-8C11-4623-B4C0-E9F6B8262267}" dt="2025-10-13T15:47:35.548" v="8" actId="123"/>
      <pc:docMkLst>
        <pc:docMk/>
      </pc:docMkLst>
      <pc:sldChg chg="modSp mod">
        <pc:chgData name="MAHESH GHORPADE M" userId="e06ac2b037c00fef" providerId="LiveId" clId="{5025E19A-8C11-4623-B4C0-E9F6B8262267}" dt="2025-10-13T15:47:35.548" v="8" actId="123"/>
        <pc:sldMkLst>
          <pc:docMk/>
          <pc:sldMk cId="0" sldId="262"/>
        </pc:sldMkLst>
        <pc:spChg chg="mod">
          <ac:chgData name="MAHESH GHORPADE M" userId="e06ac2b037c00fef" providerId="LiveId" clId="{5025E19A-8C11-4623-B4C0-E9F6B8262267}" dt="2025-10-13T15:47:35.548" v="8" actId="123"/>
          <ac:spMkLst>
            <pc:docMk/>
            <pc:sldMk cId="0" sldId="262"/>
            <ac:spMk id="3" creationId="{05A15744-EA89-472B-BC91-D90CE00EBA63}"/>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48756"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1048757"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B1AEB5-0A8A-48B8-9F5C-76C2E553EC97}" type="datetimeFigureOut">
              <a:rPr lang="en-US" smtClean="0"/>
              <a:pPr/>
              <a:t>10/13/2025</a:t>
            </a:fld>
            <a:endParaRPr lang="en-US"/>
          </a:p>
        </p:txBody>
      </p:sp>
      <p:sp>
        <p:nvSpPr>
          <p:cNvPr id="1048758"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1048759"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60"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1048761"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27C73F2-FD95-4CC9-8539-88D3C6077588}"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40" name="Slide Image Placeholder 1"/>
          <p:cNvSpPr>
            <a:spLocks noGrp="1" noRot="1" noChangeAspect="1"/>
          </p:cNvSpPr>
          <p:nvPr>
            <p:ph type="sldImg"/>
          </p:nvPr>
        </p:nvSpPr>
        <p:spPr/>
      </p:sp>
      <p:sp>
        <p:nvSpPr>
          <p:cNvPr id="1048641" name="Notes Placeholder 2"/>
          <p:cNvSpPr>
            <a:spLocks noGrp="1"/>
          </p:cNvSpPr>
          <p:nvPr>
            <p:ph type="body" idx="1"/>
          </p:nvPr>
        </p:nvSpPr>
        <p:spPr/>
        <p:txBody>
          <a:bodyPr/>
          <a:lstStyle/>
          <a:p>
            <a:endParaRPr lang="en-US" dirty="0"/>
          </a:p>
        </p:txBody>
      </p:sp>
      <p:sp>
        <p:nvSpPr>
          <p:cNvPr id="1048642"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pPr>
            <a:fld id="{427C73F2-FD95-4CC9-8539-88D3C6077588}"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pPr>
              <a:t>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31" name="Slide Image Placeholder 1"/>
          <p:cNvSpPr>
            <a:spLocks noGrp="1" noRot="1" noChangeAspect="1"/>
          </p:cNvSpPr>
          <p:nvPr>
            <p:ph type="sldImg"/>
          </p:nvPr>
        </p:nvSpPr>
        <p:spPr/>
      </p:sp>
      <p:sp>
        <p:nvSpPr>
          <p:cNvPr id="1048632" name="Notes Placeholder 2"/>
          <p:cNvSpPr>
            <a:spLocks noGrp="1"/>
          </p:cNvSpPr>
          <p:nvPr>
            <p:ph type="body" idx="1"/>
          </p:nvPr>
        </p:nvSpPr>
        <p:spPr/>
        <p:txBody>
          <a:bodyPr/>
          <a:lstStyle/>
          <a:p>
            <a:endParaRPr lang="en-US" dirty="0"/>
          </a:p>
        </p:txBody>
      </p:sp>
      <p:sp>
        <p:nvSpPr>
          <p:cNvPr id="1048633"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pPr>
            <a:fld id="{427C73F2-FD95-4CC9-8539-88D3C6077588}"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pPr>
              <a:t>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40" name="Slide Image Placeholder 1"/>
          <p:cNvSpPr>
            <a:spLocks noGrp="1" noRot="1" noChangeAspect="1"/>
          </p:cNvSpPr>
          <p:nvPr>
            <p:ph type="sldImg"/>
          </p:nvPr>
        </p:nvSpPr>
        <p:spPr/>
      </p:sp>
      <p:sp>
        <p:nvSpPr>
          <p:cNvPr id="1048641" name="Notes Placeholder 2"/>
          <p:cNvSpPr>
            <a:spLocks noGrp="1"/>
          </p:cNvSpPr>
          <p:nvPr>
            <p:ph type="body" idx="1"/>
          </p:nvPr>
        </p:nvSpPr>
        <p:spPr/>
        <p:txBody>
          <a:bodyPr/>
          <a:lstStyle/>
          <a:p>
            <a:endParaRPr lang="en-US" dirty="0"/>
          </a:p>
        </p:txBody>
      </p:sp>
      <p:sp>
        <p:nvSpPr>
          <p:cNvPr id="1048642"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pPr>
            <a:fld id="{427C73F2-FD95-4CC9-8539-88D3C6077588}"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pPr>
              <a:t>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8437560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55" name="Slide Image Placeholder 1"/>
          <p:cNvSpPr>
            <a:spLocks noGrp="1" noRot="1" noChangeAspect="1"/>
          </p:cNvSpPr>
          <p:nvPr>
            <p:ph type="sldImg"/>
          </p:nvPr>
        </p:nvSpPr>
        <p:spPr/>
      </p:sp>
      <p:sp>
        <p:nvSpPr>
          <p:cNvPr id="1048656" name="Notes Placeholder 2"/>
          <p:cNvSpPr>
            <a:spLocks noGrp="1"/>
          </p:cNvSpPr>
          <p:nvPr>
            <p:ph type="body" idx="1"/>
          </p:nvPr>
        </p:nvSpPr>
        <p:spPr/>
        <p:txBody>
          <a:bodyPr/>
          <a:lstStyle/>
          <a:p>
            <a:endParaRPr lang="en-US" dirty="0"/>
          </a:p>
        </p:txBody>
      </p:sp>
      <p:sp>
        <p:nvSpPr>
          <p:cNvPr id="1048657"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pPr>
            <a:fld id="{427C73F2-FD95-4CC9-8539-88D3C6077588}"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pPr>
              <a:t>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9110843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48" name="Slide Image Placeholder 1"/>
          <p:cNvSpPr>
            <a:spLocks noGrp="1" noRot="1" noChangeAspect="1"/>
          </p:cNvSpPr>
          <p:nvPr>
            <p:ph type="sldImg"/>
          </p:nvPr>
        </p:nvSpPr>
        <p:spPr/>
      </p:sp>
      <p:sp>
        <p:nvSpPr>
          <p:cNvPr id="1048649" name="Notes Placeholder 2"/>
          <p:cNvSpPr>
            <a:spLocks noGrp="1"/>
          </p:cNvSpPr>
          <p:nvPr>
            <p:ph type="body" idx="1"/>
          </p:nvPr>
        </p:nvSpPr>
        <p:spPr/>
        <p:txBody>
          <a:bodyPr/>
          <a:lstStyle/>
          <a:p>
            <a:endParaRPr lang="en-US" dirty="0"/>
          </a:p>
        </p:txBody>
      </p:sp>
      <p:sp>
        <p:nvSpPr>
          <p:cNvPr id="1048650"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pPr>
            <a:fld id="{427C73F2-FD95-4CC9-8539-88D3C6077588}"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pPr>
              <a:t>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63" name="Slide Image Placeholder 1"/>
          <p:cNvSpPr>
            <a:spLocks noGrp="1" noRot="1" noChangeAspect="1"/>
          </p:cNvSpPr>
          <p:nvPr>
            <p:ph type="sldImg"/>
          </p:nvPr>
        </p:nvSpPr>
        <p:spPr/>
      </p:sp>
      <p:sp>
        <p:nvSpPr>
          <p:cNvPr id="1048664" name="Notes Placeholder 2"/>
          <p:cNvSpPr>
            <a:spLocks noGrp="1"/>
          </p:cNvSpPr>
          <p:nvPr>
            <p:ph type="body" idx="1"/>
          </p:nvPr>
        </p:nvSpPr>
        <p:spPr/>
        <p:txBody>
          <a:bodyPr/>
          <a:lstStyle/>
          <a:p>
            <a:endParaRPr lang="en-US" dirty="0"/>
          </a:p>
        </p:txBody>
      </p:sp>
      <p:sp>
        <p:nvSpPr>
          <p:cNvPr id="1048665"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pPr>
            <a:fld id="{427C73F2-FD95-4CC9-8539-88D3C6077588}"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pPr>
              <a:t>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048610"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1048611"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048612" name="Date Placeholder 3"/>
          <p:cNvSpPr>
            <a:spLocks noGrp="1"/>
          </p:cNvSpPr>
          <p:nvPr>
            <p:ph type="dt" sz="half" idx="10"/>
          </p:nvPr>
        </p:nvSpPr>
        <p:spPr/>
        <p:txBody>
          <a:bodyPr/>
          <a:lstStyle/>
          <a:p>
            <a:fld id="{EC129ED4-0216-4DF7-9370-DAC2970BA186}" type="datetime1">
              <a:rPr lang="en-US" smtClean="0"/>
              <a:t>10/13/2025</a:t>
            </a:fld>
            <a:endParaRPr lang="en-US"/>
          </a:p>
        </p:txBody>
      </p:sp>
      <p:sp>
        <p:nvSpPr>
          <p:cNvPr id="1048613" name="Footer Placeholder 4"/>
          <p:cNvSpPr>
            <a:spLocks noGrp="1"/>
          </p:cNvSpPr>
          <p:nvPr>
            <p:ph type="ftr" sz="quarter" idx="11"/>
          </p:nvPr>
        </p:nvSpPr>
        <p:spPr/>
        <p:txBody>
          <a:bodyPr/>
          <a:lstStyle/>
          <a:p>
            <a:r>
              <a:rPr lang="en-US"/>
              <a:t>NextGen College Advisor: AI-Powered Guidance for Students</a:t>
            </a:r>
          </a:p>
        </p:txBody>
      </p:sp>
      <p:sp>
        <p:nvSpPr>
          <p:cNvPr id="1048614" name="Slide Number Placeholder 5"/>
          <p:cNvSpPr>
            <a:spLocks noGrp="1"/>
          </p:cNvSpPr>
          <p:nvPr>
            <p:ph type="sldNum" sz="quarter" idx="12"/>
          </p:nvPr>
        </p:nvSpPr>
        <p:spPr/>
        <p:txBody>
          <a:bodyPr/>
          <a:lstStyle/>
          <a:p>
            <a:fld id="{FA11DADA-ACB1-42D7-8648-2A253C2E43B8}"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1048581" name="Title 1"/>
          <p:cNvSpPr>
            <a:spLocks noGrp="1"/>
          </p:cNvSpPr>
          <p:nvPr>
            <p:ph type="title"/>
          </p:nvPr>
        </p:nvSpPr>
        <p:spPr/>
        <p:txBody>
          <a:bodyPr/>
          <a:lstStyle/>
          <a:p>
            <a:r>
              <a:rPr lang="en-US"/>
              <a:t>Click to edit Master title style</a:t>
            </a:r>
          </a:p>
        </p:txBody>
      </p:sp>
      <p:sp>
        <p:nvSpPr>
          <p:cNvPr id="1048582"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048583" name="Date Placeholder 3"/>
          <p:cNvSpPr>
            <a:spLocks noGrp="1"/>
          </p:cNvSpPr>
          <p:nvPr>
            <p:ph type="dt" sz="half" idx="10"/>
          </p:nvPr>
        </p:nvSpPr>
        <p:spPr/>
        <p:txBody>
          <a:bodyPr/>
          <a:lstStyle/>
          <a:p>
            <a:fld id="{E43CE86B-4439-4A6A-8489-DA5531BFEF57}" type="datetime1">
              <a:rPr lang="en-US" smtClean="0"/>
              <a:t>10/13/2025</a:t>
            </a:fld>
            <a:endParaRPr lang="en-US"/>
          </a:p>
        </p:txBody>
      </p:sp>
      <p:sp>
        <p:nvSpPr>
          <p:cNvPr id="1048584" name="Footer Placeholder 4"/>
          <p:cNvSpPr>
            <a:spLocks noGrp="1"/>
          </p:cNvSpPr>
          <p:nvPr>
            <p:ph type="ftr" sz="quarter" idx="11"/>
          </p:nvPr>
        </p:nvSpPr>
        <p:spPr/>
        <p:txBody>
          <a:bodyPr/>
          <a:lstStyle/>
          <a:p>
            <a:r>
              <a:rPr lang="en-US"/>
              <a:t>NextGen College Advisor: AI-Powered Guidance for Students</a:t>
            </a:r>
          </a:p>
        </p:txBody>
      </p:sp>
      <p:sp>
        <p:nvSpPr>
          <p:cNvPr id="1048585" name="Slide Number Placeholder 5"/>
          <p:cNvSpPr>
            <a:spLocks noGrp="1"/>
          </p:cNvSpPr>
          <p:nvPr>
            <p:ph type="sldNum" sz="quarter" idx="12"/>
          </p:nvPr>
        </p:nvSpPr>
        <p:spPr/>
        <p:txBody>
          <a:bodyPr/>
          <a:lstStyle/>
          <a:p>
            <a:fld id="{FA11DADA-ACB1-42D7-8648-2A253C2E43B8}"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1048728"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1048729"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1048730" name="Date Placeholder 3"/>
          <p:cNvSpPr>
            <a:spLocks noGrp="1"/>
          </p:cNvSpPr>
          <p:nvPr>
            <p:ph type="dt" sz="half" idx="10"/>
          </p:nvPr>
        </p:nvSpPr>
        <p:spPr/>
        <p:txBody>
          <a:bodyPr/>
          <a:lstStyle/>
          <a:p>
            <a:fld id="{8D04F8F8-99B7-4393-80E3-FCDAA19C1EB8}" type="datetime1">
              <a:rPr lang="en-US" smtClean="0"/>
              <a:t>10/13/2025</a:t>
            </a:fld>
            <a:endParaRPr lang="en-US"/>
          </a:p>
        </p:txBody>
      </p:sp>
      <p:sp>
        <p:nvSpPr>
          <p:cNvPr id="1048731" name="Footer Placeholder 4"/>
          <p:cNvSpPr>
            <a:spLocks noGrp="1"/>
          </p:cNvSpPr>
          <p:nvPr>
            <p:ph type="ftr" sz="quarter" idx="11"/>
          </p:nvPr>
        </p:nvSpPr>
        <p:spPr/>
        <p:txBody>
          <a:bodyPr/>
          <a:lstStyle/>
          <a:p>
            <a:r>
              <a:rPr lang="en-US"/>
              <a:t>NextGen College Advisor: AI-Powered Guidance for Students</a:t>
            </a:r>
          </a:p>
        </p:txBody>
      </p:sp>
      <p:sp>
        <p:nvSpPr>
          <p:cNvPr id="1048732" name="Slide Number Placeholder 5"/>
          <p:cNvSpPr>
            <a:spLocks noGrp="1"/>
          </p:cNvSpPr>
          <p:nvPr>
            <p:ph type="sldNum" sz="quarter" idx="12"/>
          </p:nvPr>
        </p:nvSpPr>
        <p:spPr/>
        <p:txBody>
          <a:bodyPr/>
          <a:lstStyle/>
          <a:p>
            <a:fld id="{FA11DADA-ACB1-42D7-8648-2A253C2E43B8}"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1048733" name="Title 1"/>
          <p:cNvSpPr>
            <a:spLocks noGrp="1"/>
          </p:cNvSpPr>
          <p:nvPr>
            <p:ph type="title"/>
          </p:nvPr>
        </p:nvSpPr>
        <p:spPr/>
        <p:txBody>
          <a:bodyPr/>
          <a:lstStyle/>
          <a:p>
            <a:r>
              <a:rPr lang="en-US"/>
              <a:t>Click to edit Master title style</a:t>
            </a:r>
          </a:p>
        </p:txBody>
      </p:sp>
      <p:sp>
        <p:nvSpPr>
          <p:cNvPr id="1048734"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35"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36" name="Date Placeholder 4"/>
          <p:cNvSpPr>
            <a:spLocks noGrp="1"/>
          </p:cNvSpPr>
          <p:nvPr>
            <p:ph type="dt" sz="half" idx="10"/>
          </p:nvPr>
        </p:nvSpPr>
        <p:spPr/>
        <p:txBody>
          <a:bodyPr/>
          <a:lstStyle/>
          <a:p>
            <a:fld id="{F990A392-96D1-450D-A702-DC768C66D59D}" type="datetime1">
              <a:rPr lang="en-US" smtClean="0"/>
              <a:t>10/13/2025</a:t>
            </a:fld>
            <a:endParaRPr lang="en-US"/>
          </a:p>
        </p:txBody>
      </p:sp>
      <p:sp>
        <p:nvSpPr>
          <p:cNvPr id="1048737" name="Footer Placeholder 5"/>
          <p:cNvSpPr>
            <a:spLocks noGrp="1"/>
          </p:cNvSpPr>
          <p:nvPr>
            <p:ph type="ftr" sz="quarter" idx="11"/>
          </p:nvPr>
        </p:nvSpPr>
        <p:spPr/>
        <p:txBody>
          <a:bodyPr/>
          <a:lstStyle/>
          <a:p>
            <a:r>
              <a:rPr lang="en-US"/>
              <a:t>NextGen College Advisor: AI-Powered Guidance for Students</a:t>
            </a:r>
          </a:p>
        </p:txBody>
      </p:sp>
      <p:sp>
        <p:nvSpPr>
          <p:cNvPr id="1048738" name="Slide Number Placeholder 6"/>
          <p:cNvSpPr>
            <a:spLocks noGrp="1"/>
          </p:cNvSpPr>
          <p:nvPr>
            <p:ph type="sldNum" sz="quarter" idx="12"/>
          </p:nvPr>
        </p:nvSpPr>
        <p:spPr/>
        <p:txBody>
          <a:bodyPr/>
          <a:lstStyle/>
          <a:p>
            <a:fld id="{FA11DADA-ACB1-42D7-8648-2A253C2E43B8}"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48739" name="Title 1"/>
          <p:cNvSpPr>
            <a:spLocks noGrp="1"/>
          </p:cNvSpPr>
          <p:nvPr>
            <p:ph type="title"/>
          </p:nvPr>
        </p:nvSpPr>
        <p:spPr>
          <a:xfrm>
            <a:off x="839788" y="365125"/>
            <a:ext cx="10515600" cy="1325563"/>
          </a:xfrm>
        </p:spPr>
        <p:txBody>
          <a:bodyPr/>
          <a:lstStyle/>
          <a:p>
            <a:r>
              <a:rPr lang="en-US"/>
              <a:t>Click to edit Master title style</a:t>
            </a:r>
          </a:p>
        </p:txBody>
      </p:sp>
      <p:sp>
        <p:nvSpPr>
          <p:cNvPr id="1048740"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048741"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42"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048743"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44" name="Date Placeholder 6"/>
          <p:cNvSpPr>
            <a:spLocks noGrp="1"/>
          </p:cNvSpPr>
          <p:nvPr>
            <p:ph type="dt" sz="half" idx="10"/>
          </p:nvPr>
        </p:nvSpPr>
        <p:spPr/>
        <p:txBody>
          <a:bodyPr/>
          <a:lstStyle/>
          <a:p>
            <a:fld id="{1F78725E-1197-4089-B085-D91C0EA1BA2E}" type="datetime1">
              <a:rPr lang="en-US" smtClean="0"/>
              <a:t>10/13/2025</a:t>
            </a:fld>
            <a:endParaRPr lang="en-US"/>
          </a:p>
        </p:txBody>
      </p:sp>
      <p:sp>
        <p:nvSpPr>
          <p:cNvPr id="1048745" name="Footer Placeholder 7"/>
          <p:cNvSpPr>
            <a:spLocks noGrp="1"/>
          </p:cNvSpPr>
          <p:nvPr>
            <p:ph type="ftr" sz="quarter" idx="11"/>
          </p:nvPr>
        </p:nvSpPr>
        <p:spPr/>
        <p:txBody>
          <a:bodyPr/>
          <a:lstStyle/>
          <a:p>
            <a:r>
              <a:rPr lang="en-US"/>
              <a:t>NextGen College Advisor: AI-Powered Guidance for Students</a:t>
            </a:r>
          </a:p>
        </p:txBody>
      </p:sp>
      <p:sp>
        <p:nvSpPr>
          <p:cNvPr id="1048746" name="Slide Number Placeholder 8"/>
          <p:cNvSpPr>
            <a:spLocks noGrp="1"/>
          </p:cNvSpPr>
          <p:nvPr>
            <p:ph type="sldNum" sz="quarter" idx="12"/>
          </p:nvPr>
        </p:nvSpPr>
        <p:spPr/>
        <p:txBody>
          <a:bodyPr/>
          <a:lstStyle/>
          <a:p>
            <a:fld id="{FA11DADA-ACB1-42D7-8648-2A253C2E43B8}"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048708" name="Title 1"/>
          <p:cNvSpPr>
            <a:spLocks noGrp="1"/>
          </p:cNvSpPr>
          <p:nvPr>
            <p:ph type="title"/>
          </p:nvPr>
        </p:nvSpPr>
        <p:spPr/>
        <p:txBody>
          <a:bodyPr/>
          <a:lstStyle/>
          <a:p>
            <a:r>
              <a:rPr lang="en-US"/>
              <a:t>Click to edit Master title style</a:t>
            </a:r>
          </a:p>
        </p:txBody>
      </p:sp>
      <p:sp>
        <p:nvSpPr>
          <p:cNvPr id="1048709" name="Date Placeholder 2"/>
          <p:cNvSpPr>
            <a:spLocks noGrp="1"/>
          </p:cNvSpPr>
          <p:nvPr>
            <p:ph type="dt" sz="half" idx="10"/>
          </p:nvPr>
        </p:nvSpPr>
        <p:spPr/>
        <p:txBody>
          <a:bodyPr/>
          <a:lstStyle/>
          <a:p>
            <a:fld id="{F1BDBE5B-A0ED-4D70-8D0F-A1ADCEE58C6C}" type="datetime1">
              <a:rPr lang="en-US" smtClean="0"/>
              <a:t>10/13/2025</a:t>
            </a:fld>
            <a:endParaRPr lang="en-US"/>
          </a:p>
        </p:txBody>
      </p:sp>
      <p:sp>
        <p:nvSpPr>
          <p:cNvPr id="1048710" name="Footer Placeholder 3"/>
          <p:cNvSpPr>
            <a:spLocks noGrp="1"/>
          </p:cNvSpPr>
          <p:nvPr>
            <p:ph type="ftr" sz="quarter" idx="11"/>
          </p:nvPr>
        </p:nvSpPr>
        <p:spPr/>
        <p:txBody>
          <a:bodyPr/>
          <a:lstStyle/>
          <a:p>
            <a:r>
              <a:rPr lang="en-US"/>
              <a:t>NextGen College Advisor: AI-Powered Guidance for Students</a:t>
            </a:r>
          </a:p>
        </p:txBody>
      </p:sp>
      <p:sp>
        <p:nvSpPr>
          <p:cNvPr id="1048711" name="Slide Number Placeholder 4"/>
          <p:cNvSpPr>
            <a:spLocks noGrp="1"/>
          </p:cNvSpPr>
          <p:nvPr>
            <p:ph type="sldNum" sz="quarter" idx="12"/>
          </p:nvPr>
        </p:nvSpPr>
        <p:spPr/>
        <p:txBody>
          <a:bodyPr/>
          <a:lstStyle/>
          <a:p>
            <a:fld id="{FA11DADA-ACB1-42D7-8648-2A253C2E43B8}"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1048747" name="Date Placeholder 1"/>
          <p:cNvSpPr>
            <a:spLocks noGrp="1"/>
          </p:cNvSpPr>
          <p:nvPr>
            <p:ph type="dt" sz="half" idx="10"/>
          </p:nvPr>
        </p:nvSpPr>
        <p:spPr/>
        <p:txBody>
          <a:bodyPr/>
          <a:lstStyle/>
          <a:p>
            <a:fld id="{273920F3-E9EE-4606-B483-2A8FAA3529CA}" type="datetime1">
              <a:rPr lang="en-US" smtClean="0"/>
              <a:t>10/13/2025</a:t>
            </a:fld>
            <a:endParaRPr lang="en-US"/>
          </a:p>
        </p:txBody>
      </p:sp>
      <p:sp>
        <p:nvSpPr>
          <p:cNvPr id="1048748" name="Footer Placeholder 2"/>
          <p:cNvSpPr>
            <a:spLocks noGrp="1"/>
          </p:cNvSpPr>
          <p:nvPr>
            <p:ph type="ftr" sz="quarter" idx="11"/>
          </p:nvPr>
        </p:nvSpPr>
        <p:spPr/>
        <p:txBody>
          <a:bodyPr/>
          <a:lstStyle/>
          <a:p>
            <a:r>
              <a:rPr lang="en-US"/>
              <a:t>NextGen College Advisor: AI-Powered Guidance for Students</a:t>
            </a:r>
          </a:p>
        </p:txBody>
      </p:sp>
      <p:sp>
        <p:nvSpPr>
          <p:cNvPr id="1048749" name="Slide Number Placeholder 3"/>
          <p:cNvSpPr>
            <a:spLocks noGrp="1"/>
          </p:cNvSpPr>
          <p:nvPr>
            <p:ph type="sldNum" sz="quarter" idx="12"/>
          </p:nvPr>
        </p:nvSpPr>
        <p:spPr/>
        <p:txBody>
          <a:bodyPr/>
          <a:lstStyle/>
          <a:p>
            <a:fld id="{FA11DADA-ACB1-42D7-8648-2A253C2E43B8}"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048750"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1048751"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52"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1048753" name="Date Placeholder 4"/>
          <p:cNvSpPr>
            <a:spLocks noGrp="1"/>
          </p:cNvSpPr>
          <p:nvPr>
            <p:ph type="dt" sz="half" idx="10"/>
          </p:nvPr>
        </p:nvSpPr>
        <p:spPr/>
        <p:txBody>
          <a:bodyPr/>
          <a:lstStyle/>
          <a:p>
            <a:fld id="{83CF1610-80FF-4CF8-9B55-416C07D58DEF}" type="datetime1">
              <a:rPr lang="en-US" smtClean="0"/>
              <a:t>10/13/2025</a:t>
            </a:fld>
            <a:endParaRPr lang="en-US"/>
          </a:p>
        </p:txBody>
      </p:sp>
      <p:sp>
        <p:nvSpPr>
          <p:cNvPr id="1048754" name="Footer Placeholder 5"/>
          <p:cNvSpPr>
            <a:spLocks noGrp="1"/>
          </p:cNvSpPr>
          <p:nvPr>
            <p:ph type="ftr" sz="quarter" idx="11"/>
          </p:nvPr>
        </p:nvSpPr>
        <p:spPr/>
        <p:txBody>
          <a:bodyPr/>
          <a:lstStyle/>
          <a:p>
            <a:r>
              <a:rPr lang="en-US"/>
              <a:t>NextGen College Advisor: AI-Powered Guidance for Students</a:t>
            </a:r>
          </a:p>
        </p:txBody>
      </p:sp>
      <p:sp>
        <p:nvSpPr>
          <p:cNvPr id="1048755" name="Slide Number Placeholder 6"/>
          <p:cNvSpPr>
            <a:spLocks noGrp="1"/>
          </p:cNvSpPr>
          <p:nvPr>
            <p:ph type="sldNum" sz="quarter" idx="12"/>
          </p:nvPr>
        </p:nvSpPr>
        <p:spPr/>
        <p:txBody>
          <a:bodyPr/>
          <a:lstStyle/>
          <a:p>
            <a:fld id="{FA11DADA-ACB1-42D7-8648-2A253C2E43B8}"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048717"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1048718"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1048719"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1048720" name="Date Placeholder 4"/>
          <p:cNvSpPr>
            <a:spLocks noGrp="1"/>
          </p:cNvSpPr>
          <p:nvPr>
            <p:ph type="dt" sz="half" idx="10"/>
          </p:nvPr>
        </p:nvSpPr>
        <p:spPr/>
        <p:txBody>
          <a:bodyPr/>
          <a:lstStyle/>
          <a:p>
            <a:fld id="{4E3E1CBF-1E00-46F5-9B4C-5E88DB83073D}" type="datetime1">
              <a:rPr lang="en-US" smtClean="0"/>
              <a:t>10/13/2025</a:t>
            </a:fld>
            <a:endParaRPr lang="en-US"/>
          </a:p>
        </p:txBody>
      </p:sp>
      <p:sp>
        <p:nvSpPr>
          <p:cNvPr id="1048721" name="Footer Placeholder 5"/>
          <p:cNvSpPr>
            <a:spLocks noGrp="1"/>
          </p:cNvSpPr>
          <p:nvPr>
            <p:ph type="ftr" sz="quarter" idx="11"/>
          </p:nvPr>
        </p:nvSpPr>
        <p:spPr/>
        <p:txBody>
          <a:bodyPr/>
          <a:lstStyle/>
          <a:p>
            <a:r>
              <a:rPr lang="en-US"/>
              <a:t>NextGen College Advisor: AI-Powered Guidance for Students</a:t>
            </a:r>
          </a:p>
        </p:txBody>
      </p:sp>
      <p:sp>
        <p:nvSpPr>
          <p:cNvPr id="1048722" name="Slide Number Placeholder 6"/>
          <p:cNvSpPr>
            <a:spLocks noGrp="1"/>
          </p:cNvSpPr>
          <p:nvPr>
            <p:ph type="sldNum" sz="quarter" idx="12"/>
          </p:nvPr>
        </p:nvSpPr>
        <p:spPr/>
        <p:txBody>
          <a:bodyPr/>
          <a:lstStyle/>
          <a:p>
            <a:fld id="{FA11DADA-ACB1-42D7-8648-2A253C2E43B8}"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1048723" name="Title 1"/>
          <p:cNvSpPr>
            <a:spLocks noGrp="1"/>
          </p:cNvSpPr>
          <p:nvPr>
            <p:ph type="title"/>
          </p:nvPr>
        </p:nvSpPr>
        <p:spPr/>
        <p:txBody>
          <a:bodyPr/>
          <a:lstStyle/>
          <a:p>
            <a:r>
              <a:rPr lang="en-US"/>
              <a:t>Click to edit Master title style</a:t>
            </a:r>
          </a:p>
        </p:txBody>
      </p:sp>
      <p:sp>
        <p:nvSpPr>
          <p:cNvPr id="1048724"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25" name="Date Placeholder 3"/>
          <p:cNvSpPr>
            <a:spLocks noGrp="1"/>
          </p:cNvSpPr>
          <p:nvPr>
            <p:ph type="dt" sz="half" idx="10"/>
          </p:nvPr>
        </p:nvSpPr>
        <p:spPr/>
        <p:txBody>
          <a:bodyPr/>
          <a:lstStyle/>
          <a:p>
            <a:fld id="{E252CE3E-AB03-405F-A847-14D825241C95}" type="datetime1">
              <a:rPr lang="en-US" smtClean="0"/>
              <a:t>10/13/2025</a:t>
            </a:fld>
            <a:endParaRPr lang="en-US"/>
          </a:p>
        </p:txBody>
      </p:sp>
      <p:sp>
        <p:nvSpPr>
          <p:cNvPr id="1048726" name="Footer Placeholder 4"/>
          <p:cNvSpPr>
            <a:spLocks noGrp="1"/>
          </p:cNvSpPr>
          <p:nvPr>
            <p:ph type="ftr" sz="quarter" idx="11"/>
          </p:nvPr>
        </p:nvSpPr>
        <p:spPr/>
        <p:txBody>
          <a:bodyPr/>
          <a:lstStyle/>
          <a:p>
            <a:r>
              <a:rPr lang="en-US"/>
              <a:t>NextGen College Advisor: AI-Powered Guidance for Students</a:t>
            </a:r>
          </a:p>
        </p:txBody>
      </p:sp>
      <p:sp>
        <p:nvSpPr>
          <p:cNvPr id="1048727" name="Slide Number Placeholder 5"/>
          <p:cNvSpPr>
            <a:spLocks noGrp="1"/>
          </p:cNvSpPr>
          <p:nvPr>
            <p:ph type="sldNum" sz="quarter" idx="12"/>
          </p:nvPr>
        </p:nvSpPr>
        <p:spPr/>
        <p:txBody>
          <a:bodyPr/>
          <a:lstStyle/>
          <a:p>
            <a:fld id="{FA11DADA-ACB1-42D7-8648-2A253C2E43B8}"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104871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104871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14" name="Date Placeholder 3"/>
          <p:cNvSpPr>
            <a:spLocks noGrp="1"/>
          </p:cNvSpPr>
          <p:nvPr>
            <p:ph type="dt" sz="half" idx="10"/>
          </p:nvPr>
        </p:nvSpPr>
        <p:spPr/>
        <p:txBody>
          <a:bodyPr/>
          <a:lstStyle/>
          <a:p>
            <a:fld id="{3BE89C17-ADDA-4B67-96DE-177448C6DB0E}" type="datetime1">
              <a:rPr lang="en-US" smtClean="0"/>
              <a:t>10/13/2025</a:t>
            </a:fld>
            <a:endParaRPr lang="en-US"/>
          </a:p>
        </p:txBody>
      </p:sp>
      <p:sp>
        <p:nvSpPr>
          <p:cNvPr id="1048715" name="Footer Placeholder 4"/>
          <p:cNvSpPr>
            <a:spLocks noGrp="1"/>
          </p:cNvSpPr>
          <p:nvPr>
            <p:ph type="ftr" sz="quarter" idx="11"/>
          </p:nvPr>
        </p:nvSpPr>
        <p:spPr/>
        <p:txBody>
          <a:bodyPr/>
          <a:lstStyle/>
          <a:p>
            <a:r>
              <a:rPr lang="en-US"/>
              <a:t>NextGen College Advisor: AI-Powered Guidance for Students</a:t>
            </a:r>
          </a:p>
        </p:txBody>
      </p:sp>
      <p:sp>
        <p:nvSpPr>
          <p:cNvPr id="1048716" name="Slide Number Placeholder 5"/>
          <p:cNvSpPr>
            <a:spLocks noGrp="1"/>
          </p:cNvSpPr>
          <p:nvPr>
            <p:ph type="sldNum" sz="quarter" idx="12"/>
          </p:nvPr>
        </p:nvSpPr>
        <p:spPr/>
        <p:txBody>
          <a:bodyPr/>
          <a:lstStyle/>
          <a:p>
            <a:fld id="{FA11DADA-ACB1-42D7-8648-2A253C2E43B8}"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48576"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1048577"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048578"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27A002B-01B6-4E32-A5CD-56957FD19C0D}" type="datetime1">
              <a:rPr lang="en-US" smtClean="0"/>
              <a:t>10/13/2025</a:t>
            </a:fld>
            <a:endParaRPr lang="en-US"/>
          </a:p>
        </p:txBody>
      </p:sp>
      <p:sp>
        <p:nvSpPr>
          <p:cNvPr id="1048579"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NextGen College Advisor: AI-Powered Guidance for Students</a:t>
            </a:r>
          </a:p>
        </p:txBody>
      </p:sp>
      <p:sp>
        <p:nvSpPr>
          <p:cNvPr id="1048580"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A11DADA-ACB1-42D7-8648-2A253C2E43B8}"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6.jpe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6.xml"/><Relationship Id="rId6" Type="http://schemas.openxmlformats.org/officeDocument/2006/relationships/image" Target="../media/image11.jpg"/><Relationship Id="rId5" Type="http://schemas.openxmlformats.org/officeDocument/2006/relationships/image" Target="../media/image10.png"/><Relationship Id="rId4" Type="http://schemas.openxmlformats.org/officeDocument/2006/relationships/image" Target="../media/image9.jpe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image" Target="../media/image17.jpg"/><Relationship Id="rId1" Type="http://schemas.openxmlformats.org/officeDocument/2006/relationships/slideLayout" Target="../slideLayouts/slideLayout7.xml"/><Relationship Id="rId4" Type="http://schemas.openxmlformats.org/officeDocument/2006/relationships/image" Target="../media/image19.jpg"/></Relationships>
</file>

<file path=ppt/slides/_rels/slide24.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image" Target="../media/image20.jp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image" Target="../media/image22.jp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25.jpg"/><Relationship Id="rId2" Type="http://schemas.openxmlformats.org/officeDocument/2006/relationships/image" Target="../media/image24.jp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26.jp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28.jpg"/><Relationship Id="rId2" Type="http://schemas.openxmlformats.org/officeDocument/2006/relationships/image" Target="../media/image27.jp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97153" name="Picture 2"/>
          <p:cNvPicPr>
            <a:picLocks noChangeAspect="1"/>
          </p:cNvPicPr>
          <p:nvPr/>
        </p:nvPicPr>
        <p:blipFill>
          <a:blip r:embed="rId2"/>
          <a:stretch>
            <a:fillRect/>
          </a:stretch>
        </p:blipFill>
        <p:spPr>
          <a:xfrm>
            <a:off x="2866768" y="241672"/>
            <a:ext cx="7027729" cy="971807"/>
          </a:xfrm>
          <a:prstGeom prst="rect">
            <a:avLst/>
          </a:prstGeom>
        </p:spPr>
      </p:pic>
      <p:pic>
        <p:nvPicPr>
          <p:cNvPr id="2097154" name="Picture 6"/>
          <p:cNvPicPr>
            <a:picLocks noChangeAspect="1"/>
          </p:cNvPicPr>
          <p:nvPr/>
        </p:nvPicPr>
        <p:blipFill>
          <a:blip r:embed="rId3"/>
          <a:stretch>
            <a:fillRect/>
          </a:stretch>
        </p:blipFill>
        <p:spPr>
          <a:xfrm>
            <a:off x="220749" y="171843"/>
            <a:ext cx="2199660" cy="1108550"/>
          </a:xfrm>
          <a:prstGeom prst="rect">
            <a:avLst/>
          </a:prstGeom>
        </p:spPr>
      </p:pic>
      <p:sp>
        <p:nvSpPr>
          <p:cNvPr id="1048616" name="TextBox 9"/>
          <p:cNvSpPr txBox="1"/>
          <p:nvPr/>
        </p:nvSpPr>
        <p:spPr>
          <a:xfrm>
            <a:off x="797764" y="1217625"/>
            <a:ext cx="10895161" cy="461665"/>
          </a:xfrm>
          <a:prstGeom prst="rect">
            <a:avLst/>
          </a:prstGeom>
          <a:noFill/>
        </p:spPr>
        <p:txBody>
          <a:bodyPr wrap="square" rtlCol="0">
            <a:spAutoFit/>
          </a:bodyPr>
          <a:lstStyle/>
          <a:p>
            <a:pPr algn="ctr"/>
            <a:r>
              <a:rPr lang="en-US" sz="2400" b="1" dirty="0">
                <a:solidFill>
                  <a:srgbClr val="7030A0"/>
                </a:solidFill>
                <a:latin typeface="Times New Roman" panose="02020603050405020304" pitchFamily="18" charset="0"/>
                <a:cs typeface="Times New Roman" panose="02020603050405020304" pitchFamily="18" charset="0"/>
              </a:rPr>
              <a:t>Department of Artificial Intelligence &amp; Machine Learning</a:t>
            </a:r>
          </a:p>
        </p:txBody>
      </p:sp>
      <p:sp>
        <p:nvSpPr>
          <p:cNvPr id="1048617" name="Rectangle 11"/>
          <p:cNvSpPr/>
          <p:nvPr/>
        </p:nvSpPr>
        <p:spPr>
          <a:xfrm>
            <a:off x="151116" y="2473923"/>
            <a:ext cx="12040884" cy="646331"/>
          </a:xfrm>
          <a:prstGeom prst="rect">
            <a:avLst/>
          </a:prstGeom>
        </p:spPr>
        <p:txBody>
          <a:bodyPr wrap="square">
            <a:spAutoFit/>
          </a:bodyPr>
          <a:lstStyle/>
          <a:p>
            <a:r>
              <a:rPr lang="en-US" sz="3600" dirty="0">
                <a:latin typeface="Arial" panose="020B0604020202020204" pitchFamily="34" charset="0"/>
                <a:ea typeface="Calibri" panose="020F0502020204030204" pitchFamily="34" charset="0"/>
                <a:cs typeface="Arial" panose="020B0604020202020204" pitchFamily="34" charset="0"/>
              </a:rPr>
              <a:t>     </a:t>
            </a:r>
            <a:r>
              <a:rPr lang="en-US" sz="3200" dirty="0">
                <a:latin typeface="Times New Roman" panose="02020603050405020304" pitchFamily="18" charset="0"/>
                <a:ea typeface="Calibri" panose="020F0502020204030204" pitchFamily="34" charset="0"/>
                <a:cs typeface="Times New Roman" panose="02020603050405020304" pitchFamily="18" charset="0"/>
              </a:rPr>
              <a:t>“NextGen College Advisor: AI-Powered Guidance for Students”</a:t>
            </a:r>
            <a:endParaRPr lang="en-US" sz="3200" dirty="0">
              <a:latin typeface="Times New Roman" panose="02020603050405020304" pitchFamily="18" charset="0"/>
              <a:cs typeface="Times New Roman" panose="02020603050405020304" pitchFamily="18" charset="0"/>
            </a:endParaRPr>
          </a:p>
        </p:txBody>
      </p:sp>
      <p:sp>
        <p:nvSpPr>
          <p:cNvPr id="1048618" name="Rectangle 12"/>
          <p:cNvSpPr/>
          <p:nvPr/>
        </p:nvSpPr>
        <p:spPr>
          <a:xfrm>
            <a:off x="797764" y="3161060"/>
            <a:ext cx="10171114" cy="1754326"/>
          </a:xfrm>
          <a:prstGeom prst="rect">
            <a:avLst/>
          </a:prstGeom>
        </p:spPr>
        <p:txBody>
          <a:bodyPr wrap="square">
            <a:spAutoFit/>
          </a:bodyPr>
          <a:lstStyle/>
          <a:p>
            <a:pPr algn="ctr"/>
            <a:r>
              <a:rPr lang="en-US"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     </a:t>
            </a:r>
            <a:r>
              <a:rPr lang="en-US" b="1" u="sng"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Presented by</a:t>
            </a:r>
          </a:p>
          <a:p>
            <a:pPr algn="ctr"/>
            <a:r>
              <a:rPr lang="en-US"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Keerthana S                                3BR21AI050</a:t>
            </a:r>
          </a:p>
          <a:p>
            <a:pPr algn="ctr"/>
            <a:r>
              <a:rPr lang="en-US"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L Sametha                                   3BR21AI054</a:t>
            </a:r>
            <a:endParaRPr lang="en-US" dirty="0">
              <a:solidFill>
                <a:srgbClr val="000000"/>
              </a:solidFill>
              <a:latin typeface="Arial" panose="020B0604020202020204" pitchFamily="34" charset="0"/>
              <a:ea typeface="Calibri" panose="020F0502020204030204" pitchFamily="34" charset="0"/>
              <a:cs typeface="Arial" panose="020B0604020202020204" pitchFamily="34" charset="0"/>
            </a:endParaRPr>
          </a:p>
          <a:p>
            <a:pPr algn="ctr"/>
            <a:r>
              <a:rPr lang="en-US"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Mahesh Ghorpade M                  3BR21AI058</a:t>
            </a:r>
            <a:endParaRPr lang="en-US" dirty="0">
              <a:solidFill>
                <a:srgbClr val="000000"/>
              </a:solidFill>
              <a:latin typeface="Arial" panose="020B0604020202020204" pitchFamily="34" charset="0"/>
              <a:ea typeface="Calibri" panose="020F0502020204030204" pitchFamily="34" charset="0"/>
              <a:cs typeface="Arial" panose="020B0604020202020204" pitchFamily="34" charset="0"/>
            </a:endParaRPr>
          </a:p>
          <a:p>
            <a:pPr algn="ctr"/>
            <a:r>
              <a:rPr lang="en-US"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Mohammed Muzzakir                 3BR21AI067</a:t>
            </a:r>
          </a:p>
          <a:p>
            <a:pPr algn="ctr"/>
            <a:r>
              <a:rPr lang="en-US" dirty="0">
                <a:solidFill>
                  <a:srgbClr val="000000"/>
                </a:solidFill>
                <a:latin typeface="Arial" panose="020B0604020202020204" pitchFamily="34" charset="0"/>
                <a:ea typeface="Calibri" panose="020F0502020204030204" pitchFamily="34" charset="0"/>
                <a:cs typeface="Arial" panose="020B0604020202020204" pitchFamily="34" charset="0"/>
              </a:rPr>
              <a:t>                  </a:t>
            </a:r>
            <a:endParaRPr lang="en-US" dirty="0">
              <a:latin typeface="Arial" panose="020B0604020202020204" pitchFamily="34" charset="0"/>
              <a:cs typeface="Arial" panose="020B0604020202020204" pitchFamily="34" charset="0"/>
            </a:endParaRPr>
          </a:p>
        </p:txBody>
      </p:sp>
      <p:sp>
        <p:nvSpPr>
          <p:cNvPr id="1048621" name="Rectangle 15"/>
          <p:cNvSpPr/>
          <p:nvPr/>
        </p:nvSpPr>
        <p:spPr>
          <a:xfrm>
            <a:off x="4864345" y="4798413"/>
            <a:ext cx="2761998" cy="369332"/>
          </a:xfrm>
          <a:prstGeom prst="rect">
            <a:avLst/>
          </a:prstGeom>
        </p:spPr>
        <p:txBody>
          <a:bodyPr wrap="square">
            <a:spAutoFit/>
          </a:bodyPr>
          <a:lstStyle/>
          <a:p>
            <a:r>
              <a:rPr lang="en-US" b="1" u="sng"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Under the Guidance of </a:t>
            </a:r>
            <a:endParaRPr lang="en-US" b="1" u="sng" dirty="0">
              <a:latin typeface="Times New Roman" panose="02020603050405020304" pitchFamily="18" charset="0"/>
              <a:cs typeface="Times New Roman" panose="02020603050405020304" pitchFamily="18" charset="0"/>
            </a:endParaRPr>
          </a:p>
        </p:txBody>
      </p:sp>
      <p:sp>
        <p:nvSpPr>
          <p:cNvPr id="1048622" name="Rectangle 17"/>
          <p:cNvSpPr/>
          <p:nvPr/>
        </p:nvSpPr>
        <p:spPr>
          <a:xfrm>
            <a:off x="7463483" y="5326972"/>
            <a:ext cx="3890317" cy="923330"/>
          </a:xfrm>
          <a:prstGeom prst="rect">
            <a:avLst/>
          </a:prstGeom>
        </p:spPr>
        <p:txBody>
          <a:bodyPr wrap="square">
            <a:spAutoFit/>
          </a:bodyPr>
          <a:lstStyle/>
          <a:p>
            <a:pPr algn="ctr"/>
            <a:r>
              <a:rPr lang="en-US"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Mr. CTM Praveen Kumar</a:t>
            </a:r>
          </a:p>
          <a:p>
            <a:pPr algn="ctr"/>
            <a:r>
              <a:rPr lang="en-US"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Project Coordinator</a:t>
            </a:r>
          </a:p>
          <a:p>
            <a:pPr algn="ctr"/>
            <a:r>
              <a:rPr lang="en-US" dirty="0">
                <a:solidFill>
                  <a:srgbClr val="000000"/>
                </a:solidFill>
                <a:latin typeface="Times New Roman" panose="02020603050405020304" pitchFamily="18" charset="0"/>
                <a:cs typeface="Times New Roman" panose="02020603050405020304" pitchFamily="18" charset="0"/>
              </a:rPr>
              <a:t>Dept. of AIML</a:t>
            </a:r>
            <a:endParaRPr lang="en-US" dirty="0">
              <a:latin typeface="Times New Roman" panose="02020603050405020304" pitchFamily="18" charset="0"/>
              <a:cs typeface="Times New Roman" panose="02020603050405020304" pitchFamily="18" charset="0"/>
            </a:endParaRPr>
          </a:p>
        </p:txBody>
      </p:sp>
      <p:sp>
        <p:nvSpPr>
          <p:cNvPr id="1048623" name="Rectangle 16"/>
          <p:cNvSpPr/>
          <p:nvPr/>
        </p:nvSpPr>
        <p:spPr>
          <a:xfrm>
            <a:off x="1095892" y="5326972"/>
            <a:ext cx="3386461" cy="923330"/>
          </a:xfrm>
          <a:prstGeom prst="rect">
            <a:avLst/>
          </a:prstGeom>
        </p:spPr>
        <p:txBody>
          <a:bodyPr wrap="square">
            <a:spAutoFit/>
          </a:bodyPr>
          <a:lstStyle/>
          <a:p>
            <a:pPr algn="ctr"/>
            <a:r>
              <a:rPr lang="en-US"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Dr. B.M Vidyavathi</a:t>
            </a:r>
          </a:p>
          <a:p>
            <a:pPr algn="ctr"/>
            <a:r>
              <a:rPr lang="en-US"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Guide &amp; Head of the Department </a:t>
            </a:r>
          </a:p>
          <a:p>
            <a:pPr algn="ctr"/>
            <a:r>
              <a:rPr lang="en-US" dirty="0">
                <a:solidFill>
                  <a:srgbClr val="000000"/>
                </a:solidFill>
                <a:latin typeface="Times New Roman" panose="02020603050405020304" pitchFamily="18" charset="0"/>
                <a:cs typeface="Times New Roman" panose="02020603050405020304" pitchFamily="18" charset="0"/>
              </a:rPr>
              <a:t>Dept. of AIML</a:t>
            </a:r>
            <a:endParaRPr lang="en-US" dirty="0">
              <a:latin typeface="Times New Roman" panose="02020603050405020304" pitchFamily="18" charset="0"/>
              <a:cs typeface="Times New Roman" panose="02020603050405020304" pitchFamily="18" charset="0"/>
            </a:endParaRPr>
          </a:p>
        </p:txBody>
      </p:sp>
      <p:pic>
        <p:nvPicPr>
          <p:cNvPr id="2097155" name="Picture 7"/>
          <p:cNvPicPr>
            <a:picLocks noChangeAspect="1"/>
          </p:cNvPicPr>
          <p:nvPr/>
        </p:nvPicPr>
        <p:blipFill rotWithShape="1">
          <a:blip r:embed="rId4"/>
          <a:srcRect l="6737" t="9425" r="9081" b="14499"/>
          <a:stretch>
            <a:fillRect/>
          </a:stretch>
        </p:blipFill>
        <p:spPr>
          <a:xfrm>
            <a:off x="10070279" y="43464"/>
            <a:ext cx="1969981" cy="1333500"/>
          </a:xfrm>
          <a:prstGeom prst="rect">
            <a:avLst/>
          </a:prstGeom>
        </p:spPr>
      </p:pic>
      <p:sp>
        <p:nvSpPr>
          <p:cNvPr id="2" name="TextBox 1">
            <a:extLst>
              <a:ext uri="{FF2B5EF4-FFF2-40B4-BE49-F238E27FC236}">
                <a16:creationId xmlns:a16="http://schemas.microsoft.com/office/drawing/2014/main" id="{DADBDB75-1673-42AF-9A7C-14DBFE1AC30C}"/>
              </a:ext>
            </a:extLst>
          </p:cNvPr>
          <p:cNvSpPr txBox="1"/>
          <p:nvPr/>
        </p:nvSpPr>
        <p:spPr>
          <a:xfrm>
            <a:off x="3778623" y="1760698"/>
            <a:ext cx="4634753" cy="830997"/>
          </a:xfrm>
          <a:prstGeom prst="rect">
            <a:avLst/>
          </a:prstGeom>
          <a:noFill/>
        </p:spPr>
        <p:txBody>
          <a:bodyPr wrap="square" rtlCol="0">
            <a:spAutoFit/>
          </a:bodyPr>
          <a:lstStyle/>
          <a:p>
            <a:pPr algn="ctr"/>
            <a:r>
              <a:rPr lang="en-US" sz="2400" dirty="0">
                <a:solidFill>
                  <a:schemeClr val="accent1">
                    <a:lumMod val="50000"/>
                  </a:schemeClr>
                </a:solidFill>
                <a:latin typeface="Times New Roman" panose="02020603050405020304" pitchFamily="18" charset="0"/>
                <a:cs typeface="Times New Roman" panose="02020603050405020304" pitchFamily="18" charset="0"/>
              </a:rPr>
              <a:t>A Mini Project Presentation</a:t>
            </a:r>
          </a:p>
          <a:p>
            <a:pPr algn="ctr"/>
            <a:r>
              <a:rPr lang="en-US" sz="2400" dirty="0">
                <a:solidFill>
                  <a:schemeClr val="accent1">
                    <a:lumMod val="50000"/>
                  </a:schemeClr>
                </a:solidFill>
                <a:latin typeface="Times New Roman" panose="02020603050405020304" pitchFamily="18" charset="0"/>
                <a:cs typeface="Times New Roman" panose="02020603050405020304" pitchFamily="18" charset="0"/>
              </a:rPr>
              <a:t>on</a:t>
            </a:r>
            <a:endParaRPr lang="en-IN" sz="2400" dirty="0">
              <a:solidFill>
                <a:schemeClr val="accent1">
                  <a:lumMod val="50000"/>
                </a:schemeClr>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34" name="Content Placeholder 2"/>
          <p:cNvSpPr>
            <a:spLocks noGrp="1"/>
          </p:cNvSpPr>
          <p:nvPr>
            <p:ph idx="1"/>
          </p:nvPr>
        </p:nvSpPr>
        <p:spPr>
          <a:xfrm>
            <a:off x="858416" y="799000"/>
            <a:ext cx="10720873" cy="5260000"/>
          </a:xfrm>
        </p:spPr>
        <p:txBody>
          <a:bodyPr>
            <a:noAutofit/>
          </a:bodyPr>
          <a:lstStyle/>
          <a:p>
            <a:pPr algn="just">
              <a:lnSpc>
                <a:spcPct val="150000"/>
              </a:lnSpc>
              <a:buFont typeface="Wingdings" panose="05000000000000000000" pitchFamily="2" charset="2"/>
              <a:buChar char="§"/>
            </a:pPr>
            <a:r>
              <a:rPr lang="en-US" sz="1800" dirty="0">
                <a:latin typeface="Times New Roman" panose="02020603050405020304" pitchFamily="18" charset="0"/>
                <a:cs typeface="Times New Roman" panose="02020603050405020304" pitchFamily="18" charset="0"/>
              </a:rPr>
              <a:t>Traditionally, students must visit each college's website to gather admission details, which is time-consuming and inefficient. </a:t>
            </a:r>
          </a:p>
          <a:p>
            <a:pPr algn="just">
              <a:lnSpc>
                <a:spcPct val="150000"/>
              </a:lnSpc>
              <a:buFont typeface="Wingdings" panose="05000000000000000000" pitchFamily="2" charset="2"/>
              <a:buChar char="§"/>
            </a:pPr>
            <a:r>
              <a:rPr lang="en-US" sz="1800" dirty="0">
                <a:latin typeface="Times New Roman" panose="02020603050405020304" pitchFamily="18" charset="0"/>
                <a:cs typeface="Times New Roman" panose="02020603050405020304" pitchFamily="18" charset="0"/>
              </a:rPr>
              <a:t>Concerning that our system uses machine learning models to predict students college admission chances based on their ranks, providing an accurate and reliable platform for admissions predictions.</a:t>
            </a:r>
          </a:p>
          <a:p>
            <a:pPr algn="just">
              <a:lnSpc>
                <a:spcPct val="150000"/>
              </a:lnSpc>
              <a:buFont typeface="Wingdings" panose="05000000000000000000" pitchFamily="2" charset="2"/>
              <a:buChar char="§"/>
            </a:pPr>
            <a:r>
              <a:rPr lang="en-US" sz="1800" dirty="0">
                <a:latin typeface="Times New Roman" panose="02020603050405020304" pitchFamily="18" charset="0"/>
                <a:cs typeface="Times New Roman" panose="02020603050405020304" pitchFamily="18" charset="0"/>
              </a:rPr>
              <a:t>This approach saves time and enhances the overall efficiency of the college application process.</a:t>
            </a:r>
          </a:p>
        </p:txBody>
      </p:sp>
      <p:sp>
        <p:nvSpPr>
          <p:cNvPr id="1048639" name="TextBox 6"/>
          <p:cNvSpPr txBox="1"/>
          <p:nvPr/>
        </p:nvSpPr>
        <p:spPr>
          <a:xfrm>
            <a:off x="514709" y="-20333"/>
            <a:ext cx="11162581" cy="1061829"/>
          </a:xfrm>
          <a:prstGeom prst="rect">
            <a:avLst/>
          </a:prstGeom>
          <a:noFill/>
        </p:spPr>
        <p:txBody>
          <a:bodyPr wrap="square" rtlCol="0">
            <a:spAutoFit/>
          </a:bodyPr>
          <a:lstStyle/>
          <a:p>
            <a:br>
              <a:rPr lang="en-US" dirty="0"/>
            </a:br>
            <a:endParaRPr lang="en-US" dirty="0"/>
          </a:p>
          <a:p>
            <a:pPr algn="just">
              <a:lnSpc>
                <a:spcPct val="150000"/>
              </a:lnSpc>
            </a:pPr>
            <a:endParaRPr lang="en-IN" dirty="0"/>
          </a:p>
        </p:txBody>
      </p:sp>
      <p:sp>
        <p:nvSpPr>
          <p:cNvPr id="10" name="Title 1"/>
          <p:cNvSpPr>
            <a:spLocks noGrp="1"/>
          </p:cNvSpPr>
          <p:nvPr>
            <p:ph type="title"/>
          </p:nvPr>
        </p:nvSpPr>
        <p:spPr>
          <a:xfrm>
            <a:off x="4071016" y="136525"/>
            <a:ext cx="4049966" cy="499891"/>
          </a:xfrm>
        </p:spPr>
        <p:txBody>
          <a:bodyPr>
            <a:noAutofit/>
          </a:bodyPr>
          <a:lstStyle/>
          <a:p>
            <a:pPr algn="ctr"/>
            <a:br>
              <a:rPr lang="en-US" sz="3200" dirty="0">
                <a:solidFill>
                  <a:schemeClr val="accent1">
                    <a:lumMod val="50000"/>
                  </a:schemeClr>
                </a:solidFill>
                <a:latin typeface="Times New Roman" panose="02020603050405020304" pitchFamily="18" charset="0"/>
                <a:cs typeface="Times New Roman" panose="02020603050405020304" pitchFamily="18" charset="0"/>
              </a:rPr>
            </a:br>
            <a:r>
              <a:rPr lang="en-US" sz="3200" b="1" dirty="0">
                <a:solidFill>
                  <a:schemeClr val="accent1">
                    <a:lumMod val="50000"/>
                  </a:schemeClr>
                </a:solidFill>
                <a:latin typeface="Times New Roman" panose="02020603050405020304" pitchFamily="18" charset="0"/>
                <a:cs typeface="Times New Roman" panose="02020603050405020304" pitchFamily="18" charset="0"/>
              </a:rPr>
              <a:t>Abstract</a:t>
            </a:r>
            <a:br>
              <a:rPr lang="en-US" sz="3200" b="1" dirty="0">
                <a:solidFill>
                  <a:schemeClr val="accent1">
                    <a:lumMod val="50000"/>
                  </a:schemeClr>
                </a:solidFill>
                <a:latin typeface="Times New Roman" panose="02020603050405020304" pitchFamily="18" charset="0"/>
                <a:cs typeface="Times New Roman" panose="02020603050405020304" pitchFamily="18" charset="0"/>
              </a:rPr>
            </a:br>
            <a:endParaRPr lang="en-US" sz="3200" b="1" dirty="0">
              <a:solidFill>
                <a:schemeClr val="accent1">
                  <a:lumMod val="50000"/>
                </a:schemeClr>
              </a:solidFill>
              <a:latin typeface="Times New Roman" panose="02020603050405020304" pitchFamily="18" charset="0"/>
              <a:cs typeface="Times New Roman" panose="02020603050405020304" pitchFamily="18" charset="0"/>
            </a:endParaRPr>
          </a:p>
        </p:txBody>
      </p:sp>
      <p:sp>
        <p:nvSpPr>
          <p:cNvPr id="7" name="Date Placeholder 6">
            <a:extLst>
              <a:ext uri="{FF2B5EF4-FFF2-40B4-BE49-F238E27FC236}">
                <a16:creationId xmlns:a16="http://schemas.microsoft.com/office/drawing/2014/main" id="{B1EB29D8-21A5-19D4-D2BD-FEB696CCB8C7}"/>
              </a:ext>
            </a:extLst>
          </p:cNvPr>
          <p:cNvSpPr>
            <a:spLocks noGrp="1"/>
          </p:cNvSpPr>
          <p:nvPr>
            <p:ph type="dt" sz="half" idx="10"/>
          </p:nvPr>
        </p:nvSpPr>
        <p:spPr/>
        <p:txBody>
          <a:bodyPr/>
          <a:lstStyle/>
          <a:p>
            <a:fld id="{CC621CEB-6594-4A0E-A95E-EE4E969B19BA}" type="datetime1">
              <a:rPr lang="en-US" smtClean="0"/>
              <a:t>10/13/2025</a:t>
            </a:fld>
            <a:endParaRPr lang="en-US"/>
          </a:p>
        </p:txBody>
      </p:sp>
      <p:sp>
        <p:nvSpPr>
          <p:cNvPr id="8" name="Footer Placeholder 7">
            <a:extLst>
              <a:ext uri="{FF2B5EF4-FFF2-40B4-BE49-F238E27FC236}">
                <a16:creationId xmlns:a16="http://schemas.microsoft.com/office/drawing/2014/main" id="{C1E82325-E6C6-BED9-430A-44F1D0F0A539}"/>
              </a:ext>
            </a:extLst>
          </p:cNvPr>
          <p:cNvSpPr>
            <a:spLocks noGrp="1"/>
          </p:cNvSpPr>
          <p:nvPr>
            <p:ph type="ftr" sz="quarter" idx="11"/>
          </p:nvPr>
        </p:nvSpPr>
        <p:spPr/>
        <p:txBody>
          <a:bodyPr/>
          <a:lstStyle/>
          <a:p>
            <a:r>
              <a:rPr lang="en-US"/>
              <a:t>NextGen College Advisor: AI-Powered Guidance for Students</a:t>
            </a:r>
          </a:p>
        </p:txBody>
      </p:sp>
      <p:sp>
        <p:nvSpPr>
          <p:cNvPr id="9" name="Slide Number Placeholder 8">
            <a:extLst>
              <a:ext uri="{FF2B5EF4-FFF2-40B4-BE49-F238E27FC236}">
                <a16:creationId xmlns:a16="http://schemas.microsoft.com/office/drawing/2014/main" id="{F62DCE0C-8929-7AA1-BDC5-F4A3FE121B48}"/>
              </a:ext>
            </a:extLst>
          </p:cNvPr>
          <p:cNvSpPr>
            <a:spLocks noGrp="1"/>
          </p:cNvSpPr>
          <p:nvPr>
            <p:ph type="sldNum" sz="quarter" idx="12"/>
          </p:nvPr>
        </p:nvSpPr>
        <p:spPr/>
        <p:txBody>
          <a:bodyPr/>
          <a:lstStyle/>
          <a:p>
            <a:fld id="{FA11DADA-ACB1-42D7-8648-2A253C2E43B8}" type="slidenum">
              <a:rPr lang="en-US" smtClean="0"/>
              <a:pPr/>
              <a:t>2</a:t>
            </a:fld>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26" name="Content Placeholder 2"/>
          <p:cNvSpPr>
            <a:spLocks noGrp="1"/>
          </p:cNvSpPr>
          <p:nvPr>
            <p:ph idx="1"/>
          </p:nvPr>
        </p:nvSpPr>
        <p:spPr>
          <a:xfrm>
            <a:off x="713134" y="1068185"/>
            <a:ext cx="10991186" cy="4721629"/>
          </a:xfrm>
        </p:spPr>
        <p:txBody>
          <a:bodyPr numCol="2">
            <a:noAutofit/>
          </a:bodyPr>
          <a:lstStyle/>
          <a:p>
            <a:pPr marL="342900" indent="-342900" algn="just">
              <a:lnSpc>
                <a:spcPct val="150000"/>
              </a:lnSpc>
              <a:buFont typeface="+mj-lt"/>
              <a:buAutoNum type="arabicPeriod"/>
            </a:pPr>
            <a:r>
              <a:rPr lang="en-US" sz="1800" dirty="0">
                <a:latin typeface="Times New Roman" panose="02020603050405020304" pitchFamily="18" charset="0"/>
                <a:cs typeface="Times New Roman" panose="02020603050405020304" pitchFamily="18" charset="0"/>
              </a:rPr>
              <a:t>Introduction </a:t>
            </a:r>
          </a:p>
          <a:p>
            <a:pPr marL="342900" indent="-342900" algn="just">
              <a:lnSpc>
                <a:spcPct val="150000"/>
              </a:lnSpc>
              <a:buFont typeface="+mj-lt"/>
              <a:buAutoNum type="arabicPeriod"/>
            </a:pPr>
            <a:r>
              <a:rPr lang="en-US" sz="1800" dirty="0">
                <a:latin typeface="Times New Roman" panose="02020603050405020304" pitchFamily="18" charset="0"/>
                <a:cs typeface="Times New Roman" panose="02020603050405020304" pitchFamily="18" charset="0"/>
              </a:rPr>
              <a:t>Literature Survey </a:t>
            </a:r>
          </a:p>
          <a:p>
            <a:pPr marL="342900" indent="-342900" algn="just">
              <a:lnSpc>
                <a:spcPct val="150000"/>
              </a:lnSpc>
              <a:buFont typeface="+mj-lt"/>
              <a:buAutoNum type="arabicPeriod"/>
            </a:pPr>
            <a:r>
              <a:rPr lang="en-US" sz="1800" dirty="0">
                <a:latin typeface="Times New Roman" panose="02020603050405020304" pitchFamily="18" charset="0"/>
                <a:cs typeface="Times New Roman" panose="02020603050405020304" pitchFamily="18" charset="0"/>
              </a:rPr>
              <a:t>Objectives</a:t>
            </a:r>
          </a:p>
          <a:p>
            <a:pPr marL="342900" indent="-342900" algn="just">
              <a:lnSpc>
                <a:spcPct val="150000"/>
              </a:lnSpc>
              <a:buFont typeface="+mj-lt"/>
              <a:buAutoNum type="arabicPeriod"/>
            </a:pPr>
            <a:r>
              <a:rPr lang="en-US" sz="1800" dirty="0">
                <a:latin typeface="Times New Roman" panose="02020603050405020304" pitchFamily="18" charset="0"/>
                <a:cs typeface="Times New Roman" panose="02020603050405020304" pitchFamily="18" charset="0"/>
              </a:rPr>
              <a:t>Problem Statement </a:t>
            </a:r>
          </a:p>
          <a:p>
            <a:pPr marL="342900" indent="-342900" algn="just">
              <a:lnSpc>
                <a:spcPct val="150000"/>
              </a:lnSpc>
              <a:buFont typeface="+mj-lt"/>
              <a:buAutoNum type="arabicPeriod"/>
            </a:pPr>
            <a:r>
              <a:rPr lang="en-US" sz="1800" dirty="0">
                <a:latin typeface="Times New Roman" panose="02020603050405020304" pitchFamily="18" charset="0"/>
                <a:cs typeface="Times New Roman" panose="02020603050405020304" pitchFamily="18" charset="0"/>
              </a:rPr>
              <a:t>Existing systems vs Proposed system</a:t>
            </a:r>
          </a:p>
          <a:p>
            <a:pPr marL="342900" indent="-342900" algn="just">
              <a:lnSpc>
                <a:spcPct val="150000"/>
              </a:lnSpc>
              <a:buFont typeface="+mj-lt"/>
              <a:buAutoNum type="arabicPeriod"/>
            </a:pPr>
            <a:r>
              <a:rPr lang="en-US" sz="1800" dirty="0">
                <a:latin typeface="Times New Roman" panose="02020603050405020304" pitchFamily="18" charset="0"/>
                <a:cs typeface="Times New Roman" panose="02020603050405020304" pitchFamily="18" charset="0"/>
              </a:rPr>
              <a:t>Methodology </a:t>
            </a:r>
          </a:p>
          <a:p>
            <a:pPr marL="342900" indent="-342900" algn="just">
              <a:lnSpc>
                <a:spcPct val="150000"/>
              </a:lnSpc>
              <a:buFont typeface="+mj-lt"/>
              <a:buAutoNum type="arabicPeriod"/>
            </a:pPr>
            <a:r>
              <a:rPr lang="en-US" sz="1800" dirty="0">
                <a:latin typeface="Times New Roman" panose="02020603050405020304" pitchFamily="18" charset="0"/>
                <a:cs typeface="Times New Roman" panose="02020603050405020304" pitchFamily="18" charset="0"/>
              </a:rPr>
              <a:t>Requirements </a:t>
            </a:r>
          </a:p>
          <a:p>
            <a:pPr marL="342900" indent="-342900" algn="just">
              <a:lnSpc>
                <a:spcPct val="150000"/>
              </a:lnSpc>
              <a:buFont typeface="+mj-lt"/>
              <a:buAutoNum type="arabicPeriod"/>
            </a:pPr>
            <a:r>
              <a:rPr lang="en-US" sz="1800" dirty="0">
                <a:latin typeface="Times New Roman" panose="02020603050405020304" pitchFamily="18" charset="0"/>
                <a:cs typeface="Times New Roman" panose="02020603050405020304" pitchFamily="18" charset="0"/>
              </a:rPr>
              <a:t>Design</a:t>
            </a:r>
          </a:p>
          <a:p>
            <a:pPr marL="342900" indent="-342900" algn="just">
              <a:lnSpc>
                <a:spcPct val="150000"/>
              </a:lnSpc>
              <a:buFont typeface="+mj-lt"/>
              <a:buAutoNum type="arabicPeriod"/>
            </a:pPr>
            <a:r>
              <a:rPr lang="en-US" sz="1800" dirty="0">
                <a:latin typeface="Times New Roman" panose="02020603050405020304" pitchFamily="18" charset="0"/>
                <a:cs typeface="Times New Roman" panose="02020603050405020304" pitchFamily="18" charset="0"/>
              </a:rPr>
              <a:t>Implementation </a:t>
            </a:r>
          </a:p>
          <a:p>
            <a:pPr marL="342900" indent="-342900" algn="just">
              <a:lnSpc>
                <a:spcPct val="150000"/>
              </a:lnSpc>
              <a:buFont typeface="+mj-lt"/>
              <a:buAutoNum type="arabicPeriod"/>
            </a:pPr>
            <a:r>
              <a:rPr lang="en-US" sz="1800" dirty="0">
                <a:latin typeface="Times New Roman" panose="02020603050405020304" pitchFamily="18" charset="0"/>
                <a:cs typeface="Times New Roman" panose="02020603050405020304" pitchFamily="18" charset="0"/>
              </a:rPr>
              <a:t>Test cases</a:t>
            </a:r>
          </a:p>
          <a:p>
            <a:pPr marL="342900" indent="-342900" algn="just">
              <a:lnSpc>
                <a:spcPct val="150000"/>
              </a:lnSpc>
              <a:buFont typeface="+mj-lt"/>
              <a:buAutoNum type="arabicPeriod"/>
            </a:pPr>
            <a:r>
              <a:rPr lang="en-US" sz="1800" dirty="0">
                <a:latin typeface="Times New Roman" panose="02020603050405020304" pitchFamily="18" charset="0"/>
                <a:cs typeface="Times New Roman" panose="02020603050405020304" pitchFamily="18" charset="0"/>
              </a:rPr>
              <a:t>Results &amp; Discussion</a:t>
            </a:r>
          </a:p>
          <a:p>
            <a:pPr marL="342900" indent="-342900" algn="just">
              <a:lnSpc>
                <a:spcPct val="150000"/>
              </a:lnSpc>
              <a:buFont typeface="+mj-lt"/>
              <a:buAutoNum type="arabicPeriod"/>
            </a:pPr>
            <a:r>
              <a:rPr lang="en-US" sz="1800" dirty="0">
                <a:latin typeface="Times New Roman" panose="02020603050405020304" pitchFamily="18" charset="0"/>
                <a:cs typeface="Times New Roman" panose="02020603050405020304" pitchFamily="18" charset="0"/>
              </a:rPr>
              <a:t>Conclusion</a:t>
            </a:r>
          </a:p>
          <a:p>
            <a:pPr marL="342900" indent="-342900" algn="just">
              <a:lnSpc>
                <a:spcPct val="150000"/>
              </a:lnSpc>
              <a:buFont typeface="+mj-lt"/>
              <a:buAutoNum type="arabicPeriod"/>
            </a:pPr>
            <a:r>
              <a:rPr lang="en-US" sz="1800" dirty="0">
                <a:latin typeface="Times New Roman" panose="02020603050405020304" pitchFamily="18" charset="0"/>
                <a:cs typeface="Times New Roman" panose="02020603050405020304" pitchFamily="18" charset="0"/>
              </a:rPr>
              <a:t>References</a:t>
            </a:r>
          </a:p>
          <a:p>
            <a:pPr marL="0" indent="0" algn="just">
              <a:lnSpc>
                <a:spcPct val="150000"/>
              </a:lnSpc>
              <a:buNone/>
            </a:pPr>
            <a:endParaRPr lang="en-US" sz="1800" dirty="0">
              <a:latin typeface="Times New Roman" panose="02020603050405020304" pitchFamily="18" charset="0"/>
              <a:cs typeface="Times New Roman" panose="02020603050405020304" pitchFamily="18" charset="0"/>
            </a:endParaRPr>
          </a:p>
          <a:p>
            <a:pPr marL="342900" indent="-342900" algn="just">
              <a:lnSpc>
                <a:spcPct val="150000"/>
              </a:lnSpc>
              <a:buFont typeface="+mj-lt"/>
              <a:buAutoNum type="arabicPeriod"/>
            </a:pPr>
            <a:endParaRPr lang="en-US" sz="1800" dirty="0">
              <a:latin typeface="Times New Roman" panose="02020603050405020304" pitchFamily="18" charset="0"/>
              <a:cs typeface="Times New Roman" panose="02020603050405020304" pitchFamily="18" charset="0"/>
            </a:endParaRPr>
          </a:p>
          <a:p>
            <a:pPr marL="0" indent="0" algn="just">
              <a:lnSpc>
                <a:spcPct val="150000"/>
              </a:lnSpc>
              <a:buNone/>
            </a:pPr>
            <a:endParaRPr lang="en-US" sz="2400" dirty="0">
              <a:latin typeface="Times New Roman" panose="02020603050405020304" pitchFamily="18" charset="0"/>
              <a:cs typeface="Times New Roman" panose="02020603050405020304" pitchFamily="18" charset="0"/>
            </a:endParaRPr>
          </a:p>
        </p:txBody>
      </p:sp>
      <p:sp>
        <p:nvSpPr>
          <p:cNvPr id="9" name="Title 1"/>
          <p:cNvSpPr>
            <a:spLocks noGrp="1"/>
          </p:cNvSpPr>
          <p:nvPr>
            <p:ph type="title"/>
          </p:nvPr>
        </p:nvSpPr>
        <p:spPr>
          <a:xfrm>
            <a:off x="792798" y="185393"/>
            <a:ext cx="10606404" cy="632512"/>
          </a:xfrm>
        </p:spPr>
        <p:txBody>
          <a:bodyPr>
            <a:noAutofit/>
          </a:bodyPr>
          <a:lstStyle/>
          <a:p>
            <a:pPr algn="ctr"/>
            <a:br>
              <a:rPr lang="en-US" sz="3200" dirty="0">
                <a:solidFill>
                  <a:schemeClr val="accent1">
                    <a:lumMod val="50000"/>
                  </a:schemeClr>
                </a:solidFill>
                <a:latin typeface="Times New Roman" panose="02020603050405020304" pitchFamily="18" charset="0"/>
                <a:cs typeface="Times New Roman" panose="02020603050405020304" pitchFamily="18" charset="0"/>
              </a:rPr>
            </a:br>
            <a:r>
              <a:rPr lang="en-US" sz="3200" b="1" dirty="0">
                <a:solidFill>
                  <a:schemeClr val="accent1">
                    <a:lumMod val="50000"/>
                  </a:schemeClr>
                </a:solidFill>
                <a:latin typeface="Times New Roman" panose="02020603050405020304" pitchFamily="18" charset="0"/>
                <a:cs typeface="Times New Roman" panose="02020603050405020304" pitchFamily="18" charset="0"/>
              </a:rPr>
              <a:t>Contents</a:t>
            </a:r>
            <a:br>
              <a:rPr lang="en-US" sz="3200" b="1" dirty="0">
                <a:solidFill>
                  <a:schemeClr val="accent1">
                    <a:lumMod val="50000"/>
                  </a:schemeClr>
                </a:solidFill>
                <a:latin typeface="Times New Roman" panose="02020603050405020304" pitchFamily="18" charset="0"/>
                <a:cs typeface="Times New Roman" panose="02020603050405020304" pitchFamily="18" charset="0"/>
              </a:rPr>
            </a:br>
            <a:endParaRPr lang="en-US" sz="3200" b="1" dirty="0">
              <a:solidFill>
                <a:schemeClr val="accent1">
                  <a:lumMod val="50000"/>
                </a:schemeClr>
              </a:solidFill>
              <a:latin typeface="Times New Roman" panose="02020603050405020304" pitchFamily="18" charset="0"/>
              <a:cs typeface="Times New Roman" panose="02020603050405020304" pitchFamily="18" charset="0"/>
            </a:endParaRPr>
          </a:p>
        </p:txBody>
      </p:sp>
      <p:sp>
        <p:nvSpPr>
          <p:cNvPr id="7" name="Date Placeholder 6">
            <a:extLst>
              <a:ext uri="{FF2B5EF4-FFF2-40B4-BE49-F238E27FC236}">
                <a16:creationId xmlns:a16="http://schemas.microsoft.com/office/drawing/2014/main" id="{D67B2019-642C-4B2F-35E2-D4119EAFE916}"/>
              </a:ext>
            </a:extLst>
          </p:cNvPr>
          <p:cNvSpPr>
            <a:spLocks noGrp="1"/>
          </p:cNvSpPr>
          <p:nvPr>
            <p:ph type="dt" sz="half" idx="10"/>
          </p:nvPr>
        </p:nvSpPr>
        <p:spPr/>
        <p:txBody>
          <a:bodyPr/>
          <a:lstStyle/>
          <a:p>
            <a:fld id="{2A2A1B88-580D-4811-BFFE-47BD946DC6E9}" type="datetime1">
              <a:rPr lang="en-US" smtClean="0"/>
              <a:t>10/13/2025</a:t>
            </a:fld>
            <a:endParaRPr lang="en-US" dirty="0"/>
          </a:p>
        </p:txBody>
      </p:sp>
      <p:sp>
        <p:nvSpPr>
          <p:cNvPr id="8" name="Footer Placeholder 7">
            <a:extLst>
              <a:ext uri="{FF2B5EF4-FFF2-40B4-BE49-F238E27FC236}">
                <a16:creationId xmlns:a16="http://schemas.microsoft.com/office/drawing/2014/main" id="{DF766835-EE7B-705D-9EF8-1146C0F16639}"/>
              </a:ext>
            </a:extLst>
          </p:cNvPr>
          <p:cNvSpPr>
            <a:spLocks noGrp="1"/>
          </p:cNvSpPr>
          <p:nvPr>
            <p:ph type="ftr" sz="quarter" idx="11"/>
          </p:nvPr>
        </p:nvSpPr>
        <p:spPr/>
        <p:txBody>
          <a:bodyPr/>
          <a:lstStyle/>
          <a:p>
            <a:r>
              <a:rPr lang="en-US"/>
              <a:t>NextGen College Advisor: AI-Powered Guidance for Students</a:t>
            </a:r>
          </a:p>
        </p:txBody>
      </p:sp>
      <p:sp>
        <p:nvSpPr>
          <p:cNvPr id="10" name="Slide Number Placeholder 9">
            <a:extLst>
              <a:ext uri="{FF2B5EF4-FFF2-40B4-BE49-F238E27FC236}">
                <a16:creationId xmlns:a16="http://schemas.microsoft.com/office/drawing/2014/main" id="{050A00F0-E573-F929-6B53-FF4D06A8A602}"/>
              </a:ext>
            </a:extLst>
          </p:cNvPr>
          <p:cNvSpPr>
            <a:spLocks noGrp="1"/>
          </p:cNvSpPr>
          <p:nvPr>
            <p:ph type="sldNum" sz="quarter" idx="12"/>
          </p:nvPr>
        </p:nvSpPr>
        <p:spPr/>
        <p:txBody>
          <a:bodyPr/>
          <a:lstStyle/>
          <a:p>
            <a:fld id="{FA11DADA-ACB1-42D7-8648-2A253C2E43B8}" type="slidenum">
              <a:rPr lang="en-US" smtClean="0"/>
              <a:pPr/>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34" name="Content Placeholder 2"/>
          <p:cNvSpPr>
            <a:spLocks noGrp="1"/>
          </p:cNvSpPr>
          <p:nvPr>
            <p:ph idx="1"/>
          </p:nvPr>
        </p:nvSpPr>
        <p:spPr>
          <a:xfrm>
            <a:off x="653143" y="810848"/>
            <a:ext cx="11162581" cy="3294987"/>
          </a:xfrm>
        </p:spPr>
        <p:txBody>
          <a:bodyPr>
            <a:noAutofit/>
          </a:bodyPr>
          <a:lstStyle/>
          <a:p>
            <a:pPr algn="just">
              <a:lnSpc>
                <a:spcPct val="150000"/>
              </a:lnSpc>
              <a:buFont typeface="Wingdings" panose="05000000000000000000" pitchFamily="2" charset="2"/>
              <a:buChar char="§"/>
            </a:pPr>
            <a:r>
              <a:rPr lang="en-US" sz="1800" dirty="0">
                <a:latin typeface="Times New Roman" panose="02020603050405020304" pitchFamily="18" charset="0"/>
                <a:cs typeface="Times New Roman" panose="02020603050405020304" pitchFamily="18" charset="0"/>
              </a:rPr>
              <a:t>Applying to colleges often requires students to visit multiple college websites to gather admission criteria, making the process time-consuming and challenging. </a:t>
            </a:r>
          </a:p>
          <a:p>
            <a:pPr algn="just">
              <a:lnSpc>
                <a:spcPct val="150000"/>
              </a:lnSpc>
              <a:buFont typeface="Wingdings" panose="05000000000000000000" pitchFamily="2" charset="2"/>
              <a:buChar char="§"/>
            </a:pPr>
            <a:r>
              <a:rPr lang="en-US" sz="1800" dirty="0">
                <a:latin typeface="Times New Roman" panose="02020603050405020304" pitchFamily="18" charset="0"/>
                <a:cs typeface="Times New Roman" panose="02020603050405020304" pitchFamily="18" charset="0"/>
              </a:rPr>
              <a:t>Using Linear Regression method, our system predicts a student's chances of acceptance into various colleges based on their ranks and branch-specific cutoffs.</a:t>
            </a:r>
          </a:p>
          <a:p>
            <a:pPr algn="just">
              <a:lnSpc>
                <a:spcPct val="150000"/>
              </a:lnSpc>
              <a:buFont typeface="Wingdings" panose="05000000000000000000" pitchFamily="2" charset="2"/>
              <a:buChar char="§"/>
            </a:pPr>
            <a:r>
              <a:rPr lang="en-US" sz="1800" dirty="0">
                <a:latin typeface="Times New Roman" panose="02020603050405020304" pitchFamily="18" charset="0"/>
                <a:cs typeface="Times New Roman" panose="02020603050405020304" pitchFamily="18" charset="0"/>
              </a:rPr>
              <a:t>This platform streamlines the application process, allowing students to make informed decisions and apply to colleges where they have a higher likelihood of acceptance. </a:t>
            </a:r>
          </a:p>
        </p:txBody>
      </p:sp>
      <p:sp>
        <p:nvSpPr>
          <p:cNvPr id="1048639" name="TextBox 6"/>
          <p:cNvSpPr txBox="1"/>
          <p:nvPr/>
        </p:nvSpPr>
        <p:spPr>
          <a:xfrm>
            <a:off x="511838" y="-84677"/>
            <a:ext cx="11162581" cy="1061829"/>
          </a:xfrm>
          <a:prstGeom prst="rect">
            <a:avLst/>
          </a:prstGeom>
          <a:noFill/>
        </p:spPr>
        <p:txBody>
          <a:bodyPr wrap="square" rtlCol="0">
            <a:spAutoFit/>
          </a:bodyPr>
          <a:lstStyle/>
          <a:p>
            <a:br>
              <a:rPr lang="en-US" dirty="0"/>
            </a:br>
            <a:endParaRPr lang="en-US" dirty="0"/>
          </a:p>
          <a:p>
            <a:pPr algn="just">
              <a:lnSpc>
                <a:spcPct val="150000"/>
              </a:lnSpc>
            </a:pPr>
            <a:endParaRPr lang="en-IN" dirty="0"/>
          </a:p>
        </p:txBody>
      </p:sp>
      <p:sp>
        <p:nvSpPr>
          <p:cNvPr id="10" name="Title 1"/>
          <p:cNvSpPr>
            <a:spLocks noGrp="1"/>
          </p:cNvSpPr>
          <p:nvPr>
            <p:ph type="title"/>
          </p:nvPr>
        </p:nvSpPr>
        <p:spPr>
          <a:xfrm>
            <a:off x="4100563" y="157639"/>
            <a:ext cx="4049966" cy="499891"/>
          </a:xfrm>
        </p:spPr>
        <p:txBody>
          <a:bodyPr>
            <a:noAutofit/>
          </a:bodyPr>
          <a:lstStyle/>
          <a:p>
            <a:pPr algn="ctr"/>
            <a:br>
              <a:rPr lang="en-US" sz="3200" dirty="0">
                <a:solidFill>
                  <a:schemeClr val="accent1">
                    <a:lumMod val="50000"/>
                  </a:schemeClr>
                </a:solidFill>
                <a:latin typeface="Arial" panose="020B0604020202020204" pitchFamily="34" charset="0"/>
                <a:cs typeface="Arial" panose="020B0604020202020204" pitchFamily="34" charset="0"/>
              </a:rPr>
            </a:br>
            <a:r>
              <a:rPr lang="en-US" sz="3200" b="1" dirty="0">
                <a:solidFill>
                  <a:schemeClr val="accent1">
                    <a:lumMod val="50000"/>
                  </a:schemeClr>
                </a:solidFill>
                <a:latin typeface="Times New Roman" panose="02020603050405020304" pitchFamily="18" charset="0"/>
                <a:cs typeface="Times New Roman" panose="02020603050405020304" pitchFamily="18" charset="0"/>
              </a:rPr>
              <a:t>Introduction</a:t>
            </a:r>
            <a:r>
              <a:rPr lang="en-US" sz="3200" b="1" dirty="0">
                <a:solidFill>
                  <a:schemeClr val="accent1">
                    <a:lumMod val="50000"/>
                  </a:schemeClr>
                </a:solidFill>
                <a:latin typeface="Arial" panose="020B0604020202020204" pitchFamily="34" charset="0"/>
                <a:cs typeface="Arial" panose="020B0604020202020204" pitchFamily="34" charset="0"/>
              </a:rPr>
              <a:t> </a:t>
            </a:r>
            <a:br>
              <a:rPr lang="en-US" sz="3200" b="1" dirty="0">
                <a:solidFill>
                  <a:schemeClr val="accent1">
                    <a:lumMod val="50000"/>
                  </a:schemeClr>
                </a:solidFill>
                <a:latin typeface="Arial" panose="020B0604020202020204" pitchFamily="34" charset="0"/>
                <a:cs typeface="Arial" panose="020B0604020202020204" pitchFamily="34" charset="0"/>
              </a:rPr>
            </a:br>
            <a:endParaRPr lang="en-US" sz="3200" b="1" dirty="0">
              <a:solidFill>
                <a:schemeClr val="accent1">
                  <a:lumMod val="50000"/>
                </a:schemeClr>
              </a:solidFill>
              <a:latin typeface="Arial" panose="020B0604020202020204" pitchFamily="34" charset="0"/>
              <a:cs typeface="Arial" panose="020B0604020202020204" pitchFamily="34" charset="0"/>
            </a:endParaRPr>
          </a:p>
        </p:txBody>
      </p:sp>
      <p:sp>
        <p:nvSpPr>
          <p:cNvPr id="11" name="Date Placeholder 10">
            <a:extLst>
              <a:ext uri="{FF2B5EF4-FFF2-40B4-BE49-F238E27FC236}">
                <a16:creationId xmlns:a16="http://schemas.microsoft.com/office/drawing/2014/main" id="{E941970B-F0B9-C10E-C502-CA91B289E377}"/>
              </a:ext>
            </a:extLst>
          </p:cNvPr>
          <p:cNvSpPr>
            <a:spLocks noGrp="1"/>
          </p:cNvSpPr>
          <p:nvPr>
            <p:ph type="dt" sz="half" idx="10"/>
          </p:nvPr>
        </p:nvSpPr>
        <p:spPr/>
        <p:txBody>
          <a:bodyPr/>
          <a:lstStyle/>
          <a:p>
            <a:fld id="{EC11F008-BC46-4453-8D05-9E21B4175650}" type="datetime1">
              <a:rPr lang="en-US" smtClean="0"/>
              <a:t>10/13/2025</a:t>
            </a:fld>
            <a:endParaRPr lang="en-US"/>
          </a:p>
        </p:txBody>
      </p:sp>
      <p:sp>
        <p:nvSpPr>
          <p:cNvPr id="12" name="Footer Placeholder 11">
            <a:extLst>
              <a:ext uri="{FF2B5EF4-FFF2-40B4-BE49-F238E27FC236}">
                <a16:creationId xmlns:a16="http://schemas.microsoft.com/office/drawing/2014/main" id="{8534C6DC-BC90-B706-31EC-10E42B61F26D}"/>
              </a:ext>
            </a:extLst>
          </p:cNvPr>
          <p:cNvSpPr>
            <a:spLocks noGrp="1"/>
          </p:cNvSpPr>
          <p:nvPr>
            <p:ph type="ftr" sz="quarter" idx="11"/>
          </p:nvPr>
        </p:nvSpPr>
        <p:spPr/>
        <p:txBody>
          <a:bodyPr/>
          <a:lstStyle/>
          <a:p>
            <a:r>
              <a:rPr lang="en-US"/>
              <a:t>NextGen College Advisor: AI-Powered Guidance for Students</a:t>
            </a:r>
          </a:p>
        </p:txBody>
      </p:sp>
      <p:sp>
        <p:nvSpPr>
          <p:cNvPr id="13" name="Slide Number Placeholder 12">
            <a:extLst>
              <a:ext uri="{FF2B5EF4-FFF2-40B4-BE49-F238E27FC236}">
                <a16:creationId xmlns:a16="http://schemas.microsoft.com/office/drawing/2014/main" id="{59D41410-9056-ABF2-7A14-305185C75C8A}"/>
              </a:ext>
            </a:extLst>
          </p:cNvPr>
          <p:cNvSpPr>
            <a:spLocks noGrp="1"/>
          </p:cNvSpPr>
          <p:nvPr>
            <p:ph type="sldNum" sz="quarter" idx="12"/>
          </p:nvPr>
        </p:nvSpPr>
        <p:spPr/>
        <p:txBody>
          <a:bodyPr/>
          <a:lstStyle/>
          <a:p>
            <a:fld id="{FA11DADA-ACB1-42D7-8648-2A253C2E43B8}" type="slidenum">
              <a:rPr lang="en-US" smtClean="0"/>
              <a:pPr/>
              <a:t>4</a:t>
            </a:fld>
            <a:endParaRPr lang="en-US"/>
          </a:p>
        </p:txBody>
      </p:sp>
      <p:pic>
        <p:nvPicPr>
          <p:cNvPr id="4" name="Picture 3">
            <a:extLst>
              <a:ext uri="{FF2B5EF4-FFF2-40B4-BE49-F238E27FC236}">
                <a16:creationId xmlns:a16="http://schemas.microsoft.com/office/drawing/2014/main" id="{BF835F50-3C65-45A6-9E36-AED9A1C9E9C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58688" y="4043126"/>
            <a:ext cx="2879912" cy="2333094"/>
          </a:xfrm>
          <a:prstGeom prst="rect">
            <a:avLst/>
          </a:prstGeom>
        </p:spPr>
      </p:pic>
      <p:pic>
        <p:nvPicPr>
          <p:cNvPr id="6" name="Picture 5">
            <a:extLst>
              <a:ext uri="{FF2B5EF4-FFF2-40B4-BE49-F238E27FC236}">
                <a16:creationId xmlns:a16="http://schemas.microsoft.com/office/drawing/2014/main" id="{117586E8-031A-44A4-A1A3-820CA97CCFA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403220" y="4221694"/>
            <a:ext cx="2879912" cy="2136927"/>
          </a:xfrm>
          <a:prstGeom prst="rect">
            <a:avLst/>
          </a:prstGeom>
        </p:spPr>
      </p:pic>
      <p:pic>
        <p:nvPicPr>
          <p:cNvPr id="8" name="Picture 7">
            <a:extLst>
              <a:ext uri="{FF2B5EF4-FFF2-40B4-BE49-F238E27FC236}">
                <a16:creationId xmlns:a16="http://schemas.microsoft.com/office/drawing/2014/main" id="{BD56BAC0-E222-47A6-840C-6ECE5BA6553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359088" y="4504823"/>
            <a:ext cx="3586932" cy="1675230"/>
          </a:xfrm>
          <a:prstGeom prst="rect">
            <a:avLst/>
          </a:prstGeom>
        </p:spPr>
      </p:pic>
    </p:spTree>
    <p:extLst>
      <p:ext uri="{BB962C8B-B14F-4D97-AF65-F5344CB8AC3E}">
        <p14:creationId xmlns:p14="http://schemas.microsoft.com/office/powerpoint/2010/main" val="36923758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52" name="Title 1"/>
          <p:cNvSpPr>
            <a:spLocks noGrp="1"/>
          </p:cNvSpPr>
          <p:nvPr>
            <p:ph type="title"/>
          </p:nvPr>
        </p:nvSpPr>
        <p:spPr>
          <a:xfrm>
            <a:off x="792797" y="136525"/>
            <a:ext cx="10606404" cy="542983"/>
          </a:xfrm>
        </p:spPr>
        <p:txBody>
          <a:bodyPr>
            <a:noAutofit/>
          </a:bodyPr>
          <a:lstStyle/>
          <a:p>
            <a:pPr algn="ctr"/>
            <a:br>
              <a:rPr lang="en-US" sz="3200" dirty="0">
                <a:solidFill>
                  <a:schemeClr val="accent1">
                    <a:lumMod val="50000"/>
                  </a:schemeClr>
                </a:solidFill>
                <a:latin typeface="Times New Roman" panose="02020603050405020304" pitchFamily="18" charset="0"/>
                <a:cs typeface="Times New Roman" panose="02020603050405020304" pitchFamily="18" charset="0"/>
              </a:rPr>
            </a:br>
            <a:r>
              <a:rPr lang="en-US" sz="3200" b="1" dirty="0">
                <a:solidFill>
                  <a:schemeClr val="accent1">
                    <a:lumMod val="50000"/>
                  </a:schemeClr>
                </a:solidFill>
                <a:latin typeface="Times New Roman" panose="02020603050405020304" pitchFamily="18" charset="0"/>
                <a:cs typeface="Times New Roman" panose="02020603050405020304" pitchFamily="18" charset="0"/>
              </a:rPr>
              <a:t>Literature Survey</a:t>
            </a:r>
            <a:br>
              <a:rPr lang="en-US" sz="3200" dirty="0">
                <a:solidFill>
                  <a:schemeClr val="accent1">
                    <a:lumMod val="50000"/>
                  </a:schemeClr>
                </a:solidFill>
                <a:latin typeface="Times New Roman" panose="02020603050405020304" pitchFamily="18" charset="0"/>
                <a:cs typeface="Times New Roman" panose="02020603050405020304" pitchFamily="18" charset="0"/>
              </a:rPr>
            </a:br>
            <a:endParaRPr lang="en-US" sz="3200" dirty="0">
              <a:solidFill>
                <a:schemeClr val="accent1">
                  <a:lumMod val="50000"/>
                </a:schemeClr>
              </a:solidFill>
              <a:latin typeface="Times New Roman" panose="02020603050405020304" pitchFamily="18" charset="0"/>
              <a:cs typeface="Times New Roman" panose="02020603050405020304" pitchFamily="18" charset="0"/>
            </a:endParaRPr>
          </a:p>
        </p:txBody>
      </p:sp>
      <p:graphicFrame>
        <p:nvGraphicFramePr>
          <p:cNvPr id="5" name="Table 4">
            <a:extLst>
              <a:ext uri="{FF2B5EF4-FFF2-40B4-BE49-F238E27FC236}">
                <a16:creationId xmlns:a16="http://schemas.microsoft.com/office/drawing/2014/main" id="{6400FE96-4DB1-35EF-EAEA-553BFCD94C1D}"/>
              </a:ext>
            </a:extLst>
          </p:cNvPr>
          <p:cNvGraphicFramePr>
            <a:graphicFrameLocks noGrp="1"/>
          </p:cNvGraphicFramePr>
          <p:nvPr>
            <p:extLst>
              <p:ext uri="{D42A27DB-BD31-4B8C-83A1-F6EECF244321}">
                <p14:modId xmlns:p14="http://schemas.microsoft.com/office/powerpoint/2010/main" val="4229430258"/>
              </p:ext>
            </p:extLst>
          </p:nvPr>
        </p:nvGraphicFramePr>
        <p:xfrm>
          <a:off x="534955" y="831920"/>
          <a:ext cx="11122089" cy="5394960"/>
        </p:xfrm>
        <a:graphic>
          <a:graphicData uri="http://schemas.openxmlformats.org/drawingml/2006/table">
            <a:tbl>
              <a:tblPr firstRow="1" firstCol="1" bandRow="1">
                <a:tableStyleId>{5940675A-B579-460E-94D1-54222C63F5DA}</a:tableStyleId>
              </a:tblPr>
              <a:tblGrid>
                <a:gridCol w="463421">
                  <a:extLst>
                    <a:ext uri="{9D8B030D-6E8A-4147-A177-3AD203B41FA5}">
                      <a16:colId xmlns:a16="http://schemas.microsoft.com/office/drawing/2014/main" val="2796329834"/>
                    </a:ext>
                  </a:extLst>
                </a:gridCol>
                <a:gridCol w="2729192">
                  <a:extLst>
                    <a:ext uri="{9D8B030D-6E8A-4147-A177-3AD203B41FA5}">
                      <a16:colId xmlns:a16="http://schemas.microsoft.com/office/drawing/2014/main" val="2690125095"/>
                    </a:ext>
                  </a:extLst>
                </a:gridCol>
                <a:gridCol w="1884783">
                  <a:extLst>
                    <a:ext uri="{9D8B030D-6E8A-4147-A177-3AD203B41FA5}">
                      <a16:colId xmlns:a16="http://schemas.microsoft.com/office/drawing/2014/main" val="739628279"/>
                    </a:ext>
                  </a:extLst>
                </a:gridCol>
                <a:gridCol w="2267339">
                  <a:extLst>
                    <a:ext uri="{9D8B030D-6E8A-4147-A177-3AD203B41FA5}">
                      <a16:colId xmlns:a16="http://schemas.microsoft.com/office/drawing/2014/main" val="4046980639"/>
                    </a:ext>
                  </a:extLst>
                </a:gridCol>
                <a:gridCol w="3777354">
                  <a:extLst>
                    <a:ext uri="{9D8B030D-6E8A-4147-A177-3AD203B41FA5}">
                      <a16:colId xmlns:a16="http://schemas.microsoft.com/office/drawing/2014/main" val="3728368528"/>
                    </a:ext>
                  </a:extLst>
                </a:gridCol>
              </a:tblGrid>
              <a:tr h="468196">
                <a:tc>
                  <a:txBody>
                    <a:bodyPr/>
                    <a:lstStyle/>
                    <a:p>
                      <a:pPr marL="0" marR="0" indent="0" algn="just">
                        <a:spcBef>
                          <a:spcPts val="0"/>
                        </a:spcBef>
                        <a:spcAft>
                          <a:spcPts val="0"/>
                        </a:spcAft>
                      </a:pPr>
                      <a:r>
                        <a:rPr lang="en-AU" sz="1800" dirty="0">
                          <a:effectLst/>
                          <a:latin typeface="Times New Roman" panose="02020603050405020304" pitchFamily="18" charset="0"/>
                          <a:cs typeface="Times New Roman" panose="02020603050405020304" pitchFamily="18" charset="0"/>
                        </a:rPr>
                        <a:t>SL.NO</a:t>
                      </a:r>
                      <a:endParaRPr lang="en-US" sz="18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48841" marR="48841" marT="0" marB="0"/>
                </a:tc>
                <a:tc>
                  <a:txBody>
                    <a:bodyPr/>
                    <a:lstStyle/>
                    <a:p>
                      <a:pPr marL="0" marR="0" indent="0" algn="ctr">
                        <a:lnSpc>
                          <a:spcPct val="150000"/>
                        </a:lnSpc>
                        <a:spcBef>
                          <a:spcPts val="0"/>
                        </a:spcBef>
                        <a:spcAft>
                          <a:spcPts val="0"/>
                        </a:spcAft>
                      </a:pPr>
                      <a:r>
                        <a:rPr lang="en-AU" sz="1800">
                          <a:effectLst/>
                          <a:latin typeface="Times New Roman" panose="02020603050405020304" pitchFamily="18" charset="0"/>
                          <a:cs typeface="Times New Roman" panose="02020603050405020304" pitchFamily="18" charset="0"/>
                        </a:rPr>
                        <a:t>Title</a:t>
                      </a:r>
                      <a:endParaRPr lang="en-US" sz="1800">
                        <a:effectLst/>
                        <a:latin typeface="Times New Roman" panose="02020603050405020304" pitchFamily="18" charset="0"/>
                        <a:ea typeface="SimSun" panose="02010600030101010101" pitchFamily="2" charset="-122"/>
                        <a:cs typeface="Times New Roman" panose="02020603050405020304" pitchFamily="18" charset="0"/>
                      </a:endParaRPr>
                    </a:p>
                  </a:txBody>
                  <a:tcPr marL="48841" marR="48841" marT="0" marB="0"/>
                </a:tc>
                <a:tc>
                  <a:txBody>
                    <a:bodyPr/>
                    <a:lstStyle/>
                    <a:p>
                      <a:pPr marL="0" marR="0" indent="0" algn="ctr">
                        <a:lnSpc>
                          <a:spcPct val="150000"/>
                        </a:lnSpc>
                        <a:spcBef>
                          <a:spcPts val="0"/>
                        </a:spcBef>
                        <a:spcAft>
                          <a:spcPts val="0"/>
                        </a:spcAft>
                      </a:pPr>
                      <a:r>
                        <a:rPr lang="en-AU" sz="1800">
                          <a:effectLst/>
                          <a:latin typeface="Times New Roman" panose="02020603050405020304" pitchFamily="18" charset="0"/>
                          <a:cs typeface="Times New Roman" panose="02020603050405020304" pitchFamily="18" charset="0"/>
                        </a:rPr>
                        <a:t>Author</a:t>
                      </a:r>
                      <a:endParaRPr lang="en-US" sz="1800">
                        <a:effectLst/>
                        <a:latin typeface="Times New Roman" panose="02020603050405020304" pitchFamily="18" charset="0"/>
                        <a:ea typeface="SimSun" panose="02010600030101010101" pitchFamily="2" charset="-122"/>
                        <a:cs typeface="Times New Roman" panose="02020603050405020304" pitchFamily="18" charset="0"/>
                      </a:endParaRPr>
                    </a:p>
                  </a:txBody>
                  <a:tcPr marL="48841" marR="48841" marT="0" marB="0"/>
                </a:tc>
                <a:tc>
                  <a:txBody>
                    <a:bodyPr/>
                    <a:lstStyle/>
                    <a:p>
                      <a:pPr marL="0" marR="0" indent="0" algn="ctr">
                        <a:lnSpc>
                          <a:spcPct val="150000"/>
                        </a:lnSpc>
                        <a:spcBef>
                          <a:spcPts val="0"/>
                        </a:spcBef>
                        <a:spcAft>
                          <a:spcPts val="0"/>
                        </a:spcAft>
                      </a:pPr>
                      <a:r>
                        <a:rPr lang="en-US" sz="1800" dirty="0">
                          <a:effectLst/>
                          <a:latin typeface="Times New Roman" panose="02020603050405020304" pitchFamily="18" charset="0"/>
                          <a:ea typeface="SimSun" panose="02010600030101010101" pitchFamily="2" charset="-122"/>
                          <a:cs typeface="Times New Roman" panose="02020603050405020304" pitchFamily="18" charset="0"/>
                        </a:rPr>
                        <a:t>Publication</a:t>
                      </a:r>
                    </a:p>
                  </a:txBody>
                  <a:tcPr marL="48841" marR="48841" marT="0" marB="0"/>
                </a:tc>
                <a:tc>
                  <a:txBody>
                    <a:bodyPr/>
                    <a:lstStyle/>
                    <a:p>
                      <a:pPr marL="0" marR="0" indent="0" algn="ctr">
                        <a:lnSpc>
                          <a:spcPct val="150000"/>
                        </a:lnSpc>
                        <a:spcBef>
                          <a:spcPts val="0"/>
                        </a:spcBef>
                        <a:spcAft>
                          <a:spcPts val="0"/>
                        </a:spcAft>
                      </a:pPr>
                      <a:r>
                        <a:rPr lang="en-US" sz="1800" dirty="0">
                          <a:effectLst/>
                          <a:latin typeface="Times New Roman" panose="02020603050405020304" pitchFamily="18" charset="0"/>
                          <a:ea typeface="SimSun" panose="02010600030101010101" pitchFamily="2" charset="-122"/>
                          <a:cs typeface="Times New Roman" panose="02020603050405020304" pitchFamily="18" charset="0"/>
                        </a:rPr>
                        <a:t>Findings</a:t>
                      </a:r>
                    </a:p>
                  </a:txBody>
                  <a:tcPr marL="48841" marR="48841" marT="0" marB="0"/>
                </a:tc>
                <a:extLst>
                  <a:ext uri="{0D108BD9-81ED-4DB2-BD59-A6C34878D82A}">
                    <a16:rowId xmlns:a16="http://schemas.microsoft.com/office/drawing/2014/main" val="3999670964"/>
                  </a:ext>
                </a:extLst>
              </a:tr>
              <a:tr h="2458029">
                <a:tc>
                  <a:txBody>
                    <a:bodyPr/>
                    <a:lstStyle/>
                    <a:p>
                      <a:pPr marL="0" marR="0" indent="0" algn="just">
                        <a:spcBef>
                          <a:spcPts val="0"/>
                        </a:spcBef>
                        <a:spcAft>
                          <a:spcPts val="0"/>
                        </a:spcAft>
                      </a:pPr>
                      <a:r>
                        <a:rPr lang="en-AU" sz="1800" dirty="0">
                          <a:effectLst/>
                          <a:latin typeface="Times New Roman" panose="02020603050405020304" pitchFamily="18" charset="0"/>
                          <a:cs typeface="Times New Roman" panose="02020603050405020304" pitchFamily="18" charset="0"/>
                        </a:rPr>
                        <a:t>[1]</a:t>
                      </a:r>
                      <a:endParaRPr lang="en-US" sz="18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48841" marR="48841" marT="0" marB="0"/>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1800" dirty="0">
                          <a:latin typeface="Times New Roman" panose="02020603050405020304" pitchFamily="18" charset="0"/>
                          <a:cs typeface="Times New Roman" panose="02020603050405020304" pitchFamily="18" charset="0"/>
                        </a:rPr>
                        <a:t>College Recommendation System using Machine Learning</a:t>
                      </a:r>
                      <a:endParaRPr lang="en-IN" sz="1800" dirty="0">
                        <a:latin typeface="Times New Roman" panose="02020603050405020304" pitchFamily="18" charset="0"/>
                        <a:cs typeface="Times New Roman" panose="02020603050405020304" pitchFamily="18" charset="0"/>
                      </a:endParaRPr>
                    </a:p>
                  </a:txBody>
                  <a:tcPr/>
                </a:tc>
                <a:tc>
                  <a:txBody>
                    <a:bodyPr/>
                    <a:lstStyle/>
                    <a:p>
                      <a:pPr algn="just"/>
                      <a:r>
                        <a:rPr lang="en-IN" sz="1800" dirty="0">
                          <a:latin typeface="Times New Roman" panose="02020603050405020304" pitchFamily="18" charset="0"/>
                          <a:cs typeface="Times New Roman" panose="02020603050405020304" pitchFamily="18" charset="0"/>
                        </a:rPr>
                        <a:t>Jadhav Sayali Pramod, Patil Durga Ananda, Kamble Sonali Arun and Shinde Sumit Sahebrao</a:t>
                      </a:r>
                    </a:p>
                  </a:txBody>
                  <a:tcPr/>
                </a:tc>
                <a:tc>
                  <a:txBody>
                    <a:bodyPr/>
                    <a:lstStyle/>
                    <a:p>
                      <a:pPr algn="just"/>
                      <a:r>
                        <a:rPr lang="en-US" sz="1800" dirty="0">
                          <a:latin typeface="Times New Roman" panose="02020603050405020304" pitchFamily="18" charset="0"/>
                          <a:cs typeface="Times New Roman" panose="02020603050405020304" pitchFamily="18" charset="0"/>
                        </a:rPr>
                        <a:t>International Research Journal of Engineering and Technology (IRJET) ,2020</a:t>
                      </a:r>
                      <a:endParaRPr lang="en-IN" sz="1800" dirty="0">
                        <a:latin typeface="Times New Roman" panose="02020603050405020304" pitchFamily="18" charset="0"/>
                        <a:cs typeface="Times New Roman" panose="02020603050405020304" pitchFamily="18" charset="0"/>
                      </a:endParaRPr>
                    </a:p>
                  </a:txBody>
                  <a:tcPr/>
                </a:tc>
                <a:tc>
                  <a:txBody>
                    <a:bodyPr/>
                    <a:lstStyle/>
                    <a:p>
                      <a:pPr algn="just"/>
                      <a:r>
                        <a:rPr lang="en-US" sz="1800" dirty="0">
                          <a:latin typeface="Times New Roman" panose="02020603050405020304" pitchFamily="18" charset="0"/>
                          <a:cs typeface="Times New Roman" panose="02020603050405020304" pitchFamily="18" charset="0"/>
                        </a:rPr>
                        <a:t>The methodology involves collecting and preprocessing college data, selecting relevant features, training a C4.5 classifier for predicting admission probabilities, deploying it in a user-friendly web application, and iteratively refining the system based on user feedback to enhance recommendations and usability.</a:t>
                      </a:r>
                      <a:endParaRPr lang="en-IN" sz="18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523351746"/>
                  </a:ext>
                </a:extLst>
              </a:tr>
              <a:tr h="2194668">
                <a:tc>
                  <a:txBody>
                    <a:bodyPr/>
                    <a:lstStyle/>
                    <a:p>
                      <a:pPr marL="0" marR="0" indent="0" algn="just">
                        <a:spcBef>
                          <a:spcPts val="0"/>
                        </a:spcBef>
                        <a:spcAft>
                          <a:spcPts val="0"/>
                        </a:spcAft>
                      </a:pPr>
                      <a:r>
                        <a:rPr lang="en-AU" sz="1800" dirty="0">
                          <a:effectLst/>
                          <a:latin typeface="Times New Roman" panose="02020603050405020304" pitchFamily="18" charset="0"/>
                          <a:cs typeface="Times New Roman" panose="02020603050405020304" pitchFamily="18" charset="0"/>
                        </a:rPr>
                        <a:t>[2]</a:t>
                      </a:r>
                      <a:endParaRPr lang="en-US" sz="18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48841" marR="48841" marT="0" marB="0"/>
                </a:tc>
                <a:tc>
                  <a:txBody>
                    <a:bodyPr/>
                    <a:lstStyle/>
                    <a:p>
                      <a:pPr algn="just"/>
                      <a:r>
                        <a:rPr lang="en-US" sz="1800" dirty="0">
                          <a:latin typeface="Times New Roman" panose="02020603050405020304" pitchFamily="18" charset="0"/>
                          <a:cs typeface="Times New Roman" panose="02020603050405020304" pitchFamily="18" charset="0"/>
                        </a:rPr>
                        <a:t>College Recommendation System Using Artificial Intelligence And Machine Learning </a:t>
                      </a:r>
                      <a:endParaRPr lang="en-IN" sz="1800" dirty="0">
                        <a:latin typeface="Times New Roman" panose="02020603050405020304" pitchFamily="18" charset="0"/>
                        <a:cs typeface="Times New Roman" panose="02020603050405020304" pitchFamily="18" charset="0"/>
                      </a:endParaRPr>
                    </a:p>
                  </a:txBody>
                  <a:tcPr/>
                </a:tc>
                <a:tc>
                  <a:txBody>
                    <a:bodyPr/>
                    <a:lstStyle/>
                    <a:p>
                      <a:pPr algn="just"/>
                      <a:r>
                        <a:rPr lang="en-IN" sz="1800" dirty="0">
                          <a:latin typeface="Times New Roman" panose="02020603050405020304" pitchFamily="18" charset="0"/>
                          <a:cs typeface="Times New Roman" panose="02020603050405020304" pitchFamily="18" charset="0"/>
                        </a:rPr>
                        <a:t>Sunil Sonawane, Madhavi Gosavi,  Aparna Pawar and</a:t>
                      </a:r>
                    </a:p>
                    <a:p>
                      <a:pPr algn="just"/>
                      <a:r>
                        <a:rPr lang="en-IN" sz="1800" dirty="0">
                          <a:latin typeface="Times New Roman" panose="02020603050405020304" pitchFamily="18" charset="0"/>
                          <a:cs typeface="Times New Roman" panose="02020603050405020304" pitchFamily="18" charset="0"/>
                        </a:rPr>
                        <a:t>Omkar Pawar</a:t>
                      </a:r>
                    </a:p>
                  </a:txBody>
                  <a:tcPr/>
                </a:tc>
                <a:tc>
                  <a:txBody>
                    <a:bodyPr/>
                    <a:lstStyle/>
                    <a:p>
                      <a:pPr algn="just"/>
                      <a:r>
                        <a:rPr lang="en-US" sz="1800" dirty="0">
                          <a:latin typeface="Times New Roman" panose="02020603050405020304" pitchFamily="18" charset="0"/>
                          <a:cs typeface="Times New Roman" panose="02020603050405020304" pitchFamily="18" charset="0"/>
                        </a:rPr>
                        <a:t>International  Research Journal of Modernization  in Engineering  Technology  and Science,2023</a:t>
                      </a:r>
                      <a:endParaRPr lang="en-IN" sz="1800" dirty="0">
                        <a:latin typeface="Times New Roman" panose="02020603050405020304" pitchFamily="18" charset="0"/>
                        <a:cs typeface="Times New Roman" panose="02020603050405020304" pitchFamily="18" charset="0"/>
                      </a:endParaRPr>
                    </a:p>
                  </a:txBody>
                  <a:tcPr/>
                </a:tc>
                <a:tc>
                  <a:txBody>
                    <a:bodyPr/>
                    <a:lstStyle/>
                    <a:p>
                      <a:pPr algn="just"/>
                      <a:r>
                        <a:rPr lang="en-US" sz="1800" dirty="0">
                          <a:latin typeface="Times New Roman" panose="02020603050405020304" pitchFamily="18" charset="0"/>
                          <a:cs typeface="Times New Roman" panose="02020603050405020304" pitchFamily="18" charset="0"/>
                        </a:rPr>
                        <a:t>The project provides detailed information about engineering colleges in India, emphasizing factors such as professors, campus life, hostel amenities, and placements, to assist students in making informed decisions based on their CET or diploma final year scores.</a:t>
                      </a:r>
                      <a:endParaRPr lang="en-IN" sz="18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431955258"/>
                  </a:ext>
                </a:extLst>
              </a:tr>
            </a:tbl>
          </a:graphicData>
        </a:graphic>
      </p:graphicFrame>
      <p:sp>
        <p:nvSpPr>
          <p:cNvPr id="9" name="Date Placeholder 8">
            <a:extLst>
              <a:ext uri="{FF2B5EF4-FFF2-40B4-BE49-F238E27FC236}">
                <a16:creationId xmlns:a16="http://schemas.microsoft.com/office/drawing/2014/main" id="{F2CA214F-BBEA-90C5-62DA-E40A205338D7}"/>
              </a:ext>
            </a:extLst>
          </p:cNvPr>
          <p:cNvSpPr>
            <a:spLocks noGrp="1"/>
          </p:cNvSpPr>
          <p:nvPr>
            <p:ph type="dt" sz="half" idx="10"/>
          </p:nvPr>
        </p:nvSpPr>
        <p:spPr/>
        <p:txBody>
          <a:bodyPr/>
          <a:lstStyle/>
          <a:p>
            <a:fld id="{F78BBB42-D0B5-47A4-8CFD-8ABA73BC1B29}" type="datetime1">
              <a:rPr lang="en-US" smtClean="0"/>
              <a:t>10/13/2025</a:t>
            </a:fld>
            <a:endParaRPr lang="en-US"/>
          </a:p>
        </p:txBody>
      </p:sp>
      <p:sp>
        <p:nvSpPr>
          <p:cNvPr id="10" name="Footer Placeholder 9">
            <a:extLst>
              <a:ext uri="{FF2B5EF4-FFF2-40B4-BE49-F238E27FC236}">
                <a16:creationId xmlns:a16="http://schemas.microsoft.com/office/drawing/2014/main" id="{E3EC6F12-9A22-409C-3FAF-49240ACDB07E}"/>
              </a:ext>
            </a:extLst>
          </p:cNvPr>
          <p:cNvSpPr>
            <a:spLocks noGrp="1"/>
          </p:cNvSpPr>
          <p:nvPr>
            <p:ph type="ftr" sz="quarter" idx="11"/>
          </p:nvPr>
        </p:nvSpPr>
        <p:spPr/>
        <p:txBody>
          <a:bodyPr/>
          <a:lstStyle/>
          <a:p>
            <a:r>
              <a:rPr lang="en-US"/>
              <a:t>NextGen College Advisor: AI-Powered Guidance for Students</a:t>
            </a:r>
          </a:p>
        </p:txBody>
      </p:sp>
      <p:sp>
        <p:nvSpPr>
          <p:cNvPr id="11" name="Slide Number Placeholder 10">
            <a:extLst>
              <a:ext uri="{FF2B5EF4-FFF2-40B4-BE49-F238E27FC236}">
                <a16:creationId xmlns:a16="http://schemas.microsoft.com/office/drawing/2014/main" id="{DD5BF472-819F-0C71-5C86-6B1D3826881F}"/>
              </a:ext>
            </a:extLst>
          </p:cNvPr>
          <p:cNvSpPr>
            <a:spLocks noGrp="1"/>
          </p:cNvSpPr>
          <p:nvPr>
            <p:ph type="sldNum" sz="quarter" idx="12"/>
          </p:nvPr>
        </p:nvSpPr>
        <p:spPr/>
        <p:txBody>
          <a:bodyPr/>
          <a:lstStyle/>
          <a:p>
            <a:fld id="{FA11DADA-ACB1-42D7-8648-2A253C2E43B8}" type="slidenum">
              <a:rPr lang="en-US" smtClean="0"/>
              <a:pPr/>
              <a:t>5</a:t>
            </a:fld>
            <a:endParaRPr lang="en-US"/>
          </a:p>
        </p:txBody>
      </p:sp>
    </p:spTree>
    <p:extLst>
      <p:ext uri="{BB962C8B-B14F-4D97-AF65-F5344CB8AC3E}">
        <p14:creationId xmlns:p14="http://schemas.microsoft.com/office/powerpoint/2010/main" val="8765254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4" name="Table 13">
            <a:extLst>
              <a:ext uri="{FF2B5EF4-FFF2-40B4-BE49-F238E27FC236}">
                <a16:creationId xmlns:a16="http://schemas.microsoft.com/office/drawing/2014/main" id="{BA9316E0-F9F7-C212-4417-82ED78AE9F87}"/>
              </a:ext>
            </a:extLst>
          </p:cNvPr>
          <p:cNvGraphicFramePr>
            <a:graphicFrameLocks noGrp="1"/>
          </p:cNvGraphicFramePr>
          <p:nvPr>
            <p:extLst>
              <p:ext uri="{D42A27DB-BD31-4B8C-83A1-F6EECF244321}">
                <p14:modId xmlns:p14="http://schemas.microsoft.com/office/powerpoint/2010/main" val="378805398"/>
              </p:ext>
            </p:extLst>
          </p:nvPr>
        </p:nvGraphicFramePr>
        <p:xfrm>
          <a:off x="417544" y="895738"/>
          <a:ext cx="11356911" cy="3840480"/>
        </p:xfrm>
        <a:graphic>
          <a:graphicData uri="http://schemas.openxmlformats.org/drawingml/2006/table">
            <a:tbl>
              <a:tblPr firstRow="1" firstCol="1" bandRow="1">
                <a:tableStyleId>{5940675A-B579-460E-94D1-54222C63F5DA}</a:tableStyleId>
              </a:tblPr>
              <a:tblGrid>
                <a:gridCol w="424037">
                  <a:extLst>
                    <a:ext uri="{9D8B030D-6E8A-4147-A177-3AD203B41FA5}">
                      <a16:colId xmlns:a16="http://schemas.microsoft.com/office/drawing/2014/main" val="2796329834"/>
                    </a:ext>
                  </a:extLst>
                </a:gridCol>
                <a:gridCol w="2087454">
                  <a:extLst>
                    <a:ext uri="{9D8B030D-6E8A-4147-A177-3AD203B41FA5}">
                      <a16:colId xmlns:a16="http://schemas.microsoft.com/office/drawing/2014/main" val="2690125095"/>
                    </a:ext>
                  </a:extLst>
                </a:gridCol>
                <a:gridCol w="2080727">
                  <a:extLst>
                    <a:ext uri="{9D8B030D-6E8A-4147-A177-3AD203B41FA5}">
                      <a16:colId xmlns:a16="http://schemas.microsoft.com/office/drawing/2014/main" val="739628279"/>
                    </a:ext>
                  </a:extLst>
                </a:gridCol>
                <a:gridCol w="3545632">
                  <a:extLst>
                    <a:ext uri="{9D8B030D-6E8A-4147-A177-3AD203B41FA5}">
                      <a16:colId xmlns:a16="http://schemas.microsoft.com/office/drawing/2014/main" val="3728368528"/>
                    </a:ext>
                  </a:extLst>
                </a:gridCol>
                <a:gridCol w="3219061">
                  <a:extLst>
                    <a:ext uri="{9D8B030D-6E8A-4147-A177-3AD203B41FA5}">
                      <a16:colId xmlns:a16="http://schemas.microsoft.com/office/drawing/2014/main" val="1537876581"/>
                    </a:ext>
                  </a:extLst>
                </a:gridCol>
              </a:tblGrid>
              <a:tr h="101925">
                <a:tc>
                  <a:txBody>
                    <a:bodyPr/>
                    <a:lstStyle/>
                    <a:p>
                      <a:pPr marL="0" marR="0" indent="0" algn="just">
                        <a:spcBef>
                          <a:spcPts val="0"/>
                        </a:spcBef>
                        <a:spcAft>
                          <a:spcPts val="0"/>
                        </a:spcAft>
                      </a:pPr>
                      <a:r>
                        <a:rPr lang="en-AU" sz="1800" dirty="0">
                          <a:effectLst/>
                          <a:latin typeface="Times New Roman" panose="02020603050405020304" pitchFamily="18" charset="0"/>
                          <a:cs typeface="Times New Roman" panose="02020603050405020304" pitchFamily="18" charset="0"/>
                        </a:rPr>
                        <a:t>SL.NO</a:t>
                      </a:r>
                      <a:endParaRPr lang="en-US" sz="18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48841" marR="48841" marT="0" marB="0"/>
                </a:tc>
                <a:tc>
                  <a:txBody>
                    <a:bodyPr/>
                    <a:lstStyle/>
                    <a:p>
                      <a:pPr marL="0" marR="0" indent="0" algn="ctr">
                        <a:lnSpc>
                          <a:spcPct val="150000"/>
                        </a:lnSpc>
                        <a:spcBef>
                          <a:spcPts val="0"/>
                        </a:spcBef>
                        <a:spcAft>
                          <a:spcPts val="0"/>
                        </a:spcAft>
                      </a:pPr>
                      <a:r>
                        <a:rPr lang="en-AU" sz="1800" dirty="0">
                          <a:effectLst/>
                          <a:latin typeface="Times New Roman" panose="02020603050405020304" pitchFamily="18" charset="0"/>
                          <a:cs typeface="Times New Roman" panose="02020603050405020304" pitchFamily="18" charset="0"/>
                        </a:rPr>
                        <a:t>Title</a:t>
                      </a:r>
                      <a:endParaRPr lang="en-US" sz="18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48841" marR="48841" marT="0" marB="0"/>
                </a:tc>
                <a:tc>
                  <a:txBody>
                    <a:bodyPr/>
                    <a:lstStyle/>
                    <a:p>
                      <a:pPr marL="0" marR="0" indent="0" algn="ctr">
                        <a:lnSpc>
                          <a:spcPct val="150000"/>
                        </a:lnSpc>
                        <a:spcBef>
                          <a:spcPts val="0"/>
                        </a:spcBef>
                        <a:spcAft>
                          <a:spcPts val="0"/>
                        </a:spcAft>
                      </a:pPr>
                      <a:r>
                        <a:rPr lang="en-AU" sz="1800" dirty="0">
                          <a:effectLst/>
                          <a:latin typeface="Times New Roman" panose="02020603050405020304" pitchFamily="18" charset="0"/>
                          <a:cs typeface="Times New Roman" panose="02020603050405020304" pitchFamily="18" charset="0"/>
                        </a:rPr>
                        <a:t>Author</a:t>
                      </a:r>
                      <a:endParaRPr lang="en-US" sz="18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48841" marR="48841" marT="0" marB="0"/>
                </a:tc>
                <a:tc>
                  <a:txBody>
                    <a:bodyPr/>
                    <a:lstStyle/>
                    <a:p>
                      <a:pPr marL="0" marR="0" indent="0" algn="ctr">
                        <a:lnSpc>
                          <a:spcPct val="150000"/>
                        </a:lnSpc>
                        <a:spcBef>
                          <a:spcPts val="0"/>
                        </a:spcBef>
                        <a:spcAft>
                          <a:spcPts val="0"/>
                        </a:spcAft>
                      </a:pPr>
                      <a:r>
                        <a:rPr lang="en-AU" sz="1800" dirty="0">
                          <a:effectLst/>
                          <a:latin typeface="Times New Roman" panose="02020603050405020304" pitchFamily="18" charset="0"/>
                          <a:ea typeface="SimSun" panose="02010600030101010101" pitchFamily="2" charset="-122"/>
                          <a:cs typeface="Times New Roman" panose="02020603050405020304" pitchFamily="18" charset="0"/>
                        </a:rPr>
                        <a:t>Publication</a:t>
                      </a:r>
                      <a:endParaRPr lang="en-US" sz="18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48841" marR="48841" marT="0" marB="0"/>
                </a:tc>
                <a:tc>
                  <a:txBody>
                    <a:bodyPr/>
                    <a:lstStyle/>
                    <a:p>
                      <a:pPr marL="0" marR="0" indent="0" algn="ctr">
                        <a:lnSpc>
                          <a:spcPct val="150000"/>
                        </a:lnSpc>
                        <a:spcBef>
                          <a:spcPts val="0"/>
                        </a:spcBef>
                        <a:spcAft>
                          <a:spcPts val="0"/>
                        </a:spcAft>
                      </a:pPr>
                      <a:r>
                        <a:rPr lang="en-US" sz="1800" dirty="0">
                          <a:effectLst/>
                          <a:latin typeface="Times New Roman" panose="02020603050405020304" pitchFamily="18" charset="0"/>
                          <a:ea typeface="SimSun" panose="02010600030101010101" pitchFamily="2" charset="-122"/>
                          <a:cs typeface="Times New Roman" panose="02020603050405020304" pitchFamily="18" charset="0"/>
                        </a:rPr>
                        <a:t>Findings</a:t>
                      </a:r>
                    </a:p>
                  </a:txBody>
                  <a:tcPr marL="48841" marR="48841" marT="0" marB="0"/>
                </a:tc>
                <a:extLst>
                  <a:ext uri="{0D108BD9-81ED-4DB2-BD59-A6C34878D82A}">
                    <a16:rowId xmlns:a16="http://schemas.microsoft.com/office/drawing/2014/main" val="3999670964"/>
                  </a:ext>
                </a:extLst>
              </a:tr>
              <a:tr h="2346649">
                <a:tc>
                  <a:txBody>
                    <a:bodyPr/>
                    <a:lstStyle/>
                    <a:p>
                      <a:pPr marL="0" marR="0" indent="0" algn="just">
                        <a:spcBef>
                          <a:spcPts val="0"/>
                        </a:spcBef>
                        <a:spcAft>
                          <a:spcPts val="0"/>
                        </a:spcAft>
                      </a:pPr>
                      <a:r>
                        <a:rPr lang="en-AU" sz="1800" dirty="0">
                          <a:effectLst/>
                          <a:latin typeface="Times New Roman" panose="02020603050405020304" pitchFamily="18" charset="0"/>
                          <a:cs typeface="Times New Roman" panose="02020603050405020304" pitchFamily="18" charset="0"/>
                        </a:rPr>
                        <a:t>[3]</a:t>
                      </a:r>
                      <a:endParaRPr lang="en-US" sz="18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48841" marR="48841" marT="0" marB="0"/>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1800" b="0" dirty="0">
                          <a:latin typeface="Times New Roman" panose="02020603050405020304" pitchFamily="18" charset="0"/>
                          <a:cs typeface="Times New Roman" panose="02020603050405020304" pitchFamily="18" charset="0"/>
                        </a:rPr>
                        <a:t>AI-driven global talent prediction: Anticipating international graduate admissions </a:t>
                      </a:r>
                    </a:p>
                    <a:p>
                      <a:pPr marL="0" marR="0" indent="0" algn="just">
                        <a:spcBef>
                          <a:spcPts val="0"/>
                        </a:spcBef>
                        <a:spcAft>
                          <a:spcPts val="0"/>
                        </a:spcAft>
                      </a:pPr>
                      <a:endParaRPr lang="en-US" sz="18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48841" marR="48841" marT="0" marB="0"/>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1800" b="0" dirty="0">
                          <a:latin typeface="Times New Roman" panose="02020603050405020304" pitchFamily="18" charset="0"/>
                          <a:cs typeface="Times New Roman" panose="02020603050405020304" pitchFamily="18" charset="0"/>
                        </a:rPr>
                        <a:t>Sachin Bhoitea ,Vikas Magar and C. H. Patil </a:t>
                      </a:r>
                      <a:endParaRPr lang="en-IN" sz="1800" b="0" dirty="0">
                        <a:latin typeface="Times New Roman" panose="02020603050405020304" pitchFamily="18" charset="0"/>
                        <a:cs typeface="Times New Roman" panose="02020603050405020304" pitchFamily="18" charset="0"/>
                      </a:endParaRPr>
                    </a:p>
                    <a:p>
                      <a:pPr marL="0" marR="0" indent="0" algn="just">
                        <a:spcBef>
                          <a:spcPts val="0"/>
                        </a:spcBef>
                        <a:spcAft>
                          <a:spcPts val="0"/>
                        </a:spcAft>
                      </a:pPr>
                      <a:endParaRPr lang="en-US" sz="18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48841" marR="48841" marT="0" marB="0"/>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1800" b="0" i="0" kern="1200" dirty="0">
                          <a:solidFill>
                            <a:schemeClr val="tx1"/>
                          </a:solidFill>
                          <a:effectLst/>
                          <a:latin typeface="Times New Roman" panose="02020603050405020304" pitchFamily="18" charset="0"/>
                          <a:ea typeface="+mn-ea"/>
                          <a:cs typeface="Times New Roman" panose="02020603050405020304" pitchFamily="18" charset="0"/>
                        </a:rPr>
                        <a:t>Department of Computer Science and Application, Dr. Vishwanath </a:t>
                      </a:r>
                      <a:r>
                        <a:rPr lang="en-US" sz="1800" b="0" i="0" kern="1200" dirty="0" err="1">
                          <a:solidFill>
                            <a:schemeClr val="tx1"/>
                          </a:solidFill>
                          <a:effectLst/>
                          <a:latin typeface="Times New Roman" panose="02020603050405020304" pitchFamily="18" charset="0"/>
                          <a:ea typeface="+mn-ea"/>
                          <a:cs typeface="Times New Roman" panose="02020603050405020304" pitchFamily="18" charset="0"/>
                        </a:rPr>
                        <a:t>Karad</a:t>
                      </a:r>
                      <a:r>
                        <a:rPr lang="en-US" sz="1800" b="0" i="0" kern="1200" dirty="0">
                          <a:solidFill>
                            <a:schemeClr val="tx1"/>
                          </a:solidFill>
                          <a:effectLst/>
                          <a:latin typeface="Times New Roman" panose="02020603050405020304" pitchFamily="18" charset="0"/>
                          <a:ea typeface="+mn-ea"/>
                          <a:cs typeface="Times New Roman" panose="02020603050405020304" pitchFamily="18" charset="0"/>
                        </a:rPr>
                        <a:t> , MIT World Peace University, Pune, Maharashtra, India</a:t>
                      </a:r>
                      <a:r>
                        <a:rPr lang="en-IN" sz="1800" b="0" i="0" kern="1200" dirty="0">
                          <a:solidFill>
                            <a:schemeClr val="tx1"/>
                          </a:solidFill>
                          <a:effectLst/>
                          <a:latin typeface="Times New Roman" panose="02020603050405020304" pitchFamily="18" charset="0"/>
                          <a:ea typeface="+mn-ea"/>
                          <a:cs typeface="Times New Roman" panose="02020603050405020304" pitchFamily="18" charset="0"/>
                        </a:rPr>
                        <a:t>2024</a:t>
                      </a:r>
                      <a:endParaRPr lang="en-IN" sz="1800" b="0" dirty="0">
                        <a:solidFill>
                          <a:schemeClr val="tx1"/>
                        </a:solidFill>
                        <a:latin typeface="Times New Roman" panose="02020603050405020304" pitchFamily="18" charset="0"/>
                        <a:cs typeface="Times New Roman" panose="02020603050405020304" pitchFamily="18" charset="0"/>
                      </a:endParaRPr>
                    </a:p>
                    <a:p>
                      <a:pPr marL="0" marR="0" indent="0" algn="just">
                        <a:spcBef>
                          <a:spcPts val="0"/>
                        </a:spcBef>
                        <a:spcAft>
                          <a:spcPts val="0"/>
                        </a:spcAft>
                      </a:pPr>
                      <a:endParaRPr lang="en-US" sz="18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48841" marR="48841" marT="0" marB="0"/>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1800" dirty="0">
                          <a:latin typeface="Times New Roman" panose="02020603050405020304" pitchFamily="18" charset="0"/>
                          <a:cs typeface="Times New Roman" panose="02020603050405020304" pitchFamily="18" charset="0"/>
                        </a:rPr>
                        <a:t>The methodology involves applying XG Boost to analyze historical admission data from multiple universities globally, assessing the predictive accuracy of academic backgrounds, standardized test scores, English proficiency, and work experience for international graduate program admissions</a:t>
                      </a:r>
                      <a:r>
                        <a:rPr lang="en-US" sz="1800" b="0" dirty="0">
                          <a:latin typeface="Times New Roman" panose="02020603050405020304" pitchFamily="18" charset="0"/>
                          <a:cs typeface="Times New Roman" panose="02020603050405020304" pitchFamily="18" charset="0"/>
                        </a:rPr>
                        <a:t>.</a:t>
                      </a:r>
                      <a:endParaRPr lang="en-IN" sz="1800" b="0" dirty="0">
                        <a:latin typeface="Times New Roman" panose="02020603050405020304" pitchFamily="18" charset="0"/>
                        <a:cs typeface="Times New Roman" panose="02020603050405020304" pitchFamily="18" charset="0"/>
                      </a:endParaRPr>
                    </a:p>
                    <a:p>
                      <a:pPr marL="0" marR="0" indent="0" algn="just">
                        <a:spcBef>
                          <a:spcPts val="0"/>
                        </a:spcBef>
                        <a:spcAft>
                          <a:spcPts val="0"/>
                        </a:spcAft>
                      </a:pPr>
                      <a:endParaRPr lang="en-US" sz="18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48841" marR="48841" marT="0" marB="0"/>
                </a:tc>
                <a:extLst>
                  <a:ext uri="{0D108BD9-81ED-4DB2-BD59-A6C34878D82A}">
                    <a16:rowId xmlns:a16="http://schemas.microsoft.com/office/drawing/2014/main" val="993270933"/>
                  </a:ext>
                </a:extLst>
              </a:tr>
            </a:tbl>
          </a:graphicData>
        </a:graphic>
      </p:graphicFrame>
      <p:sp>
        <p:nvSpPr>
          <p:cNvPr id="18" name="Date Placeholder 17">
            <a:extLst>
              <a:ext uri="{FF2B5EF4-FFF2-40B4-BE49-F238E27FC236}">
                <a16:creationId xmlns:a16="http://schemas.microsoft.com/office/drawing/2014/main" id="{FC424057-ECFC-76FF-845F-AD29778C0C0C}"/>
              </a:ext>
            </a:extLst>
          </p:cNvPr>
          <p:cNvSpPr>
            <a:spLocks noGrp="1"/>
          </p:cNvSpPr>
          <p:nvPr>
            <p:ph type="dt" sz="half" idx="10"/>
          </p:nvPr>
        </p:nvSpPr>
        <p:spPr/>
        <p:txBody>
          <a:bodyPr/>
          <a:lstStyle/>
          <a:p>
            <a:fld id="{808F7E4D-DF96-4BD7-9FB9-7F1FCC6795EE}" type="datetime1">
              <a:rPr lang="en-US" smtClean="0"/>
              <a:t>10/13/2025</a:t>
            </a:fld>
            <a:endParaRPr lang="en-US"/>
          </a:p>
        </p:txBody>
      </p:sp>
      <p:sp>
        <p:nvSpPr>
          <p:cNvPr id="19" name="Footer Placeholder 18">
            <a:extLst>
              <a:ext uri="{FF2B5EF4-FFF2-40B4-BE49-F238E27FC236}">
                <a16:creationId xmlns:a16="http://schemas.microsoft.com/office/drawing/2014/main" id="{7F37903A-F0A0-6B65-6D5E-0C698A8E4AD6}"/>
              </a:ext>
            </a:extLst>
          </p:cNvPr>
          <p:cNvSpPr>
            <a:spLocks noGrp="1"/>
          </p:cNvSpPr>
          <p:nvPr>
            <p:ph type="ftr" sz="quarter" idx="11"/>
          </p:nvPr>
        </p:nvSpPr>
        <p:spPr/>
        <p:txBody>
          <a:bodyPr/>
          <a:lstStyle/>
          <a:p>
            <a:r>
              <a:rPr lang="en-US" dirty="0"/>
              <a:t>NextGen College Advisor: AI-Powered Guidance for Students</a:t>
            </a:r>
          </a:p>
        </p:txBody>
      </p:sp>
      <p:sp>
        <p:nvSpPr>
          <p:cNvPr id="20" name="Slide Number Placeholder 19">
            <a:extLst>
              <a:ext uri="{FF2B5EF4-FFF2-40B4-BE49-F238E27FC236}">
                <a16:creationId xmlns:a16="http://schemas.microsoft.com/office/drawing/2014/main" id="{C1D5B3F1-62E0-64D3-EB5C-4704DA1821E3}"/>
              </a:ext>
            </a:extLst>
          </p:cNvPr>
          <p:cNvSpPr>
            <a:spLocks noGrp="1"/>
          </p:cNvSpPr>
          <p:nvPr>
            <p:ph type="sldNum" sz="quarter" idx="12"/>
          </p:nvPr>
        </p:nvSpPr>
        <p:spPr/>
        <p:txBody>
          <a:bodyPr/>
          <a:lstStyle/>
          <a:p>
            <a:fld id="{FA11DADA-ACB1-42D7-8648-2A253C2E43B8}" type="slidenum">
              <a:rPr lang="en-US" smtClean="0"/>
              <a:pPr/>
              <a:t>6</a:t>
            </a:fld>
            <a:endParaRPr lang="en-US"/>
          </a:p>
        </p:txBody>
      </p:sp>
    </p:spTree>
    <p:extLst>
      <p:ext uri="{BB962C8B-B14F-4D97-AF65-F5344CB8AC3E}">
        <p14:creationId xmlns:p14="http://schemas.microsoft.com/office/powerpoint/2010/main" val="26395770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45" name="Title 1"/>
          <p:cNvSpPr>
            <a:spLocks noGrp="1"/>
          </p:cNvSpPr>
          <p:nvPr>
            <p:ph type="title"/>
          </p:nvPr>
        </p:nvSpPr>
        <p:spPr>
          <a:xfrm>
            <a:off x="792798" y="150790"/>
            <a:ext cx="10606404" cy="632512"/>
          </a:xfrm>
        </p:spPr>
        <p:txBody>
          <a:bodyPr>
            <a:noAutofit/>
          </a:bodyPr>
          <a:lstStyle/>
          <a:p>
            <a:pPr algn="ctr"/>
            <a:br>
              <a:rPr lang="en-US" sz="3200" dirty="0">
                <a:solidFill>
                  <a:schemeClr val="accent1">
                    <a:lumMod val="50000"/>
                  </a:schemeClr>
                </a:solidFill>
                <a:latin typeface="Times New Roman" panose="02020603050405020304" pitchFamily="18" charset="0"/>
                <a:cs typeface="Times New Roman" panose="02020603050405020304" pitchFamily="18" charset="0"/>
              </a:rPr>
            </a:br>
            <a:r>
              <a:rPr lang="en-US" sz="3200" b="1" dirty="0">
                <a:solidFill>
                  <a:schemeClr val="accent1">
                    <a:lumMod val="50000"/>
                  </a:schemeClr>
                </a:solidFill>
                <a:latin typeface="Times New Roman" panose="02020603050405020304" pitchFamily="18" charset="0"/>
                <a:cs typeface="Times New Roman" panose="02020603050405020304" pitchFamily="18" charset="0"/>
              </a:rPr>
              <a:t>Objectives</a:t>
            </a:r>
            <a:br>
              <a:rPr lang="en-US" sz="3200" b="1" dirty="0">
                <a:solidFill>
                  <a:schemeClr val="accent1">
                    <a:lumMod val="50000"/>
                  </a:schemeClr>
                </a:solidFill>
                <a:latin typeface="Times New Roman" panose="02020603050405020304" pitchFamily="18" charset="0"/>
                <a:cs typeface="Times New Roman" panose="02020603050405020304" pitchFamily="18" charset="0"/>
              </a:rPr>
            </a:br>
            <a:endParaRPr lang="en-US" sz="3200" b="1" dirty="0">
              <a:solidFill>
                <a:schemeClr val="accent1">
                  <a:lumMod val="50000"/>
                </a:schemeClr>
              </a:solidFill>
              <a:latin typeface="Times New Roman" panose="02020603050405020304" pitchFamily="18" charset="0"/>
              <a:cs typeface="Times New Roman" panose="02020603050405020304" pitchFamily="18" charset="0"/>
            </a:endParaRPr>
          </a:p>
        </p:txBody>
      </p:sp>
      <p:sp>
        <p:nvSpPr>
          <p:cNvPr id="7" name="Date Placeholder 6">
            <a:extLst>
              <a:ext uri="{FF2B5EF4-FFF2-40B4-BE49-F238E27FC236}">
                <a16:creationId xmlns:a16="http://schemas.microsoft.com/office/drawing/2014/main" id="{E79B4A00-E7C6-3642-D56C-3072E36D0246}"/>
              </a:ext>
            </a:extLst>
          </p:cNvPr>
          <p:cNvSpPr>
            <a:spLocks noGrp="1"/>
          </p:cNvSpPr>
          <p:nvPr>
            <p:ph type="dt" sz="half" idx="10"/>
          </p:nvPr>
        </p:nvSpPr>
        <p:spPr/>
        <p:txBody>
          <a:bodyPr/>
          <a:lstStyle/>
          <a:p>
            <a:fld id="{DD34B85F-CE80-4CFB-A45D-76E8E58ACF5F}" type="datetime1">
              <a:rPr lang="en-US" smtClean="0"/>
              <a:t>10/13/2025</a:t>
            </a:fld>
            <a:endParaRPr lang="en-US"/>
          </a:p>
        </p:txBody>
      </p:sp>
      <p:sp>
        <p:nvSpPr>
          <p:cNvPr id="8" name="Footer Placeholder 7">
            <a:extLst>
              <a:ext uri="{FF2B5EF4-FFF2-40B4-BE49-F238E27FC236}">
                <a16:creationId xmlns:a16="http://schemas.microsoft.com/office/drawing/2014/main" id="{F899769C-DEA9-89F3-B1F6-642FCB81983C}"/>
              </a:ext>
            </a:extLst>
          </p:cNvPr>
          <p:cNvSpPr>
            <a:spLocks noGrp="1"/>
          </p:cNvSpPr>
          <p:nvPr>
            <p:ph type="ftr" sz="quarter" idx="11"/>
          </p:nvPr>
        </p:nvSpPr>
        <p:spPr/>
        <p:txBody>
          <a:bodyPr/>
          <a:lstStyle/>
          <a:p>
            <a:r>
              <a:rPr lang="en-US"/>
              <a:t>NextGen College Advisor: AI-Powered Guidance for Students</a:t>
            </a:r>
          </a:p>
        </p:txBody>
      </p:sp>
      <p:sp>
        <p:nvSpPr>
          <p:cNvPr id="9" name="Slide Number Placeholder 8">
            <a:extLst>
              <a:ext uri="{FF2B5EF4-FFF2-40B4-BE49-F238E27FC236}">
                <a16:creationId xmlns:a16="http://schemas.microsoft.com/office/drawing/2014/main" id="{133000C8-48D8-9143-86DF-699B7164A8C5}"/>
              </a:ext>
            </a:extLst>
          </p:cNvPr>
          <p:cNvSpPr>
            <a:spLocks noGrp="1"/>
          </p:cNvSpPr>
          <p:nvPr>
            <p:ph type="sldNum" sz="quarter" idx="12"/>
          </p:nvPr>
        </p:nvSpPr>
        <p:spPr/>
        <p:txBody>
          <a:bodyPr/>
          <a:lstStyle/>
          <a:p>
            <a:fld id="{FA11DADA-ACB1-42D7-8648-2A253C2E43B8}" type="slidenum">
              <a:rPr lang="en-US" smtClean="0"/>
              <a:pPr/>
              <a:t>7</a:t>
            </a:fld>
            <a:endParaRPr lang="en-US" dirty="0"/>
          </a:p>
        </p:txBody>
      </p:sp>
      <p:sp>
        <p:nvSpPr>
          <p:cNvPr id="3" name="Content Placeholder 2">
            <a:extLst>
              <a:ext uri="{FF2B5EF4-FFF2-40B4-BE49-F238E27FC236}">
                <a16:creationId xmlns:a16="http://schemas.microsoft.com/office/drawing/2014/main" id="{EB221AB9-CD79-4F87-8D95-131D98837E61}"/>
              </a:ext>
            </a:extLst>
          </p:cNvPr>
          <p:cNvSpPr>
            <a:spLocks noGrp="1" noChangeArrowheads="1"/>
          </p:cNvSpPr>
          <p:nvPr>
            <p:ph idx="1"/>
          </p:nvPr>
        </p:nvSpPr>
        <p:spPr bwMode="auto">
          <a:xfrm>
            <a:off x="1016336" y="1103966"/>
            <a:ext cx="10485382" cy="26001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
              <a:tabLst/>
            </a:pP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provide students with accurate guidance in choosing the right engineering college.</a:t>
            </a: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
              <a:tabLst/>
            </a:pP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predict student’s chances of admission into engineering colleges.</a:t>
            </a:r>
          </a:p>
          <a:p>
            <a:pPr marR="0" lvl="0" algn="l" defTabSz="914400" rtl="0" eaLnBrk="0" fontAlgn="base" latinLnBrk="0" hangingPunct="0">
              <a:lnSpc>
                <a:spcPct val="150000"/>
              </a:lnSpc>
              <a:spcBef>
                <a:spcPct val="0"/>
              </a:spcBef>
              <a:spcAft>
                <a:spcPct val="0"/>
              </a:spcAft>
              <a:buClrTx/>
              <a:buSzTx/>
              <a:buFont typeface="Wingdings" panose="05000000000000000000" pitchFamily="2" charset="2"/>
              <a:buChar char="§"/>
              <a:tabLst/>
            </a:pP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a:t>
            </a:r>
            <a:r>
              <a:rPr lang="en-US" altLang="en-US" dirty="0">
                <a:latin typeface="Times New Roman" panose="02020603050405020304" pitchFamily="18" charset="0"/>
                <a:cs typeface="Times New Roman" panose="02020603050405020304" pitchFamily="18" charset="0"/>
              </a:rPr>
              <a:t>increase</a:t>
            </a:r>
            <a:r>
              <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time efficiency in the college selection process. </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60" name="Title 1"/>
          <p:cNvSpPr>
            <a:spLocks noGrp="1"/>
          </p:cNvSpPr>
          <p:nvPr>
            <p:ph type="title"/>
          </p:nvPr>
        </p:nvSpPr>
        <p:spPr>
          <a:xfrm>
            <a:off x="792797" y="180344"/>
            <a:ext cx="10606404" cy="632512"/>
          </a:xfrm>
        </p:spPr>
        <p:txBody>
          <a:bodyPr>
            <a:normAutofit fontScale="90000"/>
          </a:bodyPr>
          <a:lstStyle/>
          <a:p>
            <a:pPr algn="ctr"/>
            <a:br>
              <a:rPr lang="en-US" sz="3200" dirty="0">
                <a:solidFill>
                  <a:schemeClr val="accent1">
                    <a:lumMod val="50000"/>
                  </a:schemeClr>
                </a:solidFill>
                <a:latin typeface="Times New Roman" panose="02020603050405020304" pitchFamily="18" charset="0"/>
                <a:cs typeface="Times New Roman" panose="02020603050405020304" pitchFamily="18" charset="0"/>
              </a:rPr>
            </a:br>
            <a:r>
              <a:rPr lang="en-US" sz="3600" b="1" dirty="0">
                <a:solidFill>
                  <a:schemeClr val="accent1">
                    <a:lumMod val="50000"/>
                  </a:schemeClr>
                </a:solidFill>
                <a:latin typeface="Times New Roman" panose="02020603050405020304" pitchFamily="18" charset="0"/>
                <a:cs typeface="Times New Roman" panose="02020603050405020304" pitchFamily="18" charset="0"/>
              </a:rPr>
              <a:t>Problem Statement </a:t>
            </a:r>
            <a:br>
              <a:rPr lang="en-US" sz="3200" dirty="0">
                <a:solidFill>
                  <a:schemeClr val="accent1">
                    <a:lumMod val="50000"/>
                  </a:schemeClr>
                </a:solidFill>
                <a:latin typeface="Times New Roman" panose="02020603050405020304" pitchFamily="18" charset="0"/>
                <a:cs typeface="Times New Roman" panose="02020603050405020304" pitchFamily="18" charset="0"/>
              </a:rPr>
            </a:br>
            <a:endParaRPr lang="en-US" sz="3200" dirty="0">
              <a:solidFill>
                <a:schemeClr val="accent1">
                  <a:lumMod val="50000"/>
                </a:schemeClr>
              </a:solidFill>
              <a:latin typeface="Times New Roman" panose="02020603050405020304" pitchFamily="18" charset="0"/>
              <a:cs typeface="Times New Roman" panose="02020603050405020304" pitchFamily="18" charset="0"/>
            </a:endParaRPr>
          </a:p>
        </p:txBody>
      </p:sp>
      <p:sp>
        <p:nvSpPr>
          <p:cNvPr id="7" name="Date Placeholder 6">
            <a:extLst>
              <a:ext uri="{FF2B5EF4-FFF2-40B4-BE49-F238E27FC236}">
                <a16:creationId xmlns:a16="http://schemas.microsoft.com/office/drawing/2014/main" id="{2890D678-229C-297B-DEA4-70340655A7F1}"/>
              </a:ext>
            </a:extLst>
          </p:cNvPr>
          <p:cNvSpPr>
            <a:spLocks noGrp="1"/>
          </p:cNvSpPr>
          <p:nvPr>
            <p:ph type="dt" sz="half" idx="10"/>
          </p:nvPr>
        </p:nvSpPr>
        <p:spPr/>
        <p:txBody>
          <a:bodyPr/>
          <a:lstStyle/>
          <a:p>
            <a:fld id="{566AAA86-546D-4B40-BB83-6699301ED5A7}" type="datetime1">
              <a:rPr lang="en-US" smtClean="0"/>
              <a:t>10/13/2025</a:t>
            </a:fld>
            <a:endParaRPr lang="en-US"/>
          </a:p>
        </p:txBody>
      </p:sp>
      <p:sp>
        <p:nvSpPr>
          <p:cNvPr id="8" name="Footer Placeholder 7">
            <a:extLst>
              <a:ext uri="{FF2B5EF4-FFF2-40B4-BE49-F238E27FC236}">
                <a16:creationId xmlns:a16="http://schemas.microsoft.com/office/drawing/2014/main" id="{B009A702-5CB6-36CC-90B5-F36C71D60B46}"/>
              </a:ext>
            </a:extLst>
          </p:cNvPr>
          <p:cNvSpPr>
            <a:spLocks noGrp="1"/>
          </p:cNvSpPr>
          <p:nvPr>
            <p:ph type="ftr" sz="quarter" idx="11"/>
          </p:nvPr>
        </p:nvSpPr>
        <p:spPr/>
        <p:txBody>
          <a:bodyPr/>
          <a:lstStyle/>
          <a:p>
            <a:r>
              <a:rPr lang="en-US"/>
              <a:t>NextGen College Advisor: AI-Powered Guidance for Students</a:t>
            </a:r>
          </a:p>
        </p:txBody>
      </p:sp>
      <p:sp>
        <p:nvSpPr>
          <p:cNvPr id="9" name="Slide Number Placeholder 8">
            <a:extLst>
              <a:ext uri="{FF2B5EF4-FFF2-40B4-BE49-F238E27FC236}">
                <a16:creationId xmlns:a16="http://schemas.microsoft.com/office/drawing/2014/main" id="{8EFF351D-5627-D193-A7EE-472AA1E47A69}"/>
              </a:ext>
            </a:extLst>
          </p:cNvPr>
          <p:cNvSpPr>
            <a:spLocks noGrp="1"/>
          </p:cNvSpPr>
          <p:nvPr>
            <p:ph type="sldNum" sz="quarter" idx="12"/>
          </p:nvPr>
        </p:nvSpPr>
        <p:spPr/>
        <p:txBody>
          <a:bodyPr/>
          <a:lstStyle/>
          <a:p>
            <a:fld id="{FA11DADA-ACB1-42D7-8648-2A253C2E43B8}" type="slidenum">
              <a:rPr lang="en-US" smtClean="0"/>
              <a:pPr/>
              <a:t>8</a:t>
            </a:fld>
            <a:endParaRPr lang="en-US"/>
          </a:p>
        </p:txBody>
      </p:sp>
      <p:sp>
        <p:nvSpPr>
          <p:cNvPr id="3" name="TextBox 2">
            <a:extLst>
              <a:ext uri="{FF2B5EF4-FFF2-40B4-BE49-F238E27FC236}">
                <a16:creationId xmlns:a16="http://schemas.microsoft.com/office/drawing/2014/main" id="{05A15744-EA89-472B-BC91-D90CE00EBA63}"/>
              </a:ext>
            </a:extLst>
          </p:cNvPr>
          <p:cNvSpPr txBox="1"/>
          <p:nvPr/>
        </p:nvSpPr>
        <p:spPr>
          <a:xfrm>
            <a:off x="1290917" y="1017511"/>
            <a:ext cx="9610165" cy="1133965"/>
          </a:xfrm>
          <a:prstGeom prst="rect">
            <a:avLst/>
          </a:prstGeom>
          <a:noFill/>
        </p:spPr>
        <p:txBody>
          <a:bodyPr wrap="square" rtlCol="0">
            <a:spAutoFit/>
          </a:bodyPr>
          <a:lstStyle/>
          <a:p>
            <a:pPr marL="285750" indent="-285750" algn="just">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To Design and develop an AI-driven platform to predict students   engineering college admission chances using Linear Regression method.</a:t>
            </a:r>
            <a:endParaRPr lang="en-IN"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55F95B2-AEC3-4473-8BEC-533438F1E679}"/>
              </a:ext>
            </a:extLst>
          </p:cNvPr>
          <p:cNvSpPr>
            <a:spLocks noGrp="1"/>
          </p:cNvSpPr>
          <p:nvPr>
            <p:ph type="dt" sz="half" idx="10"/>
          </p:nvPr>
        </p:nvSpPr>
        <p:spPr/>
        <p:txBody>
          <a:bodyPr/>
          <a:lstStyle/>
          <a:p>
            <a:fld id="{273920F3-E9EE-4606-B483-2A8FAA3529CA}" type="datetime1">
              <a:rPr lang="en-US" smtClean="0"/>
              <a:t>10/13/2025</a:t>
            </a:fld>
            <a:endParaRPr lang="en-US"/>
          </a:p>
        </p:txBody>
      </p:sp>
      <p:sp>
        <p:nvSpPr>
          <p:cNvPr id="3" name="Footer Placeholder 2">
            <a:extLst>
              <a:ext uri="{FF2B5EF4-FFF2-40B4-BE49-F238E27FC236}">
                <a16:creationId xmlns:a16="http://schemas.microsoft.com/office/drawing/2014/main" id="{3E236184-95BC-4CF6-BA8D-B415BD04CF79}"/>
              </a:ext>
            </a:extLst>
          </p:cNvPr>
          <p:cNvSpPr>
            <a:spLocks noGrp="1"/>
          </p:cNvSpPr>
          <p:nvPr>
            <p:ph type="ftr" sz="quarter" idx="11"/>
          </p:nvPr>
        </p:nvSpPr>
        <p:spPr/>
        <p:txBody>
          <a:bodyPr/>
          <a:lstStyle/>
          <a:p>
            <a:r>
              <a:rPr lang="en-US"/>
              <a:t>NextGen College Advisor: AI-Powered Guidance for Students</a:t>
            </a:r>
          </a:p>
        </p:txBody>
      </p:sp>
      <p:sp>
        <p:nvSpPr>
          <p:cNvPr id="4" name="Slide Number Placeholder 3">
            <a:extLst>
              <a:ext uri="{FF2B5EF4-FFF2-40B4-BE49-F238E27FC236}">
                <a16:creationId xmlns:a16="http://schemas.microsoft.com/office/drawing/2014/main" id="{AA8CA932-DBF7-4C22-8DC1-9440C8C4E52B}"/>
              </a:ext>
            </a:extLst>
          </p:cNvPr>
          <p:cNvSpPr>
            <a:spLocks noGrp="1"/>
          </p:cNvSpPr>
          <p:nvPr>
            <p:ph type="sldNum" sz="quarter" idx="12"/>
          </p:nvPr>
        </p:nvSpPr>
        <p:spPr/>
        <p:txBody>
          <a:bodyPr/>
          <a:lstStyle/>
          <a:p>
            <a:fld id="{FA11DADA-ACB1-42D7-8648-2A253C2E43B8}" type="slidenum">
              <a:rPr lang="en-US" smtClean="0"/>
              <a:pPr/>
              <a:t>9</a:t>
            </a:fld>
            <a:endParaRPr lang="en-US"/>
          </a:p>
        </p:txBody>
      </p:sp>
      <p:sp>
        <p:nvSpPr>
          <p:cNvPr id="7" name="TextBox 6">
            <a:extLst>
              <a:ext uri="{FF2B5EF4-FFF2-40B4-BE49-F238E27FC236}">
                <a16:creationId xmlns:a16="http://schemas.microsoft.com/office/drawing/2014/main" id="{9E10886B-7023-4F8C-9D93-6886D0EA2CA5}"/>
              </a:ext>
            </a:extLst>
          </p:cNvPr>
          <p:cNvSpPr txBox="1"/>
          <p:nvPr/>
        </p:nvSpPr>
        <p:spPr>
          <a:xfrm>
            <a:off x="2698374" y="136525"/>
            <a:ext cx="6795247" cy="584775"/>
          </a:xfrm>
          <a:prstGeom prst="rect">
            <a:avLst/>
          </a:prstGeom>
          <a:noFill/>
        </p:spPr>
        <p:txBody>
          <a:bodyPr wrap="square" rtlCol="0">
            <a:spAutoFit/>
          </a:bodyPr>
          <a:lstStyle/>
          <a:p>
            <a:r>
              <a:rPr lang="en-US" sz="3200" b="1" dirty="0">
                <a:solidFill>
                  <a:schemeClr val="accent1">
                    <a:lumMod val="50000"/>
                  </a:schemeClr>
                </a:solidFill>
                <a:latin typeface="Times New Roman" panose="02020603050405020304" pitchFamily="18" charset="0"/>
                <a:cs typeface="Times New Roman" panose="02020603050405020304" pitchFamily="18" charset="0"/>
              </a:rPr>
              <a:t>Existing Systems vs Proposed Systems</a:t>
            </a:r>
            <a:endParaRPr lang="en-IN" sz="3200" b="1" dirty="0">
              <a:solidFill>
                <a:schemeClr val="accent1">
                  <a:lumMod val="50000"/>
                </a:schemeClr>
              </a:solidFill>
              <a:latin typeface="Times New Roman" panose="02020603050405020304" pitchFamily="18" charset="0"/>
              <a:cs typeface="Times New Roman" panose="02020603050405020304" pitchFamily="18" charset="0"/>
            </a:endParaRPr>
          </a:p>
        </p:txBody>
      </p:sp>
      <p:graphicFrame>
        <p:nvGraphicFramePr>
          <p:cNvPr id="11" name="Table 11">
            <a:extLst>
              <a:ext uri="{FF2B5EF4-FFF2-40B4-BE49-F238E27FC236}">
                <a16:creationId xmlns:a16="http://schemas.microsoft.com/office/drawing/2014/main" id="{DBA3D46C-F3D1-4D3C-927D-1ADBEA6449C5}"/>
              </a:ext>
            </a:extLst>
          </p:cNvPr>
          <p:cNvGraphicFramePr>
            <a:graphicFrameLocks noGrp="1"/>
          </p:cNvGraphicFramePr>
          <p:nvPr>
            <p:extLst>
              <p:ext uri="{D42A27DB-BD31-4B8C-83A1-F6EECF244321}">
                <p14:modId xmlns:p14="http://schemas.microsoft.com/office/powerpoint/2010/main" val="2300449293"/>
              </p:ext>
            </p:extLst>
          </p:nvPr>
        </p:nvGraphicFramePr>
        <p:xfrm>
          <a:off x="959222" y="1084585"/>
          <a:ext cx="10273553" cy="3972084"/>
        </p:xfrm>
        <a:graphic>
          <a:graphicData uri="http://schemas.openxmlformats.org/drawingml/2006/table">
            <a:tbl>
              <a:tblPr firstRow="1" bandRow="1">
                <a:tableStyleId>{5940675A-B579-460E-94D1-54222C63F5DA}</a:tableStyleId>
              </a:tblPr>
              <a:tblGrid>
                <a:gridCol w="2965571">
                  <a:extLst>
                    <a:ext uri="{9D8B030D-6E8A-4147-A177-3AD203B41FA5}">
                      <a16:colId xmlns:a16="http://schemas.microsoft.com/office/drawing/2014/main" val="4117357778"/>
                    </a:ext>
                  </a:extLst>
                </a:gridCol>
                <a:gridCol w="3695205">
                  <a:extLst>
                    <a:ext uri="{9D8B030D-6E8A-4147-A177-3AD203B41FA5}">
                      <a16:colId xmlns:a16="http://schemas.microsoft.com/office/drawing/2014/main" val="2611392389"/>
                    </a:ext>
                  </a:extLst>
                </a:gridCol>
                <a:gridCol w="3612777">
                  <a:extLst>
                    <a:ext uri="{9D8B030D-6E8A-4147-A177-3AD203B41FA5}">
                      <a16:colId xmlns:a16="http://schemas.microsoft.com/office/drawing/2014/main" val="1294493293"/>
                    </a:ext>
                  </a:extLst>
                </a:gridCol>
              </a:tblGrid>
              <a:tr h="508123">
                <a:tc>
                  <a:txBody>
                    <a:bodyPr/>
                    <a:lstStyle/>
                    <a:p>
                      <a:pPr algn="ctr">
                        <a:lnSpc>
                          <a:spcPct val="150000"/>
                        </a:lnSpc>
                      </a:pPr>
                      <a:r>
                        <a:rPr lang="en-US" sz="2800" dirty="0">
                          <a:latin typeface="Times New Roman" panose="02020603050405020304" pitchFamily="18" charset="0"/>
                          <a:cs typeface="Times New Roman" panose="02020603050405020304" pitchFamily="18" charset="0"/>
                        </a:rPr>
                        <a:t>Parameter</a:t>
                      </a:r>
                      <a:endParaRPr lang="en-IN" sz="2800" dirty="0">
                        <a:latin typeface="Times New Roman" panose="02020603050405020304" pitchFamily="18" charset="0"/>
                        <a:cs typeface="Times New Roman" panose="02020603050405020304" pitchFamily="18" charset="0"/>
                      </a:endParaRPr>
                    </a:p>
                  </a:txBody>
                  <a:tcPr/>
                </a:tc>
                <a:tc>
                  <a:txBody>
                    <a:bodyPr/>
                    <a:lstStyle/>
                    <a:p>
                      <a:pPr algn="ctr">
                        <a:lnSpc>
                          <a:spcPct val="150000"/>
                        </a:lnSpc>
                      </a:pPr>
                      <a:r>
                        <a:rPr lang="en-US" sz="2800" dirty="0">
                          <a:latin typeface="Times New Roman" panose="02020603050405020304" pitchFamily="18" charset="0"/>
                          <a:cs typeface="Times New Roman" panose="02020603050405020304" pitchFamily="18" charset="0"/>
                        </a:rPr>
                        <a:t>Existing Systems</a:t>
                      </a:r>
                      <a:endParaRPr lang="en-IN" sz="2800" dirty="0">
                        <a:latin typeface="Times New Roman" panose="02020603050405020304" pitchFamily="18" charset="0"/>
                        <a:cs typeface="Times New Roman" panose="02020603050405020304" pitchFamily="18" charset="0"/>
                      </a:endParaRPr>
                    </a:p>
                  </a:txBody>
                  <a:tcPr/>
                </a:tc>
                <a:tc>
                  <a:txBody>
                    <a:bodyPr/>
                    <a:lstStyle/>
                    <a:p>
                      <a:pPr algn="ctr">
                        <a:lnSpc>
                          <a:spcPct val="150000"/>
                        </a:lnSpc>
                      </a:pPr>
                      <a:r>
                        <a:rPr lang="en-US" sz="2800" dirty="0">
                          <a:latin typeface="Times New Roman" panose="02020603050405020304" pitchFamily="18" charset="0"/>
                          <a:cs typeface="Times New Roman" panose="02020603050405020304" pitchFamily="18" charset="0"/>
                        </a:rPr>
                        <a:t>Proposed Systems</a:t>
                      </a:r>
                      <a:endParaRPr lang="en-IN" sz="28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157766450"/>
                  </a:ext>
                </a:extLst>
              </a:tr>
              <a:tr h="734034">
                <a:tc>
                  <a:txBody>
                    <a:bodyPr/>
                    <a:lstStyle/>
                    <a:p>
                      <a:pPr algn="ctr">
                        <a:lnSpc>
                          <a:spcPct val="150000"/>
                        </a:lnSpc>
                      </a:pPr>
                      <a:r>
                        <a:rPr lang="en-IN" b="0" dirty="0">
                          <a:latin typeface="Times New Roman" panose="02020603050405020304" pitchFamily="18" charset="0"/>
                          <a:cs typeface="Times New Roman" panose="02020603050405020304" pitchFamily="18" charset="0"/>
                        </a:rPr>
                        <a:t>User Effort</a:t>
                      </a:r>
                    </a:p>
                  </a:txBody>
                  <a:tcPr anchor="ctr"/>
                </a:tc>
                <a:tc>
                  <a:txBody>
                    <a:bodyPr/>
                    <a:lstStyle/>
                    <a:p>
                      <a:pPr algn="ctr">
                        <a:lnSpc>
                          <a:spcPct val="150000"/>
                        </a:lnSpc>
                      </a:pPr>
                      <a:r>
                        <a:rPr lang="en-US">
                          <a:latin typeface="Times New Roman" panose="02020603050405020304" pitchFamily="18" charset="0"/>
                          <a:cs typeface="Times New Roman" panose="02020603050405020304" pitchFamily="18" charset="0"/>
                        </a:rPr>
                        <a:t>High, users need to do a lot of work themselves</a:t>
                      </a:r>
                    </a:p>
                  </a:txBody>
                  <a:tcPr anchor="ctr"/>
                </a:tc>
                <a:tc>
                  <a:txBody>
                    <a:bodyPr/>
                    <a:lstStyle/>
                    <a:p>
                      <a:pPr algn="ctr">
                        <a:lnSpc>
                          <a:spcPct val="150000"/>
                        </a:lnSpc>
                      </a:pPr>
                      <a:r>
                        <a:rPr lang="en-US" dirty="0">
                          <a:latin typeface="Times New Roman" panose="02020603050405020304" pitchFamily="18" charset="0"/>
                          <a:cs typeface="Times New Roman" panose="02020603050405020304" pitchFamily="18" charset="0"/>
                        </a:rPr>
                        <a:t>Low, the system does most of the work automatically</a:t>
                      </a:r>
                    </a:p>
                  </a:txBody>
                  <a:tcPr anchor="ctr"/>
                </a:tc>
                <a:extLst>
                  <a:ext uri="{0D108BD9-81ED-4DB2-BD59-A6C34878D82A}">
                    <a16:rowId xmlns:a16="http://schemas.microsoft.com/office/drawing/2014/main" val="3151690139"/>
                  </a:ext>
                </a:extLst>
              </a:tr>
              <a:tr h="684472">
                <a:tc>
                  <a:txBody>
                    <a:bodyPr/>
                    <a:lstStyle/>
                    <a:p>
                      <a:pPr algn="ctr">
                        <a:lnSpc>
                          <a:spcPct val="150000"/>
                        </a:lnSpc>
                      </a:pPr>
                      <a:r>
                        <a:rPr lang="en-IN" b="0" dirty="0">
                          <a:latin typeface="Times New Roman" panose="02020603050405020304" pitchFamily="18" charset="0"/>
                          <a:cs typeface="Times New Roman" panose="02020603050405020304" pitchFamily="18" charset="0"/>
                        </a:rPr>
                        <a:t>Time Efficiency</a:t>
                      </a:r>
                    </a:p>
                  </a:txBody>
                  <a:tcPr anchor="ctr"/>
                </a:tc>
                <a:tc>
                  <a:txBody>
                    <a:bodyPr/>
                    <a:lstStyle/>
                    <a:p>
                      <a:pPr algn="ctr">
                        <a:lnSpc>
                          <a:spcPct val="150000"/>
                        </a:lnSpc>
                      </a:pPr>
                      <a:r>
                        <a:rPr lang="en-IN" dirty="0">
                          <a:latin typeface="Times New Roman" panose="02020603050405020304" pitchFamily="18" charset="0"/>
                          <a:cs typeface="Times New Roman" panose="02020603050405020304" pitchFamily="18" charset="0"/>
                        </a:rPr>
                        <a:t>Manual, time-consuming processes</a:t>
                      </a:r>
                    </a:p>
                  </a:txBody>
                  <a:tcPr anchor="ctr"/>
                </a:tc>
                <a:tc>
                  <a:txBody>
                    <a:bodyPr/>
                    <a:lstStyle/>
                    <a:p>
                      <a:pPr algn="ctr">
                        <a:lnSpc>
                          <a:spcPct val="150000"/>
                        </a:lnSpc>
                      </a:pPr>
                      <a:r>
                        <a:rPr lang="en-IN" dirty="0">
                          <a:latin typeface="Times New Roman" panose="02020603050405020304" pitchFamily="18" charset="0"/>
                          <a:cs typeface="Times New Roman" panose="02020603050405020304" pitchFamily="18" charset="0"/>
                        </a:rPr>
                        <a:t>Faster, automated processes</a:t>
                      </a:r>
                    </a:p>
                  </a:txBody>
                  <a:tcPr anchor="ctr"/>
                </a:tc>
                <a:extLst>
                  <a:ext uri="{0D108BD9-81ED-4DB2-BD59-A6C34878D82A}">
                    <a16:rowId xmlns:a16="http://schemas.microsoft.com/office/drawing/2014/main" val="4096749971"/>
                  </a:ext>
                </a:extLst>
              </a:tr>
              <a:tr h="0">
                <a:tc>
                  <a:txBody>
                    <a:bodyPr/>
                    <a:lstStyle/>
                    <a:p>
                      <a:pPr algn="ctr">
                        <a:lnSpc>
                          <a:spcPct val="150000"/>
                        </a:lnSpc>
                      </a:pPr>
                      <a:r>
                        <a:rPr lang="en-IN" b="0" dirty="0">
                          <a:latin typeface="Times New Roman" panose="02020603050405020304" pitchFamily="18" charset="0"/>
                          <a:cs typeface="Times New Roman" panose="02020603050405020304" pitchFamily="18" charset="0"/>
                        </a:rPr>
                        <a:t>Prediction</a:t>
                      </a:r>
                    </a:p>
                  </a:txBody>
                  <a:tcPr anchor="ctr"/>
                </a:tc>
                <a:tc>
                  <a:txBody>
                    <a:bodyPr/>
                    <a:lstStyle/>
                    <a:p>
                      <a:pPr algn="ctr">
                        <a:lnSpc>
                          <a:spcPct val="150000"/>
                        </a:lnSpc>
                      </a:pPr>
                      <a:r>
                        <a:rPr lang="en-US" dirty="0">
                          <a:latin typeface="Times New Roman" panose="02020603050405020304" pitchFamily="18" charset="0"/>
                          <a:cs typeface="Times New Roman" panose="02020603050405020304" pitchFamily="18" charset="0"/>
                        </a:rPr>
                        <a:t>Uses multiple algorithms like Decision Trees and Naive Bayesian</a:t>
                      </a:r>
                    </a:p>
                  </a:txBody>
                  <a:tcPr anchor="ctr"/>
                </a:tc>
                <a:tc>
                  <a:txBody>
                    <a:bodyPr/>
                    <a:lstStyle/>
                    <a:p>
                      <a:pPr algn="ctr">
                        <a:lnSpc>
                          <a:spcPct val="150000"/>
                        </a:lnSpc>
                      </a:pPr>
                      <a:r>
                        <a:rPr lang="en-US" dirty="0">
                          <a:latin typeface="Times New Roman" panose="02020603050405020304" pitchFamily="18" charset="0"/>
                          <a:cs typeface="Times New Roman" panose="02020603050405020304" pitchFamily="18" charset="0"/>
                        </a:rPr>
                        <a:t>Simplified by using Linear Regression for predictions</a:t>
                      </a:r>
                    </a:p>
                  </a:txBody>
                  <a:tcPr anchor="ctr"/>
                </a:tc>
                <a:extLst>
                  <a:ext uri="{0D108BD9-81ED-4DB2-BD59-A6C34878D82A}">
                    <a16:rowId xmlns:a16="http://schemas.microsoft.com/office/drawing/2014/main" val="3661818178"/>
                  </a:ext>
                </a:extLst>
              </a:tr>
              <a:tr h="902552">
                <a:tc>
                  <a:txBody>
                    <a:bodyPr/>
                    <a:lstStyle/>
                    <a:p>
                      <a:pPr algn="ctr">
                        <a:lnSpc>
                          <a:spcPct val="150000"/>
                        </a:lnSpc>
                      </a:pPr>
                      <a:r>
                        <a:rPr lang="en-IN" b="0" dirty="0">
                          <a:latin typeface="Times New Roman" panose="02020603050405020304" pitchFamily="18" charset="0"/>
                          <a:cs typeface="Times New Roman" panose="02020603050405020304" pitchFamily="18" charset="0"/>
                        </a:rPr>
                        <a:t>Automation</a:t>
                      </a:r>
                    </a:p>
                  </a:txBody>
                  <a:tcPr anchor="ctr"/>
                </a:tc>
                <a:tc>
                  <a:txBody>
                    <a:bodyPr/>
                    <a:lstStyle/>
                    <a:p>
                      <a:pPr algn="ctr">
                        <a:lnSpc>
                          <a:spcPct val="150000"/>
                        </a:lnSpc>
                      </a:pPr>
                      <a:r>
                        <a:rPr lang="en-US" dirty="0">
                          <a:latin typeface="Times New Roman" panose="02020603050405020304" pitchFamily="18" charset="0"/>
                          <a:cs typeface="Times New Roman" panose="02020603050405020304" pitchFamily="18" charset="0"/>
                        </a:rPr>
                        <a:t>Limited automation, requires a lot of manual work</a:t>
                      </a:r>
                    </a:p>
                  </a:txBody>
                  <a:tcPr anchor="ctr"/>
                </a:tc>
                <a:tc>
                  <a:txBody>
                    <a:bodyPr/>
                    <a:lstStyle/>
                    <a:p>
                      <a:pPr algn="ctr">
                        <a:lnSpc>
                          <a:spcPct val="150000"/>
                        </a:lnSpc>
                      </a:pPr>
                      <a:r>
                        <a:rPr lang="en-US" dirty="0">
                          <a:latin typeface="Times New Roman" panose="02020603050405020304" pitchFamily="18" charset="0"/>
                          <a:cs typeface="Times New Roman" panose="02020603050405020304" pitchFamily="18" charset="0"/>
                        </a:rPr>
                        <a:t>Highly automated, with much less manual effort</a:t>
                      </a:r>
                    </a:p>
                  </a:txBody>
                  <a:tcPr anchor="ctr"/>
                </a:tc>
                <a:extLst>
                  <a:ext uri="{0D108BD9-81ED-4DB2-BD59-A6C34878D82A}">
                    <a16:rowId xmlns:a16="http://schemas.microsoft.com/office/drawing/2014/main" val="2708599934"/>
                  </a:ext>
                </a:extLst>
              </a:tr>
            </a:tbl>
          </a:graphicData>
        </a:graphic>
      </p:graphicFrame>
    </p:spTree>
    <p:extLst>
      <p:ext uri="{BB962C8B-B14F-4D97-AF65-F5344CB8AC3E}">
        <p14:creationId xmlns:p14="http://schemas.microsoft.com/office/powerpoint/2010/main" val="37489780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808BFF-0624-4D78-AD0B-41B83A852B7F}"/>
              </a:ext>
            </a:extLst>
          </p:cNvPr>
          <p:cNvSpPr>
            <a:spLocks noGrp="1"/>
          </p:cNvSpPr>
          <p:nvPr>
            <p:ph type="title"/>
          </p:nvPr>
        </p:nvSpPr>
        <p:spPr>
          <a:xfrm>
            <a:off x="4323229" y="221690"/>
            <a:ext cx="3545541" cy="728569"/>
          </a:xfrm>
        </p:spPr>
        <p:txBody>
          <a:bodyPr>
            <a:normAutofit/>
          </a:bodyPr>
          <a:lstStyle/>
          <a:p>
            <a:pPr algn="ctr"/>
            <a:r>
              <a:rPr lang="en-US" sz="3200" b="1" dirty="0">
                <a:solidFill>
                  <a:schemeClr val="accent1">
                    <a:lumMod val="50000"/>
                  </a:schemeClr>
                </a:solidFill>
                <a:latin typeface="Times New Roman" panose="02020603050405020304" pitchFamily="18" charset="0"/>
                <a:cs typeface="Times New Roman" panose="02020603050405020304" pitchFamily="18" charset="0"/>
              </a:rPr>
              <a:t>Methodology</a:t>
            </a:r>
            <a:endParaRPr lang="en-IN" sz="3200" b="1" dirty="0">
              <a:solidFill>
                <a:schemeClr val="accent1">
                  <a:lumMod val="50000"/>
                </a:schemeClr>
              </a:solidFill>
              <a:latin typeface="Times New Roman" panose="02020603050405020304" pitchFamily="18" charset="0"/>
              <a:cs typeface="Times New Roman" panose="02020603050405020304" pitchFamily="18" charset="0"/>
            </a:endParaRPr>
          </a:p>
        </p:txBody>
      </p:sp>
      <p:sp>
        <p:nvSpPr>
          <p:cNvPr id="3" name="Date Placeholder 2">
            <a:extLst>
              <a:ext uri="{FF2B5EF4-FFF2-40B4-BE49-F238E27FC236}">
                <a16:creationId xmlns:a16="http://schemas.microsoft.com/office/drawing/2014/main" id="{D93E3F60-20A9-414E-96D5-21FF48A141B5}"/>
              </a:ext>
            </a:extLst>
          </p:cNvPr>
          <p:cNvSpPr>
            <a:spLocks noGrp="1"/>
          </p:cNvSpPr>
          <p:nvPr>
            <p:ph type="dt" sz="half" idx="10"/>
          </p:nvPr>
        </p:nvSpPr>
        <p:spPr/>
        <p:txBody>
          <a:bodyPr/>
          <a:lstStyle/>
          <a:p>
            <a:fld id="{C764ADAE-686F-4A2F-B6BD-4BFE10CD29F5}" type="datetime1">
              <a:rPr lang="en-US" smtClean="0"/>
              <a:t>10/13/2025</a:t>
            </a:fld>
            <a:endParaRPr lang="en-US"/>
          </a:p>
        </p:txBody>
      </p:sp>
      <p:sp>
        <p:nvSpPr>
          <p:cNvPr id="4" name="Footer Placeholder 3">
            <a:extLst>
              <a:ext uri="{FF2B5EF4-FFF2-40B4-BE49-F238E27FC236}">
                <a16:creationId xmlns:a16="http://schemas.microsoft.com/office/drawing/2014/main" id="{A83D0040-4486-4189-A56C-8EF08B8C2A14}"/>
              </a:ext>
            </a:extLst>
          </p:cNvPr>
          <p:cNvSpPr>
            <a:spLocks noGrp="1"/>
          </p:cNvSpPr>
          <p:nvPr>
            <p:ph type="ftr" sz="quarter" idx="11"/>
          </p:nvPr>
        </p:nvSpPr>
        <p:spPr/>
        <p:txBody>
          <a:bodyPr/>
          <a:lstStyle/>
          <a:p>
            <a:r>
              <a:rPr lang="en-US"/>
              <a:t>NextGen College Advisor: AI-Powered Guidance for Students</a:t>
            </a:r>
          </a:p>
        </p:txBody>
      </p:sp>
      <p:sp>
        <p:nvSpPr>
          <p:cNvPr id="5" name="Slide Number Placeholder 4">
            <a:extLst>
              <a:ext uri="{FF2B5EF4-FFF2-40B4-BE49-F238E27FC236}">
                <a16:creationId xmlns:a16="http://schemas.microsoft.com/office/drawing/2014/main" id="{0D034F81-61E3-4E3D-9B16-5DC9DFC04944}"/>
              </a:ext>
            </a:extLst>
          </p:cNvPr>
          <p:cNvSpPr>
            <a:spLocks noGrp="1"/>
          </p:cNvSpPr>
          <p:nvPr>
            <p:ph type="sldNum" sz="quarter" idx="12"/>
          </p:nvPr>
        </p:nvSpPr>
        <p:spPr/>
        <p:txBody>
          <a:bodyPr/>
          <a:lstStyle/>
          <a:p>
            <a:fld id="{FA11DADA-ACB1-42D7-8648-2A253C2E43B8}" type="slidenum">
              <a:rPr lang="en-US" smtClean="0"/>
              <a:pPr/>
              <a:t>10</a:t>
            </a:fld>
            <a:endParaRPr lang="en-US"/>
          </a:p>
        </p:txBody>
      </p:sp>
      <p:sp>
        <p:nvSpPr>
          <p:cNvPr id="6" name="TextBox 5">
            <a:extLst>
              <a:ext uri="{FF2B5EF4-FFF2-40B4-BE49-F238E27FC236}">
                <a16:creationId xmlns:a16="http://schemas.microsoft.com/office/drawing/2014/main" id="{52F2FE21-ED50-40BE-8CBD-0DF30A4B4EEA}"/>
              </a:ext>
            </a:extLst>
          </p:cNvPr>
          <p:cNvSpPr txBox="1"/>
          <p:nvPr/>
        </p:nvSpPr>
        <p:spPr>
          <a:xfrm>
            <a:off x="935691" y="1077854"/>
            <a:ext cx="2013641" cy="400110"/>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Block Diagram:</a:t>
            </a:r>
            <a:endParaRPr lang="en-IN" sz="2000" dirty="0">
              <a:latin typeface="Times New Roman" panose="02020603050405020304" pitchFamily="18" charset="0"/>
              <a:cs typeface="Times New Roman" panose="02020603050405020304" pitchFamily="18" charset="0"/>
            </a:endParaRPr>
          </a:p>
        </p:txBody>
      </p:sp>
      <p:sp>
        <p:nvSpPr>
          <p:cNvPr id="9" name="Arrow: Right 8">
            <a:extLst>
              <a:ext uri="{FF2B5EF4-FFF2-40B4-BE49-F238E27FC236}">
                <a16:creationId xmlns:a16="http://schemas.microsoft.com/office/drawing/2014/main" id="{1F8C967F-A03C-4456-B1D3-FFE596ABAE46}"/>
              </a:ext>
            </a:extLst>
          </p:cNvPr>
          <p:cNvSpPr/>
          <p:nvPr/>
        </p:nvSpPr>
        <p:spPr>
          <a:xfrm>
            <a:off x="3235138" y="2320097"/>
            <a:ext cx="1174376" cy="179294"/>
          </a:xfrm>
          <a:prstGeom prst="rightArrow">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IN"/>
          </a:p>
        </p:txBody>
      </p:sp>
      <p:pic>
        <p:nvPicPr>
          <p:cNvPr id="11" name="Picture 10">
            <a:extLst>
              <a:ext uri="{FF2B5EF4-FFF2-40B4-BE49-F238E27FC236}">
                <a16:creationId xmlns:a16="http://schemas.microsoft.com/office/drawing/2014/main" id="{E6B88474-CAAD-4B3E-97A8-3E3A5CB3D05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35691" y="1634408"/>
            <a:ext cx="2201956" cy="1550673"/>
          </a:xfrm>
          <a:prstGeom prst="rect">
            <a:avLst/>
          </a:prstGeom>
        </p:spPr>
      </p:pic>
      <p:pic>
        <p:nvPicPr>
          <p:cNvPr id="17" name="Picture 16">
            <a:extLst>
              <a:ext uri="{FF2B5EF4-FFF2-40B4-BE49-F238E27FC236}">
                <a16:creationId xmlns:a16="http://schemas.microsoft.com/office/drawing/2014/main" id="{3072481F-F984-46EC-B755-D7E5BAB573C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532579" y="1393600"/>
            <a:ext cx="1970395" cy="1939846"/>
          </a:xfrm>
          <a:prstGeom prst="rect">
            <a:avLst/>
          </a:prstGeom>
        </p:spPr>
      </p:pic>
      <p:sp>
        <p:nvSpPr>
          <p:cNvPr id="19" name="Arrow: Right 18">
            <a:extLst>
              <a:ext uri="{FF2B5EF4-FFF2-40B4-BE49-F238E27FC236}">
                <a16:creationId xmlns:a16="http://schemas.microsoft.com/office/drawing/2014/main" id="{7DBDCC8F-95F8-4627-8A94-2FDA7FB9CD6E}"/>
              </a:ext>
            </a:extLst>
          </p:cNvPr>
          <p:cNvSpPr/>
          <p:nvPr/>
        </p:nvSpPr>
        <p:spPr>
          <a:xfrm>
            <a:off x="6737875" y="2273876"/>
            <a:ext cx="1174376" cy="179294"/>
          </a:xfrm>
          <a:prstGeom prst="rightArrow">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IN"/>
          </a:p>
        </p:txBody>
      </p:sp>
      <p:pic>
        <p:nvPicPr>
          <p:cNvPr id="21" name="Picture 20">
            <a:extLst>
              <a:ext uri="{FF2B5EF4-FFF2-40B4-BE49-F238E27FC236}">
                <a16:creationId xmlns:a16="http://schemas.microsoft.com/office/drawing/2014/main" id="{B6C99FCA-F063-4F8E-95DC-3EF3ECD2578E}"/>
              </a:ext>
            </a:extLst>
          </p:cNvPr>
          <p:cNvPicPr>
            <a:picLocks noChangeAspect="1"/>
          </p:cNvPicPr>
          <p:nvPr/>
        </p:nvPicPr>
        <p:blipFill rotWithShape="1">
          <a:blip r:embed="rId4">
            <a:extLst>
              <a:ext uri="{28A0092B-C50C-407E-A947-70E740481C1C}">
                <a14:useLocalDpi xmlns:a14="http://schemas.microsoft.com/office/drawing/2010/main" val="0"/>
              </a:ext>
            </a:extLst>
          </a:blip>
          <a:srcRect t="-3088" b="13305"/>
          <a:stretch/>
        </p:blipFill>
        <p:spPr>
          <a:xfrm>
            <a:off x="9815898" y="1477965"/>
            <a:ext cx="1759691" cy="1613662"/>
          </a:xfrm>
          <a:prstGeom prst="rect">
            <a:avLst/>
          </a:prstGeom>
        </p:spPr>
      </p:pic>
      <p:pic>
        <p:nvPicPr>
          <p:cNvPr id="25" name="Picture 24">
            <a:extLst>
              <a:ext uri="{FF2B5EF4-FFF2-40B4-BE49-F238E27FC236}">
                <a16:creationId xmlns:a16="http://schemas.microsoft.com/office/drawing/2014/main" id="{B76B2DDA-425F-4A8F-B725-CDF986974902}"/>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984229" y="1477964"/>
            <a:ext cx="1759691" cy="1771118"/>
          </a:xfrm>
          <a:prstGeom prst="rect">
            <a:avLst/>
          </a:prstGeom>
        </p:spPr>
      </p:pic>
      <p:sp>
        <p:nvSpPr>
          <p:cNvPr id="28" name="TextBox 27">
            <a:extLst>
              <a:ext uri="{FF2B5EF4-FFF2-40B4-BE49-F238E27FC236}">
                <a16:creationId xmlns:a16="http://schemas.microsoft.com/office/drawing/2014/main" id="{7C6D5B56-2255-4B5F-9A75-8A992A931F93}"/>
              </a:ext>
            </a:extLst>
          </p:cNvPr>
          <p:cNvSpPr txBox="1"/>
          <p:nvPr/>
        </p:nvSpPr>
        <p:spPr>
          <a:xfrm>
            <a:off x="4655644" y="3091627"/>
            <a:ext cx="1970395" cy="276999"/>
          </a:xfrm>
          <a:prstGeom prst="rect">
            <a:avLst/>
          </a:prstGeom>
          <a:noFill/>
        </p:spPr>
        <p:txBody>
          <a:bodyPr wrap="square" rtlCol="0">
            <a:spAutoFit/>
          </a:bodyPr>
          <a:lstStyle/>
          <a:p>
            <a:r>
              <a:rPr lang="en-US" sz="1200" b="1" dirty="0"/>
              <a:t>Entering rank and branch</a:t>
            </a:r>
            <a:endParaRPr lang="en-IN" sz="1200" b="1" dirty="0"/>
          </a:p>
        </p:txBody>
      </p:sp>
      <p:pic>
        <p:nvPicPr>
          <p:cNvPr id="7" name="Picture 6">
            <a:extLst>
              <a:ext uri="{FF2B5EF4-FFF2-40B4-BE49-F238E27FC236}">
                <a16:creationId xmlns:a16="http://schemas.microsoft.com/office/drawing/2014/main" id="{1C7DE587-3215-EEDD-4F95-7C8250A6A19A}"/>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134013" y="4195644"/>
            <a:ext cx="5441576" cy="1967506"/>
          </a:xfrm>
          <a:prstGeom prst="rect">
            <a:avLst/>
          </a:prstGeom>
        </p:spPr>
      </p:pic>
      <p:sp>
        <p:nvSpPr>
          <p:cNvPr id="8" name="Arrow: Down 7">
            <a:extLst>
              <a:ext uri="{FF2B5EF4-FFF2-40B4-BE49-F238E27FC236}">
                <a16:creationId xmlns:a16="http://schemas.microsoft.com/office/drawing/2014/main" id="{C42948C6-A71D-4348-AFC4-8DA87D7BE368}"/>
              </a:ext>
            </a:extLst>
          </p:cNvPr>
          <p:cNvSpPr/>
          <p:nvPr/>
        </p:nvSpPr>
        <p:spPr>
          <a:xfrm>
            <a:off x="9296400" y="3333446"/>
            <a:ext cx="215153" cy="700672"/>
          </a:xfrm>
          <a:prstGeom prst="downArrow">
            <a:avLst/>
          </a:prstGeom>
          <a:solidFill>
            <a:srgbClr val="0070C0"/>
          </a:solidFill>
          <a:ln>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 name="TextBox 19">
            <a:extLst>
              <a:ext uri="{FF2B5EF4-FFF2-40B4-BE49-F238E27FC236}">
                <a16:creationId xmlns:a16="http://schemas.microsoft.com/office/drawing/2014/main" id="{D7B69956-5B06-4E93-8E06-F7CE71C3615B}"/>
              </a:ext>
            </a:extLst>
          </p:cNvPr>
          <p:cNvSpPr txBox="1"/>
          <p:nvPr/>
        </p:nvSpPr>
        <p:spPr>
          <a:xfrm>
            <a:off x="10032173" y="3110582"/>
            <a:ext cx="1408156" cy="276999"/>
          </a:xfrm>
          <a:prstGeom prst="rect">
            <a:avLst/>
          </a:prstGeom>
          <a:noFill/>
        </p:spPr>
        <p:txBody>
          <a:bodyPr wrap="square" rtlCol="0">
            <a:spAutoFit/>
          </a:bodyPr>
          <a:lstStyle/>
          <a:p>
            <a:r>
              <a:rPr lang="en-US" sz="1200" b="1" dirty="0"/>
              <a:t>Linear Regression</a:t>
            </a:r>
            <a:endParaRPr lang="en-IN" sz="1200" b="1" dirty="0"/>
          </a:p>
        </p:txBody>
      </p:sp>
    </p:spTree>
    <p:extLst>
      <p:ext uri="{BB962C8B-B14F-4D97-AF65-F5344CB8AC3E}">
        <p14:creationId xmlns:p14="http://schemas.microsoft.com/office/powerpoint/2010/main" val="6085221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16164A-C969-4862-BB66-B3FAFE2BF497}"/>
              </a:ext>
            </a:extLst>
          </p:cNvPr>
          <p:cNvSpPr>
            <a:spLocks noGrp="1"/>
          </p:cNvSpPr>
          <p:nvPr>
            <p:ph type="title"/>
          </p:nvPr>
        </p:nvSpPr>
        <p:spPr>
          <a:xfrm>
            <a:off x="4724400" y="175848"/>
            <a:ext cx="2743200" cy="791322"/>
          </a:xfrm>
        </p:spPr>
        <p:txBody>
          <a:bodyPr>
            <a:normAutofit/>
          </a:bodyPr>
          <a:lstStyle/>
          <a:p>
            <a:r>
              <a:rPr lang="en-US" sz="3200" b="1" dirty="0">
                <a:solidFill>
                  <a:schemeClr val="accent1">
                    <a:lumMod val="50000"/>
                  </a:schemeClr>
                </a:solidFill>
                <a:latin typeface="Times New Roman" panose="02020603050405020304" pitchFamily="18" charset="0"/>
                <a:cs typeface="Times New Roman" panose="02020603050405020304" pitchFamily="18" charset="0"/>
              </a:rPr>
              <a:t>Requirements</a:t>
            </a:r>
            <a:endParaRPr lang="en-IN" sz="3200" b="1" dirty="0">
              <a:solidFill>
                <a:schemeClr val="accent1">
                  <a:lumMod val="50000"/>
                </a:schemeClr>
              </a:solidFill>
              <a:latin typeface="Times New Roman" panose="02020603050405020304" pitchFamily="18" charset="0"/>
              <a:cs typeface="Times New Roman" panose="02020603050405020304" pitchFamily="18" charset="0"/>
            </a:endParaRPr>
          </a:p>
        </p:txBody>
      </p:sp>
      <p:sp>
        <p:nvSpPr>
          <p:cNvPr id="3" name="Date Placeholder 2">
            <a:extLst>
              <a:ext uri="{FF2B5EF4-FFF2-40B4-BE49-F238E27FC236}">
                <a16:creationId xmlns:a16="http://schemas.microsoft.com/office/drawing/2014/main" id="{A4712A63-52EB-4FB6-979C-1F89DB975882}"/>
              </a:ext>
            </a:extLst>
          </p:cNvPr>
          <p:cNvSpPr>
            <a:spLocks noGrp="1"/>
          </p:cNvSpPr>
          <p:nvPr>
            <p:ph type="dt" sz="half" idx="10"/>
          </p:nvPr>
        </p:nvSpPr>
        <p:spPr/>
        <p:txBody>
          <a:bodyPr/>
          <a:lstStyle/>
          <a:p>
            <a:fld id="{7FF0D1D2-76F6-42FC-A146-9AC975C57A87}" type="datetime1">
              <a:rPr lang="en-US" smtClean="0"/>
              <a:t>10/13/2025</a:t>
            </a:fld>
            <a:endParaRPr lang="en-US"/>
          </a:p>
        </p:txBody>
      </p:sp>
      <p:sp>
        <p:nvSpPr>
          <p:cNvPr id="4" name="Footer Placeholder 3">
            <a:extLst>
              <a:ext uri="{FF2B5EF4-FFF2-40B4-BE49-F238E27FC236}">
                <a16:creationId xmlns:a16="http://schemas.microsoft.com/office/drawing/2014/main" id="{5DC18D16-893E-479A-8C3E-03A14108568C}"/>
              </a:ext>
            </a:extLst>
          </p:cNvPr>
          <p:cNvSpPr>
            <a:spLocks noGrp="1"/>
          </p:cNvSpPr>
          <p:nvPr>
            <p:ph type="ftr" sz="quarter" idx="11"/>
          </p:nvPr>
        </p:nvSpPr>
        <p:spPr/>
        <p:txBody>
          <a:bodyPr/>
          <a:lstStyle/>
          <a:p>
            <a:r>
              <a:rPr lang="en-US"/>
              <a:t>NextGen College Advisor: AI-Powered Guidance for Students</a:t>
            </a:r>
          </a:p>
        </p:txBody>
      </p:sp>
      <p:sp>
        <p:nvSpPr>
          <p:cNvPr id="5" name="Slide Number Placeholder 4">
            <a:extLst>
              <a:ext uri="{FF2B5EF4-FFF2-40B4-BE49-F238E27FC236}">
                <a16:creationId xmlns:a16="http://schemas.microsoft.com/office/drawing/2014/main" id="{715C24EC-2084-4FEB-BB00-AABB34CC694D}"/>
              </a:ext>
            </a:extLst>
          </p:cNvPr>
          <p:cNvSpPr>
            <a:spLocks noGrp="1"/>
          </p:cNvSpPr>
          <p:nvPr>
            <p:ph type="sldNum" sz="quarter" idx="12"/>
          </p:nvPr>
        </p:nvSpPr>
        <p:spPr/>
        <p:txBody>
          <a:bodyPr/>
          <a:lstStyle/>
          <a:p>
            <a:fld id="{FA11DADA-ACB1-42D7-8648-2A253C2E43B8}" type="slidenum">
              <a:rPr lang="en-US" smtClean="0"/>
              <a:pPr/>
              <a:t>11</a:t>
            </a:fld>
            <a:endParaRPr lang="en-US"/>
          </a:p>
        </p:txBody>
      </p:sp>
      <p:sp>
        <p:nvSpPr>
          <p:cNvPr id="6" name="TextBox 5">
            <a:extLst>
              <a:ext uri="{FF2B5EF4-FFF2-40B4-BE49-F238E27FC236}">
                <a16:creationId xmlns:a16="http://schemas.microsoft.com/office/drawing/2014/main" id="{FF6072CC-F1D3-401A-AB56-30DD23EADE7F}"/>
              </a:ext>
            </a:extLst>
          </p:cNvPr>
          <p:cNvSpPr txBox="1"/>
          <p:nvPr/>
        </p:nvSpPr>
        <p:spPr>
          <a:xfrm>
            <a:off x="699247" y="1147482"/>
            <a:ext cx="11035553" cy="5028556"/>
          </a:xfrm>
          <a:prstGeom prst="rect">
            <a:avLst/>
          </a:prstGeom>
          <a:noFill/>
        </p:spPr>
        <p:txBody>
          <a:bodyPr wrap="square" rtlCol="0">
            <a:spAutoFit/>
          </a:bodyPr>
          <a:lstStyle/>
          <a:p>
            <a:pPr>
              <a:lnSpc>
                <a:spcPct val="150000"/>
              </a:lnSpc>
            </a:pPr>
            <a:r>
              <a:rPr lang="en-US" dirty="0">
                <a:latin typeface="Times New Roman" panose="02020603050405020304" pitchFamily="18" charset="0"/>
                <a:cs typeface="Times New Roman" panose="02020603050405020304" pitchFamily="18" charset="0"/>
              </a:rPr>
              <a:t>Functional Requirements:</a:t>
            </a:r>
          </a:p>
          <a:p>
            <a:pPr marL="285750" indent="-285750">
              <a:lnSpc>
                <a:spcPct val="150000"/>
              </a:lnSpc>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User Registration and Login</a:t>
            </a:r>
          </a:p>
          <a:p>
            <a:pPr marL="285750" indent="-285750">
              <a:lnSpc>
                <a:spcPct val="150000"/>
              </a:lnSpc>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Dashboard</a:t>
            </a:r>
          </a:p>
          <a:p>
            <a:pPr marL="285750" indent="-285750">
              <a:lnSpc>
                <a:spcPct val="150000"/>
              </a:lnSpc>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Prediction and Display</a:t>
            </a:r>
          </a:p>
          <a:p>
            <a:pPr marL="285750" indent="-285750">
              <a:lnSpc>
                <a:spcPct val="150000"/>
              </a:lnSpc>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Machine Learning Integration</a:t>
            </a:r>
          </a:p>
          <a:p>
            <a:pPr>
              <a:lnSpc>
                <a:spcPct val="150000"/>
              </a:lnSpc>
            </a:pPr>
            <a:endParaRPr lang="en-US" dirty="0">
              <a:latin typeface="Times New Roman" panose="02020603050405020304" pitchFamily="18" charset="0"/>
              <a:cs typeface="Times New Roman" panose="02020603050405020304" pitchFamily="18" charset="0"/>
            </a:endParaRPr>
          </a:p>
          <a:p>
            <a:pPr>
              <a:lnSpc>
                <a:spcPct val="150000"/>
              </a:lnSpc>
            </a:pPr>
            <a:r>
              <a:rPr lang="en-US" dirty="0">
                <a:latin typeface="Times New Roman" panose="02020603050405020304" pitchFamily="18" charset="0"/>
                <a:cs typeface="Times New Roman" panose="02020603050405020304" pitchFamily="18" charset="0"/>
              </a:rPr>
              <a:t>Non-Functional Requirements:</a:t>
            </a:r>
          </a:p>
          <a:p>
            <a:pPr marL="285750" indent="-285750">
              <a:lnSpc>
                <a:spcPct val="150000"/>
              </a:lnSpc>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Performance</a:t>
            </a:r>
          </a:p>
          <a:p>
            <a:pPr marL="285750" indent="-285750">
              <a:lnSpc>
                <a:spcPct val="150000"/>
              </a:lnSpc>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Scalability</a:t>
            </a:r>
          </a:p>
          <a:p>
            <a:pPr marL="285750" indent="-285750">
              <a:lnSpc>
                <a:spcPct val="150000"/>
              </a:lnSpc>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Usability </a:t>
            </a:r>
          </a:p>
          <a:p>
            <a:pPr marL="285750" indent="-285750">
              <a:lnSpc>
                <a:spcPct val="150000"/>
              </a:lnSpc>
              <a:buFont typeface="Wingdings" panose="05000000000000000000" pitchFamily="2" charset="2"/>
              <a:buChar char="§"/>
            </a:pPr>
            <a:endParaRPr lang="en-US" dirty="0">
              <a:latin typeface="Times New Roman" panose="02020603050405020304" pitchFamily="18" charset="0"/>
              <a:cs typeface="Times New Roman" panose="02020603050405020304" pitchFamily="18" charset="0"/>
            </a:endParaRPr>
          </a:p>
          <a:p>
            <a:pPr marL="285750" indent="-285750">
              <a:lnSpc>
                <a:spcPct val="150000"/>
              </a:lnSpc>
              <a:buFont typeface="Arial" panose="020B0604020202020204" pitchFamily="34" charset="0"/>
              <a:buChar char="•"/>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326329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EBA0C56-46C5-45D2-9B82-BBA6D0AB2BAD}"/>
              </a:ext>
            </a:extLst>
          </p:cNvPr>
          <p:cNvSpPr>
            <a:spLocks noGrp="1"/>
          </p:cNvSpPr>
          <p:nvPr>
            <p:ph type="dt" sz="half" idx="10"/>
          </p:nvPr>
        </p:nvSpPr>
        <p:spPr/>
        <p:txBody>
          <a:bodyPr/>
          <a:lstStyle/>
          <a:p>
            <a:fld id="{273920F3-E9EE-4606-B483-2A8FAA3529CA}" type="datetime1">
              <a:rPr lang="en-US" smtClean="0"/>
              <a:t>10/13/2025</a:t>
            </a:fld>
            <a:endParaRPr lang="en-US"/>
          </a:p>
        </p:txBody>
      </p:sp>
      <p:sp>
        <p:nvSpPr>
          <p:cNvPr id="3" name="Footer Placeholder 2">
            <a:extLst>
              <a:ext uri="{FF2B5EF4-FFF2-40B4-BE49-F238E27FC236}">
                <a16:creationId xmlns:a16="http://schemas.microsoft.com/office/drawing/2014/main" id="{9E211065-312C-4859-AECA-FFBF722FBE77}"/>
              </a:ext>
            </a:extLst>
          </p:cNvPr>
          <p:cNvSpPr>
            <a:spLocks noGrp="1"/>
          </p:cNvSpPr>
          <p:nvPr>
            <p:ph type="ftr" sz="quarter" idx="11"/>
          </p:nvPr>
        </p:nvSpPr>
        <p:spPr/>
        <p:txBody>
          <a:bodyPr/>
          <a:lstStyle/>
          <a:p>
            <a:r>
              <a:rPr lang="en-US"/>
              <a:t>NextGen College Advisor: AI-Powered Guidance for Students</a:t>
            </a:r>
          </a:p>
        </p:txBody>
      </p:sp>
      <p:sp>
        <p:nvSpPr>
          <p:cNvPr id="4" name="Slide Number Placeholder 3">
            <a:extLst>
              <a:ext uri="{FF2B5EF4-FFF2-40B4-BE49-F238E27FC236}">
                <a16:creationId xmlns:a16="http://schemas.microsoft.com/office/drawing/2014/main" id="{C047059C-AEE2-4ED9-97E1-1539B8E694BA}"/>
              </a:ext>
            </a:extLst>
          </p:cNvPr>
          <p:cNvSpPr>
            <a:spLocks noGrp="1"/>
          </p:cNvSpPr>
          <p:nvPr>
            <p:ph type="sldNum" sz="quarter" idx="12"/>
          </p:nvPr>
        </p:nvSpPr>
        <p:spPr/>
        <p:txBody>
          <a:bodyPr/>
          <a:lstStyle/>
          <a:p>
            <a:fld id="{FA11DADA-ACB1-42D7-8648-2A253C2E43B8}" type="slidenum">
              <a:rPr lang="en-US" smtClean="0"/>
              <a:pPr/>
              <a:t>12</a:t>
            </a:fld>
            <a:endParaRPr lang="en-US"/>
          </a:p>
        </p:txBody>
      </p:sp>
      <p:sp>
        <p:nvSpPr>
          <p:cNvPr id="7" name="TextBox 6">
            <a:extLst>
              <a:ext uri="{FF2B5EF4-FFF2-40B4-BE49-F238E27FC236}">
                <a16:creationId xmlns:a16="http://schemas.microsoft.com/office/drawing/2014/main" id="{E71FED71-F652-416F-9183-D229488014E9}"/>
              </a:ext>
            </a:extLst>
          </p:cNvPr>
          <p:cNvSpPr txBox="1"/>
          <p:nvPr/>
        </p:nvSpPr>
        <p:spPr>
          <a:xfrm>
            <a:off x="3048000" y="136525"/>
            <a:ext cx="6096000" cy="584775"/>
          </a:xfrm>
          <a:prstGeom prst="rect">
            <a:avLst/>
          </a:prstGeom>
          <a:noFill/>
        </p:spPr>
        <p:txBody>
          <a:bodyPr wrap="square">
            <a:spAutoFit/>
          </a:bodyPr>
          <a:lstStyle/>
          <a:p>
            <a:pPr algn="ctr"/>
            <a:r>
              <a:rPr lang="en-US" sz="3200" b="1" dirty="0">
                <a:solidFill>
                  <a:schemeClr val="accent1">
                    <a:lumMod val="50000"/>
                  </a:schemeClr>
                </a:solidFill>
                <a:latin typeface="Times New Roman" panose="02020603050405020304" pitchFamily="18" charset="0"/>
                <a:cs typeface="Times New Roman" panose="02020603050405020304" pitchFamily="18" charset="0"/>
              </a:rPr>
              <a:t>Design</a:t>
            </a:r>
            <a:endParaRPr lang="en-IN" sz="3200" dirty="0"/>
          </a:p>
        </p:txBody>
      </p:sp>
      <p:pic>
        <p:nvPicPr>
          <p:cNvPr id="15" name="Picture 14">
            <a:extLst>
              <a:ext uri="{FF2B5EF4-FFF2-40B4-BE49-F238E27FC236}">
                <a16:creationId xmlns:a16="http://schemas.microsoft.com/office/drawing/2014/main" id="{A4B36BAD-5371-414B-947B-ED9719C793A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60282" y="1570525"/>
            <a:ext cx="9071436" cy="3716949"/>
          </a:xfrm>
          <a:prstGeom prst="rect">
            <a:avLst/>
          </a:prstGeom>
        </p:spPr>
      </p:pic>
      <p:sp>
        <p:nvSpPr>
          <p:cNvPr id="16" name="TextBox 15">
            <a:extLst>
              <a:ext uri="{FF2B5EF4-FFF2-40B4-BE49-F238E27FC236}">
                <a16:creationId xmlns:a16="http://schemas.microsoft.com/office/drawing/2014/main" id="{1005B7C2-AD41-41D7-BAE6-079CC43DE1CC}"/>
              </a:ext>
            </a:extLst>
          </p:cNvPr>
          <p:cNvSpPr txBox="1"/>
          <p:nvPr/>
        </p:nvSpPr>
        <p:spPr>
          <a:xfrm>
            <a:off x="838200" y="915080"/>
            <a:ext cx="3639670" cy="461665"/>
          </a:xfrm>
          <a:prstGeom prst="rect">
            <a:avLst/>
          </a:prstGeom>
          <a:noFill/>
        </p:spPr>
        <p:txBody>
          <a:bodyPr wrap="square" rtlCol="0">
            <a:spAutoFit/>
          </a:bodyPr>
          <a:lstStyle/>
          <a:p>
            <a:r>
              <a:rPr lang="en-US" sz="2400" dirty="0">
                <a:latin typeface="Times New Roman" panose="02020603050405020304" pitchFamily="18" charset="0"/>
                <a:cs typeface="Times New Roman" panose="02020603050405020304" pitchFamily="18" charset="0"/>
              </a:rPr>
              <a:t>Level 0 data flow diagram:</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2074698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FA72A5C-0655-4DAB-A14B-DD5E16CC5C52}"/>
              </a:ext>
            </a:extLst>
          </p:cNvPr>
          <p:cNvSpPr>
            <a:spLocks noGrp="1"/>
          </p:cNvSpPr>
          <p:nvPr>
            <p:ph type="dt" sz="half" idx="10"/>
          </p:nvPr>
        </p:nvSpPr>
        <p:spPr/>
        <p:txBody>
          <a:bodyPr/>
          <a:lstStyle/>
          <a:p>
            <a:fld id="{273920F3-E9EE-4606-B483-2A8FAA3529CA}" type="datetime1">
              <a:rPr lang="en-US" smtClean="0"/>
              <a:t>10/13/2025</a:t>
            </a:fld>
            <a:endParaRPr lang="en-US"/>
          </a:p>
        </p:txBody>
      </p:sp>
      <p:sp>
        <p:nvSpPr>
          <p:cNvPr id="3" name="Footer Placeholder 2">
            <a:extLst>
              <a:ext uri="{FF2B5EF4-FFF2-40B4-BE49-F238E27FC236}">
                <a16:creationId xmlns:a16="http://schemas.microsoft.com/office/drawing/2014/main" id="{93CEAD93-5FC7-477B-853B-C8C8306E25C9}"/>
              </a:ext>
            </a:extLst>
          </p:cNvPr>
          <p:cNvSpPr>
            <a:spLocks noGrp="1"/>
          </p:cNvSpPr>
          <p:nvPr>
            <p:ph type="ftr" sz="quarter" idx="11"/>
          </p:nvPr>
        </p:nvSpPr>
        <p:spPr/>
        <p:txBody>
          <a:bodyPr/>
          <a:lstStyle/>
          <a:p>
            <a:r>
              <a:rPr lang="en-US"/>
              <a:t>NextGen College Advisor: AI-Powered Guidance for Students</a:t>
            </a:r>
          </a:p>
        </p:txBody>
      </p:sp>
      <p:sp>
        <p:nvSpPr>
          <p:cNvPr id="4" name="Slide Number Placeholder 3">
            <a:extLst>
              <a:ext uri="{FF2B5EF4-FFF2-40B4-BE49-F238E27FC236}">
                <a16:creationId xmlns:a16="http://schemas.microsoft.com/office/drawing/2014/main" id="{4C98D004-A4CF-450B-AE3D-38DC1F471490}"/>
              </a:ext>
            </a:extLst>
          </p:cNvPr>
          <p:cNvSpPr>
            <a:spLocks noGrp="1"/>
          </p:cNvSpPr>
          <p:nvPr>
            <p:ph type="sldNum" sz="quarter" idx="12"/>
          </p:nvPr>
        </p:nvSpPr>
        <p:spPr/>
        <p:txBody>
          <a:bodyPr/>
          <a:lstStyle/>
          <a:p>
            <a:fld id="{FA11DADA-ACB1-42D7-8648-2A253C2E43B8}" type="slidenum">
              <a:rPr lang="en-US" smtClean="0"/>
              <a:pPr/>
              <a:t>13</a:t>
            </a:fld>
            <a:endParaRPr lang="en-US"/>
          </a:p>
        </p:txBody>
      </p:sp>
      <p:pic>
        <p:nvPicPr>
          <p:cNvPr id="5" name="Content Placeholder 5">
            <a:extLst>
              <a:ext uri="{FF2B5EF4-FFF2-40B4-BE49-F238E27FC236}">
                <a16:creationId xmlns:a16="http://schemas.microsoft.com/office/drawing/2014/main" id="{342E6931-1611-4863-BEE4-9116404142C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66046" y="546847"/>
            <a:ext cx="8146721" cy="5809503"/>
          </a:xfrm>
          <a:prstGeom prst="rect">
            <a:avLst/>
          </a:prstGeom>
        </p:spPr>
      </p:pic>
      <p:sp>
        <p:nvSpPr>
          <p:cNvPr id="7" name="TextBox 6">
            <a:extLst>
              <a:ext uri="{FF2B5EF4-FFF2-40B4-BE49-F238E27FC236}">
                <a16:creationId xmlns:a16="http://schemas.microsoft.com/office/drawing/2014/main" id="{050A7C04-B51E-4F41-82BF-0EAE870C37F9}"/>
              </a:ext>
            </a:extLst>
          </p:cNvPr>
          <p:cNvSpPr txBox="1"/>
          <p:nvPr/>
        </p:nvSpPr>
        <p:spPr>
          <a:xfrm>
            <a:off x="838200" y="390903"/>
            <a:ext cx="2326341" cy="461665"/>
          </a:xfrm>
          <a:prstGeom prst="rect">
            <a:avLst/>
          </a:prstGeom>
          <a:noFill/>
        </p:spPr>
        <p:txBody>
          <a:bodyPr wrap="square">
            <a:spAutoFit/>
          </a:bodyPr>
          <a:lstStyle/>
          <a:p>
            <a:r>
              <a:rPr lang="en-US" sz="2400" dirty="0">
                <a:latin typeface="Times New Roman" panose="02020603050405020304" pitchFamily="18" charset="0"/>
                <a:cs typeface="Times New Roman" panose="02020603050405020304" pitchFamily="18" charset="0"/>
              </a:rPr>
              <a:t>Flowchart:</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722366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424A9C6-4215-4D0B-9C5F-EFE728D4A5E0}"/>
              </a:ext>
            </a:extLst>
          </p:cNvPr>
          <p:cNvSpPr>
            <a:spLocks noGrp="1"/>
          </p:cNvSpPr>
          <p:nvPr>
            <p:ph type="dt" sz="half" idx="10"/>
          </p:nvPr>
        </p:nvSpPr>
        <p:spPr/>
        <p:txBody>
          <a:bodyPr/>
          <a:lstStyle/>
          <a:p>
            <a:fld id="{273920F3-E9EE-4606-B483-2A8FAA3529CA}" type="datetime1">
              <a:rPr lang="en-US" smtClean="0"/>
              <a:t>10/13/2025</a:t>
            </a:fld>
            <a:endParaRPr lang="en-US"/>
          </a:p>
        </p:txBody>
      </p:sp>
      <p:sp>
        <p:nvSpPr>
          <p:cNvPr id="3" name="Footer Placeholder 2">
            <a:extLst>
              <a:ext uri="{FF2B5EF4-FFF2-40B4-BE49-F238E27FC236}">
                <a16:creationId xmlns:a16="http://schemas.microsoft.com/office/drawing/2014/main" id="{13486A56-1B84-4D8B-8FBE-9B74FC83BA49}"/>
              </a:ext>
            </a:extLst>
          </p:cNvPr>
          <p:cNvSpPr>
            <a:spLocks noGrp="1"/>
          </p:cNvSpPr>
          <p:nvPr>
            <p:ph type="ftr" sz="quarter" idx="11"/>
          </p:nvPr>
        </p:nvSpPr>
        <p:spPr/>
        <p:txBody>
          <a:bodyPr/>
          <a:lstStyle/>
          <a:p>
            <a:r>
              <a:rPr lang="en-US"/>
              <a:t>NextGen College Advisor: AI-Powered Guidance for Students</a:t>
            </a:r>
          </a:p>
        </p:txBody>
      </p:sp>
      <p:sp>
        <p:nvSpPr>
          <p:cNvPr id="4" name="Slide Number Placeholder 3">
            <a:extLst>
              <a:ext uri="{FF2B5EF4-FFF2-40B4-BE49-F238E27FC236}">
                <a16:creationId xmlns:a16="http://schemas.microsoft.com/office/drawing/2014/main" id="{1DADDA1A-9A01-4398-B5AB-D1A444CA30E3}"/>
              </a:ext>
            </a:extLst>
          </p:cNvPr>
          <p:cNvSpPr>
            <a:spLocks noGrp="1"/>
          </p:cNvSpPr>
          <p:nvPr>
            <p:ph type="sldNum" sz="quarter" idx="12"/>
          </p:nvPr>
        </p:nvSpPr>
        <p:spPr/>
        <p:txBody>
          <a:bodyPr/>
          <a:lstStyle/>
          <a:p>
            <a:fld id="{FA11DADA-ACB1-42D7-8648-2A253C2E43B8}" type="slidenum">
              <a:rPr lang="en-US" smtClean="0"/>
              <a:pPr/>
              <a:t>14</a:t>
            </a:fld>
            <a:endParaRPr lang="en-US"/>
          </a:p>
        </p:txBody>
      </p:sp>
      <p:sp>
        <p:nvSpPr>
          <p:cNvPr id="5" name="TextBox 4">
            <a:extLst>
              <a:ext uri="{FF2B5EF4-FFF2-40B4-BE49-F238E27FC236}">
                <a16:creationId xmlns:a16="http://schemas.microsoft.com/office/drawing/2014/main" id="{9C96E193-3233-43F6-BEA4-E4404F3F37FC}"/>
              </a:ext>
            </a:extLst>
          </p:cNvPr>
          <p:cNvSpPr txBox="1"/>
          <p:nvPr/>
        </p:nvSpPr>
        <p:spPr>
          <a:xfrm>
            <a:off x="838200" y="501649"/>
            <a:ext cx="2743200" cy="461665"/>
          </a:xfrm>
          <a:prstGeom prst="rect">
            <a:avLst/>
          </a:prstGeom>
          <a:noFill/>
        </p:spPr>
        <p:txBody>
          <a:bodyPr wrap="square" rtlCol="0">
            <a:spAutoFit/>
          </a:bodyPr>
          <a:lstStyle/>
          <a:p>
            <a:r>
              <a:rPr lang="en-US" sz="2400" dirty="0">
                <a:latin typeface="Times New Roman" panose="02020603050405020304" pitchFamily="18" charset="0"/>
                <a:cs typeface="Times New Roman" panose="02020603050405020304" pitchFamily="18" charset="0"/>
              </a:rPr>
              <a:t>Use case diagram:</a:t>
            </a:r>
            <a:endParaRPr lang="en-IN" sz="2400" dirty="0">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4781BBD6-B03B-4083-BDDA-ACBD67AA491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68357" y="1401006"/>
            <a:ext cx="9455285" cy="4517651"/>
          </a:xfrm>
          <a:prstGeom prst="rect">
            <a:avLst/>
          </a:prstGeom>
        </p:spPr>
      </p:pic>
    </p:spTree>
    <p:extLst>
      <p:ext uri="{BB962C8B-B14F-4D97-AF65-F5344CB8AC3E}">
        <p14:creationId xmlns:p14="http://schemas.microsoft.com/office/powerpoint/2010/main" val="199079956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E4238D1-3233-4B08-A6FC-D1BE813BA80F}"/>
              </a:ext>
            </a:extLst>
          </p:cNvPr>
          <p:cNvSpPr>
            <a:spLocks noGrp="1"/>
          </p:cNvSpPr>
          <p:nvPr>
            <p:ph type="dt" sz="half" idx="10"/>
          </p:nvPr>
        </p:nvSpPr>
        <p:spPr/>
        <p:txBody>
          <a:bodyPr/>
          <a:lstStyle/>
          <a:p>
            <a:fld id="{273920F3-E9EE-4606-B483-2A8FAA3529CA}" type="datetime1">
              <a:rPr lang="en-US" smtClean="0"/>
              <a:t>10/13/2025</a:t>
            </a:fld>
            <a:endParaRPr lang="en-US"/>
          </a:p>
        </p:txBody>
      </p:sp>
      <p:sp>
        <p:nvSpPr>
          <p:cNvPr id="3" name="Footer Placeholder 2">
            <a:extLst>
              <a:ext uri="{FF2B5EF4-FFF2-40B4-BE49-F238E27FC236}">
                <a16:creationId xmlns:a16="http://schemas.microsoft.com/office/drawing/2014/main" id="{76F95E39-4E64-4BF8-918D-F7F1FA8AD731}"/>
              </a:ext>
            </a:extLst>
          </p:cNvPr>
          <p:cNvSpPr>
            <a:spLocks noGrp="1"/>
          </p:cNvSpPr>
          <p:nvPr>
            <p:ph type="ftr" sz="quarter" idx="11"/>
          </p:nvPr>
        </p:nvSpPr>
        <p:spPr/>
        <p:txBody>
          <a:bodyPr/>
          <a:lstStyle/>
          <a:p>
            <a:r>
              <a:rPr lang="en-US"/>
              <a:t>NextGen College Advisor: AI-Powered Guidance for Students</a:t>
            </a:r>
          </a:p>
        </p:txBody>
      </p:sp>
      <p:sp>
        <p:nvSpPr>
          <p:cNvPr id="4" name="Slide Number Placeholder 3">
            <a:extLst>
              <a:ext uri="{FF2B5EF4-FFF2-40B4-BE49-F238E27FC236}">
                <a16:creationId xmlns:a16="http://schemas.microsoft.com/office/drawing/2014/main" id="{DE6DEBB4-0322-4A71-891D-738F7B8B7658}"/>
              </a:ext>
            </a:extLst>
          </p:cNvPr>
          <p:cNvSpPr>
            <a:spLocks noGrp="1"/>
          </p:cNvSpPr>
          <p:nvPr>
            <p:ph type="sldNum" sz="quarter" idx="12"/>
          </p:nvPr>
        </p:nvSpPr>
        <p:spPr/>
        <p:txBody>
          <a:bodyPr/>
          <a:lstStyle/>
          <a:p>
            <a:fld id="{FA11DADA-ACB1-42D7-8648-2A253C2E43B8}" type="slidenum">
              <a:rPr lang="en-US" smtClean="0"/>
              <a:pPr/>
              <a:t>15</a:t>
            </a:fld>
            <a:endParaRPr lang="en-US"/>
          </a:p>
        </p:txBody>
      </p:sp>
      <p:sp>
        <p:nvSpPr>
          <p:cNvPr id="5" name="TextBox 4">
            <a:extLst>
              <a:ext uri="{FF2B5EF4-FFF2-40B4-BE49-F238E27FC236}">
                <a16:creationId xmlns:a16="http://schemas.microsoft.com/office/drawing/2014/main" id="{8234A7FE-7DEE-4342-9009-7F74B4948446}"/>
              </a:ext>
            </a:extLst>
          </p:cNvPr>
          <p:cNvSpPr txBox="1"/>
          <p:nvPr/>
        </p:nvSpPr>
        <p:spPr>
          <a:xfrm>
            <a:off x="838200" y="430021"/>
            <a:ext cx="3872753" cy="461665"/>
          </a:xfrm>
          <a:prstGeom prst="rect">
            <a:avLst/>
          </a:prstGeom>
          <a:noFill/>
        </p:spPr>
        <p:txBody>
          <a:bodyPr wrap="square" rtlCol="0">
            <a:spAutoFit/>
          </a:bodyPr>
          <a:lstStyle/>
          <a:p>
            <a:r>
              <a:rPr lang="en-US" sz="2400" dirty="0">
                <a:latin typeface="Times New Roman" panose="02020603050405020304" pitchFamily="18" charset="0"/>
                <a:cs typeface="Times New Roman" panose="02020603050405020304" pitchFamily="18" charset="0"/>
              </a:rPr>
              <a:t>Sequence diagram:</a:t>
            </a:r>
            <a:endParaRPr lang="en-IN" sz="2400"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5C8142CD-FCCB-48CE-A6A8-E56015AE84C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54224" y="945332"/>
            <a:ext cx="10073247" cy="5357372"/>
          </a:xfrm>
          <a:prstGeom prst="rect">
            <a:avLst/>
          </a:prstGeom>
        </p:spPr>
      </p:pic>
    </p:spTree>
    <p:extLst>
      <p:ext uri="{BB962C8B-B14F-4D97-AF65-F5344CB8AC3E}">
        <p14:creationId xmlns:p14="http://schemas.microsoft.com/office/powerpoint/2010/main" val="250119833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8117E39-FB16-5E7B-4D76-55E915A71FB9}"/>
              </a:ext>
            </a:extLst>
          </p:cNvPr>
          <p:cNvSpPr>
            <a:spLocks noGrp="1"/>
          </p:cNvSpPr>
          <p:nvPr>
            <p:ph type="dt" sz="half" idx="10"/>
          </p:nvPr>
        </p:nvSpPr>
        <p:spPr/>
        <p:txBody>
          <a:bodyPr/>
          <a:lstStyle/>
          <a:p>
            <a:fld id="{273920F3-E9EE-4606-B483-2A8FAA3529CA}" type="datetime1">
              <a:rPr lang="en-US" smtClean="0"/>
              <a:t>10/13/2025</a:t>
            </a:fld>
            <a:endParaRPr lang="en-US"/>
          </a:p>
        </p:txBody>
      </p:sp>
      <p:sp>
        <p:nvSpPr>
          <p:cNvPr id="3" name="Footer Placeholder 2">
            <a:extLst>
              <a:ext uri="{FF2B5EF4-FFF2-40B4-BE49-F238E27FC236}">
                <a16:creationId xmlns:a16="http://schemas.microsoft.com/office/drawing/2014/main" id="{A0C978E5-10F0-F099-5C90-97DFF278C5C7}"/>
              </a:ext>
            </a:extLst>
          </p:cNvPr>
          <p:cNvSpPr>
            <a:spLocks noGrp="1"/>
          </p:cNvSpPr>
          <p:nvPr>
            <p:ph type="ftr" sz="quarter" idx="11"/>
          </p:nvPr>
        </p:nvSpPr>
        <p:spPr/>
        <p:txBody>
          <a:bodyPr/>
          <a:lstStyle/>
          <a:p>
            <a:r>
              <a:rPr lang="en-US"/>
              <a:t>NextGen College Advisor: AI-Powered Guidance for Students</a:t>
            </a:r>
          </a:p>
        </p:txBody>
      </p:sp>
      <p:sp>
        <p:nvSpPr>
          <p:cNvPr id="4" name="Slide Number Placeholder 3">
            <a:extLst>
              <a:ext uri="{FF2B5EF4-FFF2-40B4-BE49-F238E27FC236}">
                <a16:creationId xmlns:a16="http://schemas.microsoft.com/office/drawing/2014/main" id="{06ECEE17-E2DA-F01F-4C32-074870FDD2C1}"/>
              </a:ext>
            </a:extLst>
          </p:cNvPr>
          <p:cNvSpPr>
            <a:spLocks noGrp="1"/>
          </p:cNvSpPr>
          <p:nvPr>
            <p:ph type="sldNum" sz="quarter" idx="12"/>
          </p:nvPr>
        </p:nvSpPr>
        <p:spPr/>
        <p:txBody>
          <a:bodyPr/>
          <a:lstStyle/>
          <a:p>
            <a:fld id="{FA11DADA-ACB1-42D7-8648-2A253C2E43B8}" type="slidenum">
              <a:rPr lang="en-US" smtClean="0"/>
              <a:pPr/>
              <a:t>16</a:t>
            </a:fld>
            <a:endParaRPr lang="en-US"/>
          </a:p>
        </p:txBody>
      </p:sp>
      <p:pic>
        <p:nvPicPr>
          <p:cNvPr id="6" name="Picture 5">
            <a:extLst>
              <a:ext uri="{FF2B5EF4-FFF2-40B4-BE49-F238E27FC236}">
                <a16:creationId xmlns:a16="http://schemas.microsoft.com/office/drawing/2014/main" id="{CDDB0374-10E3-5D87-4828-169902ACE8E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81400" y="1188736"/>
            <a:ext cx="4335684" cy="5167614"/>
          </a:xfrm>
          <a:prstGeom prst="rect">
            <a:avLst/>
          </a:prstGeom>
        </p:spPr>
      </p:pic>
      <p:sp>
        <p:nvSpPr>
          <p:cNvPr id="7" name="TextBox 6">
            <a:extLst>
              <a:ext uri="{FF2B5EF4-FFF2-40B4-BE49-F238E27FC236}">
                <a16:creationId xmlns:a16="http://schemas.microsoft.com/office/drawing/2014/main" id="{1A43C72F-144E-6A15-7393-627936F1F13A}"/>
              </a:ext>
            </a:extLst>
          </p:cNvPr>
          <p:cNvSpPr txBox="1"/>
          <p:nvPr/>
        </p:nvSpPr>
        <p:spPr>
          <a:xfrm>
            <a:off x="838199" y="456086"/>
            <a:ext cx="3868271" cy="461665"/>
          </a:xfrm>
          <a:prstGeom prst="rect">
            <a:avLst/>
          </a:prstGeom>
          <a:noFill/>
        </p:spPr>
        <p:txBody>
          <a:bodyPr wrap="square" rtlCol="0">
            <a:spAutoFit/>
          </a:bodyPr>
          <a:lstStyle/>
          <a:p>
            <a:r>
              <a:rPr lang="en-IN" sz="2400" dirty="0">
                <a:latin typeface="Times New Roman" panose="02020603050405020304" pitchFamily="18" charset="0"/>
                <a:cs typeface="Times New Roman" panose="02020603050405020304" pitchFamily="18" charset="0"/>
              </a:rPr>
              <a:t>Entity Relationship Diagram:</a:t>
            </a:r>
          </a:p>
        </p:txBody>
      </p:sp>
    </p:spTree>
    <p:extLst>
      <p:ext uri="{BB962C8B-B14F-4D97-AF65-F5344CB8AC3E}">
        <p14:creationId xmlns:p14="http://schemas.microsoft.com/office/powerpoint/2010/main" val="176273489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3CF505A-96F8-49CE-AC76-23ED0E932EAD}"/>
              </a:ext>
            </a:extLst>
          </p:cNvPr>
          <p:cNvSpPr>
            <a:spLocks noGrp="1"/>
          </p:cNvSpPr>
          <p:nvPr>
            <p:ph type="dt" sz="half" idx="10"/>
          </p:nvPr>
        </p:nvSpPr>
        <p:spPr/>
        <p:txBody>
          <a:bodyPr/>
          <a:lstStyle/>
          <a:p>
            <a:fld id="{273920F3-E9EE-4606-B483-2A8FAA3529CA}" type="datetime1">
              <a:rPr lang="en-US" smtClean="0"/>
              <a:t>10/13/2025</a:t>
            </a:fld>
            <a:endParaRPr lang="en-US"/>
          </a:p>
        </p:txBody>
      </p:sp>
      <p:sp>
        <p:nvSpPr>
          <p:cNvPr id="3" name="Footer Placeholder 2">
            <a:extLst>
              <a:ext uri="{FF2B5EF4-FFF2-40B4-BE49-F238E27FC236}">
                <a16:creationId xmlns:a16="http://schemas.microsoft.com/office/drawing/2014/main" id="{23CFB216-5075-4EDD-9151-BE3C269F1338}"/>
              </a:ext>
            </a:extLst>
          </p:cNvPr>
          <p:cNvSpPr>
            <a:spLocks noGrp="1"/>
          </p:cNvSpPr>
          <p:nvPr>
            <p:ph type="ftr" sz="quarter" idx="11"/>
          </p:nvPr>
        </p:nvSpPr>
        <p:spPr/>
        <p:txBody>
          <a:bodyPr/>
          <a:lstStyle/>
          <a:p>
            <a:r>
              <a:rPr lang="en-US"/>
              <a:t>NextGen College Advisor: AI-Powered Guidance for Students</a:t>
            </a:r>
          </a:p>
        </p:txBody>
      </p:sp>
      <p:sp>
        <p:nvSpPr>
          <p:cNvPr id="4" name="Slide Number Placeholder 3">
            <a:extLst>
              <a:ext uri="{FF2B5EF4-FFF2-40B4-BE49-F238E27FC236}">
                <a16:creationId xmlns:a16="http://schemas.microsoft.com/office/drawing/2014/main" id="{74F466C3-E0C3-4963-A238-CEAF9F54FFB3}"/>
              </a:ext>
            </a:extLst>
          </p:cNvPr>
          <p:cNvSpPr>
            <a:spLocks noGrp="1"/>
          </p:cNvSpPr>
          <p:nvPr>
            <p:ph type="sldNum" sz="quarter" idx="12"/>
          </p:nvPr>
        </p:nvSpPr>
        <p:spPr/>
        <p:txBody>
          <a:bodyPr/>
          <a:lstStyle/>
          <a:p>
            <a:fld id="{FA11DADA-ACB1-42D7-8648-2A253C2E43B8}" type="slidenum">
              <a:rPr lang="en-US" smtClean="0"/>
              <a:pPr/>
              <a:t>17</a:t>
            </a:fld>
            <a:endParaRPr lang="en-US"/>
          </a:p>
        </p:txBody>
      </p:sp>
      <p:sp>
        <p:nvSpPr>
          <p:cNvPr id="5" name="TextBox 4">
            <a:extLst>
              <a:ext uri="{FF2B5EF4-FFF2-40B4-BE49-F238E27FC236}">
                <a16:creationId xmlns:a16="http://schemas.microsoft.com/office/drawing/2014/main" id="{36FBE834-7EF2-4159-AA0E-0A9686CA5AC5}"/>
              </a:ext>
            </a:extLst>
          </p:cNvPr>
          <p:cNvSpPr txBox="1"/>
          <p:nvPr/>
        </p:nvSpPr>
        <p:spPr>
          <a:xfrm>
            <a:off x="4097990" y="136525"/>
            <a:ext cx="3996017" cy="584775"/>
          </a:xfrm>
          <a:prstGeom prst="rect">
            <a:avLst/>
          </a:prstGeom>
          <a:noFill/>
        </p:spPr>
        <p:txBody>
          <a:bodyPr wrap="square" rtlCol="0">
            <a:spAutoFit/>
          </a:bodyPr>
          <a:lstStyle/>
          <a:p>
            <a:pPr algn="ctr"/>
            <a:r>
              <a:rPr lang="en-US" sz="3200" b="1" dirty="0">
                <a:solidFill>
                  <a:schemeClr val="accent1">
                    <a:lumMod val="50000"/>
                  </a:schemeClr>
                </a:solidFill>
                <a:latin typeface="Times New Roman" panose="02020603050405020304" pitchFamily="18" charset="0"/>
                <a:cs typeface="Times New Roman" panose="02020603050405020304" pitchFamily="18" charset="0"/>
              </a:rPr>
              <a:t>Implementation</a:t>
            </a:r>
            <a:endParaRPr lang="en-IN" sz="3200" b="1" dirty="0">
              <a:solidFill>
                <a:schemeClr val="accent1">
                  <a:lumMod val="50000"/>
                </a:schemeClr>
              </a:solidFill>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9B21CE3A-3A2B-4B87-8852-2FE34B207C0E}"/>
              </a:ext>
            </a:extLst>
          </p:cNvPr>
          <p:cNvSpPr txBox="1"/>
          <p:nvPr/>
        </p:nvSpPr>
        <p:spPr>
          <a:xfrm>
            <a:off x="685798" y="861922"/>
            <a:ext cx="10820400" cy="5859553"/>
          </a:xfrm>
          <a:prstGeom prst="rect">
            <a:avLst/>
          </a:prstGeom>
          <a:noFill/>
        </p:spPr>
        <p:txBody>
          <a:bodyPr wrap="square" rtlCol="0">
            <a:spAutoFit/>
          </a:bodyPr>
          <a:lstStyle/>
          <a:p>
            <a:pPr algn="just">
              <a:lnSpc>
                <a:spcPct val="150000"/>
              </a:lnSpc>
            </a:pPr>
            <a:r>
              <a:rPr lang="en-US" b="1" dirty="0">
                <a:latin typeface="Times New Roman" panose="02020603050405020304" pitchFamily="18" charset="0"/>
                <a:cs typeface="Times New Roman" panose="02020603050405020304" pitchFamily="18" charset="0"/>
              </a:rPr>
              <a:t>1.Data Collection:</a:t>
            </a:r>
          </a:p>
          <a:p>
            <a:pPr marL="285750" indent="-285750" algn="just">
              <a:lnSpc>
                <a:spcPct val="15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Collect past five years of general merit cutoffs for colleges and branches.</a:t>
            </a:r>
            <a:endParaRPr lang="en-IN" dirty="0">
              <a:latin typeface="Times New Roman" panose="02020603050405020304" pitchFamily="18" charset="0"/>
              <a:cs typeface="Times New Roman" panose="02020603050405020304" pitchFamily="18" charset="0"/>
            </a:endParaRPr>
          </a:p>
          <a:p>
            <a:pPr algn="just">
              <a:lnSpc>
                <a:spcPct val="150000"/>
              </a:lnSpc>
            </a:pPr>
            <a:r>
              <a:rPr lang="en-US" b="1" dirty="0">
                <a:latin typeface="Times New Roman" panose="02020603050405020304" pitchFamily="18" charset="0"/>
                <a:cs typeface="Times New Roman" panose="02020603050405020304" pitchFamily="18" charset="0"/>
              </a:rPr>
              <a:t>2. Machine Learning Model Development:</a:t>
            </a:r>
            <a:endParaRPr lang="en-US" dirty="0">
              <a:latin typeface="Times New Roman" panose="02020603050405020304" pitchFamily="18" charset="0"/>
              <a:cs typeface="Times New Roman" panose="02020603050405020304" pitchFamily="18" charset="0"/>
            </a:endParaRPr>
          </a:p>
          <a:p>
            <a:pPr marL="285750" indent="-285750" algn="just">
              <a:lnSpc>
                <a:spcPct val="15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 Model Selection: Use a linear regression algorithm to predict the admission chances of students.</a:t>
            </a:r>
          </a:p>
          <a:p>
            <a:pPr marL="285750" indent="-285750" algn="just">
              <a:lnSpc>
                <a:spcPct val="15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Training the Model: Train the model using historical cutoff data, adjusting parameters to minimize prediction error.</a:t>
            </a:r>
            <a:endParaRPr lang="en-IN" dirty="0">
              <a:latin typeface="Times New Roman" panose="02020603050405020304" pitchFamily="18" charset="0"/>
              <a:cs typeface="Times New Roman" panose="02020603050405020304" pitchFamily="18" charset="0"/>
            </a:endParaRPr>
          </a:p>
          <a:p>
            <a:pPr algn="just">
              <a:lnSpc>
                <a:spcPct val="150000"/>
              </a:lnSpc>
            </a:pPr>
            <a:r>
              <a:rPr lang="en-US" b="1" dirty="0">
                <a:latin typeface="Times New Roman" panose="02020603050405020304" pitchFamily="18" charset="0"/>
                <a:cs typeface="Times New Roman" panose="02020603050405020304" pitchFamily="18" charset="0"/>
              </a:rPr>
              <a:t>3.Backend Development:</a:t>
            </a:r>
            <a:endParaRPr lang="en-US" dirty="0">
              <a:latin typeface="Times New Roman" panose="02020603050405020304" pitchFamily="18" charset="0"/>
              <a:cs typeface="Times New Roman" panose="02020603050405020304" pitchFamily="18" charset="0"/>
            </a:endParaRPr>
          </a:p>
          <a:p>
            <a:pPr marL="285750" indent="-285750" algn="just">
              <a:lnSpc>
                <a:spcPct val="15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Database Management: Set up a database to store student information, historical cutoff data, and predicted results.</a:t>
            </a:r>
          </a:p>
          <a:p>
            <a:pPr marL="285750" indent="-285750" algn="just">
              <a:lnSpc>
                <a:spcPct val="15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API Development: Develop APIs to handle user authentication, data submission, and retrieval of prediction results.</a:t>
            </a:r>
          </a:p>
          <a:p>
            <a:pPr marL="285750" indent="-285750" algn="just">
              <a:lnSpc>
                <a:spcPct val="15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Secret Key Generation: Implement a secure method to generate and distribute secret keys for student logins.</a:t>
            </a:r>
          </a:p>
          <a:p>
            <a:pPr algn="just">
              <a:lnSpc>
                <a:spcPct val="150000"/>
              </a:lnSpc>
            </a:pPr>
            <a:endParaRPr lang="en-IN" dirty="0">
              <a:latin typeface="Times New Roman" panose="02020603050405020304" pitchFamily="18" charset="0"/>
              <a:cs typeface="Times New Roman" panose="02020603050405020304" pitchFamily="18" charset="0"/>
            </a:endParaRPr>
          </a:p>
          <a:p>
            <a:pPr algn="just">
              <a:lnSpc>
                <a:spcPct val="150000"/>
              </a:lnSpc>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060162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35CDC5F-262A-470E-A8E9-17887914C3FA}"/>
              </a:ext>
            </a:extLst>
          </p:cNvPr>
          <p:cNvSpPr>
            <a:spLocks noGrp="1"/>
          </p:cNvSpPr>
          <p:nvPr>
            <p:ph type="dt" sz="half" idx="10"/>
          </p:nvPr>
        </p:nvSpPr>
        <p:spPr/>
        <p:txBody>
          <a:bodyPr/>
          <a:lstStyle/>
          <a:p>
            <a:fld id="{273920F3-E9EE-4606-B483-2A8FAA3529CA}" type="datetime1">
              <a:rPr lang="en-US" smtClean="0"/>
              <a:t>10/13/2025</a:t>
            </a:fld>
            <a:endParaRPr lang="en-US"/>
          </a:p>
        </p:txBody>
      </p:sp>
      <p:sp>
        <p:nvSpPr>
          <p:cNvPr id="3" name="Footer Placeholder 2">
            <a:extLst>
              <a:ext uri="{FF2B5EF4-FFF2-40B4-BE49-F238E27FC236}">
                <a16:creationId xmlns:a16="http://schemas.microsoft.com/office/drawing/2014/main" id="{F8C63488-9E8A-4BE5-BE30-EA9624602F4A}"/>
              </a:ext>
            </a:extLst>
          </p:cNvPr>
          <p:cNvSpPr>
            <a:spLocks noGrp="1"/>
          </p:cNvSpPr>
          <p:nvPr>
            <p:ph type="ftr" sz="quarter" idx="11"/>
          </p:nvPr>
        </p:nvSpPr>
        <p:spPr/>
        <p:txBody>
          <a:bodyPr/>
          <a:lstStyle/>
          <a:p>
            <a:r>
              <a:rPr lang="en-US"/>
              <a:t>NextGen College Advisor: AI-Powered Guidance for Students</a:t>
            </a:r>
          </a:p>
        </p:txBody>
      </p:sp>
      <p:sp>
        <p:nvSpPr>
          <p:cNvPr id="4" name="Slide Number Placeholder 3">
            <a:extLst>
              <a:ext uri="{FF2B5EF4-FFF2-40B4-BE49-F238E27FC236}">
                <a16:creationId xmlns:a16="http://schemas.microsoft.com/office/drawing/2014/main" id="{ECB76BBD-7A9D-46F7-B3A9-034779F06EE1}"/>
              </a:ext>
            </a:extLst>
          </p:cNvPr>
          <p:cNvSpPr>
            <a:spLocks noGrp="1"/>
          </p:cNvSpPr>
          <p:nvPr>
            <p:ph type="sldNum" sz="quarter" idx="12"/>
          </p:nvPr>
        </p:nvSpPr>
        <p:spPr/>
        <p:txBody>
          <a:bodyPr/>
          <a:lstStyle/>
          <a:p>
            <a:fld id="{FA11DADA-ACB1-42D7-8648-2A253C2E43B8}" type="slidenum">
              <a:rPr lang="en-US" smtClean="0"/>
              <a:pPr/>
              <a:t>18</a:t>
            </a:fld>
            <a:endParaRPr lang="en-US"/>
          </a:p>
        </p:txBody>
      </p:sp>
      <p:sp>
        <p:nvSpPr>
          <p:cNvPr id="5" name="TextBox 4">
            <a:extLst>
              <a:ext uri="{FF2B5EF4-FFF2-40B4-BE49-F238E27FC236}">
                <a16:creationId xmlns:a16="http://schemas.microsoft.com/office/drawing/2014/main" id="{8D2A41FF-ACD3-4E7B-92A3-3D09D7D9CE86}"/>
              </a:ext>
            </a:extLst>
          </p:cNvPr>
          <p:cNvSpPr txBox="1"/>
          <p:nvPr/>
        </p:nvSpPr>
        <p:spPr>
          <a:xfrm>
            <a:off x="764241" y="753035"/>
            <a:ext cx="10663518" cy="3782061"/>
          </a:xfrm>
          <a:prstGeom prst="rect">
            <a:avLst/>
          </a:prstGeom>
          <a:noFill/>
        </p:spPr>
        <p:txBody>
          <a:bodyPr wrap="square" rtlCol="0">
            <a:spAutoFit/>
          </a:bodyPr>
          <a:lstStyle/>
          <a:p>
            <a:pPr algn="just">
              <a:lnSpc>
                <a:spcPct val="150000"/>
              </a:lnSpc>
            </a:pPr>
            <a:r>
              <a:rPr lang="en-US" b="1" dirty="0">
                <a:latin typeface="Times New Roman" panose="02020603050405020304" pitchFamily="18" charset="0"/>
                <a:cs typeface="Times New Roman" panose="02020603050405020304" pitchFamily="18" charset="0"/>
              </a:rPr>
              <a:t>4.Frontend Development</a:t>
            </a:r>
          </a:p>
          <a:p>
            <a:pPr marL="285750" indent="-285750" algn="just">
              <a:lnSpc>
                <a:spcPct val="15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User Interface Design: Create an intuitive dashboard where students can input their details and view predictions.</a:t>
            </a:r>
          </a:p>
          <a:p>
            <a:pPr marL="285750" indent="-285750" algn="just">
              <a:lnSpc>
                <a:spcPct val="15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Form Handling: Implement forms for student data submission, ensuring data is validated before processing.</a:t>
            </a:r>
          </a:p>
          <a:p>
            <a:pPr marL="285750" indent="-285750" algn="just">
              <a:lnSpc>
                <a:spcPct val="15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Results Display: Display the predicted colleges, branches, and cutoff scores in a clear and accessible format.</a:t>
            </a:r>
          </a:p>
          <a:p>
            <a:pPr>
              <a:lnSpc>
                <a:spcPct val="150000"/>
              </a:lnSpc>
            </a:pPr>
            <a:r>
              <a:rPr lang="en-US" b="1" dirty="0">
                <a:latin typeface="Times New Roman" panose="02020603050405020304" pitchFamily="18" charset="0"/>
                <a:cs typeface="Times New Roman" panose="02020603050405020304" pitchFamily="18" charset="0"/>
              </a:rPr>
              <a:t>5.Integration and Testing</a:t>
            </a:r>
            <a:endParaRPr lang="en-US" dirty="0">
              <a:latin typeface="Times New Roman" panose="02020603050405020304" pitchFamily="18" charset="0"/>
              <a:cs typeface="Times New Roman" panose="02020603050405020304" pitchFamily="18" charset="0"/>
            </a:endParaRPr>
          </a:p>
          <a:p>
            <a:pPr marL="285750" indent="-285750">
              <a:lnSpc>
                <a:spcPct val="150000"/>
              </a:lnSpc>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Integration: Combine the frontend, backend, and machine learning models into a cohesive system.</a:t>
            </a:r>
          </a:p>
          <a:p>
            <a:pPr algn="just">
              <a:lnSpc>
                <a:spcPct val="150000"/>
              </a:lnSpc>
            </a:pPr>
            <a:endParaRPr lang="en-US" dirty="0">
              <a:latin typeface="Times New Roman" panose="02020603050405020304" pitchFamily="18" charset="0"/>
              <a:cs typeface="Times New Roman" panose="02020603050405020304" pitchFamily="18" charset="0"/>
            </a:endParaRPr>
          </a:p>
          <a:p>
            <a:pPr algn="just">
              <a:lnSpc>
                <a:spcPct val="150000"/>
              </a:lnSpc>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0779650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843547C5-5237-460C-AADA-2A382CA9E108}"/>
              </a:ext>
            </a:extLst>
          </p:cNvPr>
          <p:cNvSpPr>
            <a:spLocks noGrp="1"/>
          </p:cNvSpPr>
          <p:nvPr>
            <p:ph type="title"/>
          </p:nvPr>
        </p:nvSpPr>
        <p:spPr>
          <a:xfrm>
            <a:off x="4784912" y="102851"/>
            <a:ext cx="2622176" cy="728569"/>
          </a:xfrm>
        </p:spPr>
        <p:txBody>
          <a:bodyPr>
            <a:normAutofit/>
          </a:bodyPr>
          <a:lstStyle/>
          <a:p>
            <a:pPr algn="ctr"/>
            <a:r>
              <a:rPr lang="en-US" sz="3200" b="1" dirty="0">
                <a:solidFill>
                  <a:schemeClr val="accent1">
                    <a:lumMod val="50000"/>
                  </a:schemeClr>
                </a:solidFill>
                <a:latin typeface="Times New Roman" panose="02020603050405020304" pitchFamily="18" charset="0"/>
                <a:cs typeface="Times New Roman" panose="02020603050405020304" pitchFamily="18" charset="0"/>
              </a:rPr>
              <a:t>Test cases</a:t>
            </a:r>
            <a:endParaRPr lang="en-IN" sz="3200" b="1" dirty="0">
              <a:solidFill>
                <a:schemeClr val="accent1">
                  <a:lumMod val="50000"/>
                </a:schemeClr>
              </a:solidFill>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34DFD570-87D3-4BE0-B58B-776194FCD01C}"/>
              </a:ext>
            </a:extLst>
          </p:cNvPr>
          <p:cNvSpPr>
            <a:spLocks noGrp="1"/>
          </p:cNvSpPr>
          <p:nvPr>
            <p:ph type="dt" sz="half" idx="10"/>
          </p:nvPr>
        </p:nvSpPr>
        <p:spPr/>
        <p:txBody>
          <a:bodyPr/>
          <a:lstStyle/>
          <a:p>
            <a:fld id="{E43CE86B-4439-4A6A-8489-DA5531BFEF57}" type="datetime1">
              <a:rPr lang="en-US" smtClean="0"/>
              <a:t>10/13/2025</a:t>
            </a:fld>
            <a:endParaRPr lang="en-US"/>
          </a:p>
        </p:txBody>
      </p:sp>
      <p:sp>
        <p:nvSpPr>
          <p:cNvPr id="5" name="Footer Placeholder 4">
            <a:extLst>
              <a:ext uri="{FF2B5EF4-FFF2-40B4-BE49-F238E27FC236}">
                <a16:creationId xmlns:a16="http://schemas.microsoft.com/office/drawing/2014/main" id="{6D5591E1-5491-4CCE-B204-A21786D435C5}"/>
              </a:ext>
            </a:extLst>
          </p:cNvPr>
          <p:cNvSpPr>
            <a:spLocks noGrp="1"/>
          </p:cNvSpPr>
          <p:nvPr>
            <p:ph type="ftr" sz="quarter" idx="11"/>
          </p:nvPr>
        </p:nvSpPr>
        <p:spPr/>
        <p:txBody>
          <a:bodyPr/>
          <a:lstStyle/>
          <a:p>
            <a:r>
              <a:rPr lang="en-US"/>
              <a:t>NextGen College Advisor: AI-Powered Guidance for Students</a:t>
            </a:r>
          </a:p>
        </p:txBody>
      </p:sp>
      <p:sp>
        <p:nvSpPr>
          <p:cNvPr id="6" name="Slide Number Placeholder 5">
            <a:extLst>
              <a:ext uri="{FF2B5EF4-FFF2-40B4-BE49-F238E27FC236}">
                <a16:creationId xmlns:a16="http://schemas.microsoft.com/office/drawing/2014/main" id="{CAE32D45-D92A-4C45-B1A4-6F6A8973A9F2}"/>
              </a:ext>
            </a:extLst>
          </p:cNvPr>
          <p:cNvSpPr>
            <a:spLocks noGrp="1"/>
          </p:cNvSpPr>
          <p:nvPr>
            <p:ph type="sldNum" sz="quarter" idx="12"/>
          </p:nvPr>
        </p:nvSpPr>
        <p:spPr/>
        <p:txBody>
          <a:bodyPr/>
          <a:lstStyle/>
          <a:p>
            <a:fld id="{FA11DADA-ACB1-42D7-8648-2A253C2E43B8}" type="slidenum">
              <a:rPr lang="en-US" smtClean="0"/>
              <a:pPr/>
              <a:t>19</a:t>
            </a:fld>
            <a:endParaRPr lang="en-US"/>
          </a:p>
        </p:txBody>
      </p:sp>
      <p:graphicFrame>
        <p:nvGraphicFramePr>
          <p:cNvPr id="9" name="Table 9">
            <a:extLst>
              <a:ext uri="{FF2B5EF4-FFF2-40B4-BE49-F238E27FC236}">
                <a16:creationId xmlns:a16="http://schemas.microsoft.com/office/drawing/2014/main" id="{2050C1B6-5717-4ABC-89BB-CD5CE8571056}"/>
              </a:ext>
            </a:extLst>
          </p:cNvPr>
          <p:cNvGraphicFramePr>
            <a:graphicFrameLocks noGrp="1"/>
          </p:cNvGraphicFramePr>
          <p:nvPr>
            <p:extLst>
              <p:ext uri="{D42A27DB-BD31-4B8C-83A1-F6EECF244321}">
                <p14:modId xmlns:p14="http://schemas.microsoft.com/office/powerpoint/2010/main" val="4036047984"/>
              </p:ext>
            </p:extLst>
          </p:nvPr>
        </p:nvGraphicFramePr>
        <p:xfrm>
          <a:off x="838200" y="882728"/>
          <a:ext cx="10551459" cy="5143852"/>
        </p:xfrm>
        <a:graphic>
          <a:graphicData uri="http://schemas.openxmlformats.org/drawingml/2006/table">
            <a:tbl>
              <a:tblPr firstRow="1" bandRow="1">
                <a:tableStyleId>{5C22544A-7EE6-4342-B048-85BDC9FD1C3A}</a:tableStyleId>
              </a:tblPr>
              <a:tblGrid>
                <a:gridCol w="1161279">
                  <a:extLst>
                    <a:ext uri="{9D8B030D-6E8A-4147-A177-3AD203B41FA5}">
                      <a16:colId xmlns:a16="http://schemas.microsoft.com/office/drawing/2014/main" val="3385166105"/>
                    </a:ext>
                  </a:extLst>
                </a:gridCol>
                <a:gridCol w="2347545">
                  <a:extLst>
                    <a:ext uri="{9D8B030D-6E8A-4147-A177-3AD203B41FA5}">
                      <a16:colId xmlns:a16="http://schemas.microsoft.com/office/drawing/2014/main" val="2919139401"/>
                    </a:ext>
                  </a:extLst>
                </a:gridCol>
                <a:gridCol w="2347545">
                  <a:extLst>
                    <a:ext uri="{9D8B030D-6E8A-4147-A177-3AD203B41FA5}">
                      <a16:colId xmlns:a16="http://schemas.microsoft.com/office/drawing/2014/main" val="1545452106"/>
                    </a:ext>
                  </a:extLst>
                </a:gridCol>
                <a:gridCol w="2642172">
                  <a:extLst>
                    <a:ext uri="{9D8B030D-6E8A-4147-A177-3AD203B41FA5}">
                      <a16:colId xmlns:a16="http://schemas.microsoft.com/office/drawing/2014/main" val="3811154291"/>
                    </a:ext>
                  </a:extLst>
                </a:gridCol>
                <a:gridCol w="2052918">
                  <a:extLst>
                    <a:ext uri="{9D8B030D-6E8A-4147-A177-3AD203B41FA5}">
                      <a16:colId xmlns:a16="http://schemas.microsoft.com/office/drawing/2014/main" val="2111906505"/>
                    </a:ext>
                  </a:extLst>
                </a:gridCol>
              </a:tblGrid>
              <a:tr h="665903">
                <a:tc>
                  <a:txBody>
                    <a:bodyPr/>
                    <a:lstStyle/>
                    <a:p>
                      <a:pPr algn="ctr"/>
                      <a:r>
                        <a:rPr lang="en-US" sz="2000" dirty="0">
                          <a:latin typeface="Times New Roman" panose="02020603050405020304" pitchFamily="18" charset="0"/>
                          <a:cs typeface="Times New Roman" panose="02020603050405020304" pitchFamily="18" charset="0"/>
                        </a:rPr>
                        <a:t>Test case ID</a:t>
                      </a:r>
                      <a:endParaRPr lang="en-IN" sz="2000" dirty="0">
                        <a:latin typeface="Times New Roman" panose="02020603050405020304" pitchFamily="18" charset="0"/>
                        <a:cs typeface="Times New Roman" panose="02020603050405020304" pitchFamily="18" charset="0"/>
                      </a:endParaRPr>
                    </a:p>
                  </a:txBody>
                  <a:tcPr/>
                </a:tc>
                <a:tc>
                  <a:txBody>
                    <a:bodyPr/>
                    <a:lstStyle/>
                    <a:p>
                      <a:pPr algn="ctr"/>
                      <a:r>
                        <a:rPr lang="en-IN" sz="2000" dirty="0">
                          <a:latin typeface="Times New Roman" panose="02020603050405020304" pitchFamily="18" charset="0"/>
                          <a:cs typeface="Times New Roman" panose="02020603050405020304" pitchFamily="18" charset="0"/>
                        </a:rPr>
                        <a:t>Test Scenario</a:t>
                      </a:r>
                    </a:p>
                  </a:txBody>
                  <a:tcPr/>
                </a:tc>
                <a:tc>
                  <a:txBody>
                    <a:bodyPr/>
                    <a:lstStyle/>
                    <a:p>
                      <a:pPr algn="ctr"/>
                      <a:r>
                        <a:rPr lang="en-IN" sz="2000" dirty="0">
                          <a:latin typeface="Times New Roman" panose="02020603050405020304" pitchFamily="18" charset="0"/>
                          <a:cs typeface="Times New Roman" panose="02020603050405020304" pitchFamily="18" charset="0"/>
                        </a:rPr>
                        <a:t>Input</a:t>
                      </a:r>
                    </a:p>
                  </a:txBody>
                  <a:tcPr/>
                </a:tc>
                <a:tc>
                  <a:txBody>
                    <a:bodyPr/>
                    <a:lstStyle/>
                    <a:p>
                      <a:pPr algn="ctr"/>
                      <a:r>
                        <a:rPr lang="en-IN" sz="2000" dirty="0">
                          <a:latin typeface="Times New Roman" panose="02020603050405020304" pitchFamily="18" charset="0"/>
                          <a:cs typeface="Times New Roman" panose="02020603050405020304" pitchFamily="18" charset="0"/>
                        </a:rPr>
                        <a:t>Expected Output</a:t>
                      </a:r>
                    </a:p>
                  </a:txBody>
                  <a:tcPr/>
                </a:tc>
                <a:tc>
                  <a:txBody>
                    <a:bodyPr/>
                    <a:lstStyle/>
                    <a:p>
                      <a:pPr algn="ctr"/>
                      <a:r>
                        <a:rPr lang="en-IN" sz="2000" dirty="0">
                          <a:latin typeface="Times New Roman" panose="02020603050405020304" pitchFamily="18" charset="0"/>
                          <a:cs typeface="Times New Roman" panose="02020603050405020304" pitchFamily="18" charset="0"/>
                        </a:rPr>
                        <a:t>Pass/Fail</a:t>
                      </a:r>
                    </a:p>
                  </a:txBody>
                  <a:tcPr/>
                </a:tc>
                <a:extLst>
                  <a:ext uri="{0D108BD9-81ED-4DB2-BD59-A6C34878D82A}">
                    <a16:rowId xmlns:a16="http://schemas.microsoft.com/office/drawing/2014/main" val="3431372134"/>
                  </a:ext>
                </a:extLst>
              </a:tr>
              <a:tr h="1110703">
                <a:tc>
                  <a:txBody>
                    <a:bodyPr/>
                    <a:lstStyle/>
                    <a:p>
                      <a:pPr algn="ctr"/>
                      <a:r>
                        <a:rPr lang="en-IN" b="1" dirty="0">
                          <a:latin typeface="Times New Roman" panose="02020603050405020304" pitchFamily="18" charset="0"/>
                          <a:cs typeface="Times New Roman" panose="02020603050405020304" pitchFamily="18" charset="0"/>
                        </a:rPr>
                        <a:t>1.1</a:t>
                      </a:r>
                      <a:endParaRPr lang="en-IN" dirty="0">
                        <a:latin typeface="Times New Roman" panose="02020603050405020304" pitchFamily="18" charset="0"/>
                        <a:cs typeface="Times New Roman" panose="02020603050405020304" pitchFamily="18" charset="0"/>
                      </a:endParaRPr>
                    </a:p>
                  </a:txBody>
                  <a:tcPr anchor="ctr"/>
                </a:tc>
                <a:tc>
                  <a:txBody>
                    <a:bodyPr/>
                    <a:lstStyle/>
                    <a:p>
                      <a:pPr algn="ctr"/>
                      <a:r>
                        <a:rPr lang="en-IN" dirty="0">
                          <a:latin typeface="Times New Roman" panose="02020603050405020304" pitchFamily="18" charset="0"/>
                          <a:cs typeface="Times New Roman" panose="02020603050405020304" pitchFamily="18" charset="0"/>
                        </a:rPr>
                        <a:t>Valid Signup</a:t>
                      </a:r>
                    </a:p>
                  </a:txBody>
                  <a:tcPr anchor="ctr"/>
                </a:tc>
                <a:tc>
                  <a:txBody>
                    <a:bodyPr/>
                    <a:lstStyle/>
                    <a:p>
                      <a:pPr algn="ctr"/>
                      <a:r>
                        <a:rPr lang="en-US" dirty="0">
                          <a:latin typeface="Times New Roman" panose="02020603050405020304" pitchFamily="18" charset="0"/>
                          <a:cs typeface="Times New Roman" panose="02020603050405020304" pitchFamily="18" charset="0"/>
                        </a:rPr>
                        <a:t>Valid application number and hall ticket number</a:t>
                      </a:r>
                    </a:p>
                  </a:txBody>
                  <a:tcPr anchor="ctr"/>
                </a:tc>
                <a:tc>
                  <a:txBody>
                    <a:bodyPr/>
                    <a:lstStyle/>
                    <a:p>
                      <a:pPr algn="ctr"/>
                      <a:r>
                        <a:rPr lang="en-US" dirty="0">
                          <a:latin typeface="Times New Roman" panose="02020603050405020304" pitchFamily="18" charset="0"/>
                          <a:cs typeface="Times New Roman" panose="02020603050405020304" pitchFamily="18" charset="0"/>
                        </a:rPr>
                        <a:t>User successfully signs up, and a secret key is generated</a:t>
                      </a:r>
                    </a:p>
                  </a:txBody>
                  <a:tcPr anchor="ctr"/>
                </a:tc>
                <a:tc>
                  <a:txBody>
                    <a:bodyPr/>
                    <a:lstStyle/>
                    <a:p>
                      <a:pPr algn="ctr"/>
                      <a:r>
                        <a:rPr lang="en-US" dirty="0">
                          <a:latin typeface="Times New Roman" panose="02020603050405020304" pitchFamily="18" charset="0"/>
                          <a:cs typeface="Times New Roman" panose="02020603050405020304" pitchFamily="18" charset="0"/>
                        </a:rPr>
                        <a:t>Pass</a:t>
                      </a:r>
                      <a:endParaRPr lang="en-IN"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339149757"/>
                  </a:ext>
                </a:extLst>
              </a:tr>
              <a:tr h="1110703">
                <a:tc>
                  <a:txBody>
                    <a:bodyPr/>
                    <a:lstStyle/>
                    <a:p>
                      <a:pPr algn="ctr"/>
                      <a:r>
                        <a:rPr lang="en-IN" b="1" dirty="0">
                          <a:latin typeface="Times New Roman" panose="02020603050405020304" pitchFamily="18" charset="0"/>
                          <a:cs typeface="Times New Roman" panose="02020603050405020304" pitchFamily="18" charset="0"/>
                        </a:rPr>
                        <a:t>1.2</a:t>
                      </a:r>
                      <a:endParaRPr lang="en-IN" dirty="0">
                        <a:latin typeface="Times New Roman" panose="02020603050405020304" pitchFamily="18" charset="0"/>
                        <a:cs typeface="Times New Roman" panose="02020603050405020304" pitchFamily="18" charset="0"/>
                      </a:endParaRPr>
                    </a:p>
                  </a:txBody>
                  <a:tcPr anchor="ctr"/>
                </a:tc>
                <a:tc>
                  <a:txBody>
                    <a:bodyPr/>
                    <a:lstStyle/>
                    <a:p>
                      <a:pPr algn="ctr"/>
                      <a:r>
                        <a:rPr lang="en-IN" dirty="0">
                          <a:latin typeface="Times New Roman" panose="02020603050405020304" pitchFamily="18" charset="0"/>
                          <a:cs typeface="Times New Roman" panose="02020603050405020304" pitchFamily="18" charset="0"/>
                        </a:rPr>
                        <a:t>Invalid Application Number</a:t>
                      </a:r>
                    </a:p>
                  </a:txBody>
                  <a:tcPr anchor="ctr"/>
                </a:tc>
                <a:tc>
                  <a:txBody>
                    <a:bodyPr/>
                    <a:lstStyle/>
                    <a:p>
                      <a:pPr algn="ctr"/>
                      <a:r>
                        <a:rPr lang="en-US" dirty="0">
                          <a:latin typeface="Times New Roman" panose="02020603050405020304" pitchFamily="18" charset="0"/>
                          <a:cs typeface="Times New Roman" panose="02020603050405020304" pitchFamily="18" charset="0"/>
                        </a:rPr>
                        <a:t>Invalid application number, valid hall ticket number</a:t>
                      </a:r>
                    </a:p>
                  </a:txBody>
                  <a:tcPr anchor="ctr"/>
                </a:tc>
                <a:tc>
                  <a:txBody>
                    <a:bodyPr/>
                    <a:lstStyle/>
                    <a:p>
                      <a:pPr algn="ctr"/>
                      <a:r>
                        <a:rPr lang="en-US" dirty="0">
                          <a:latin typeface="Times New Roman" panose="02020603050405020304" pitchFamily="18" charset="0"/>
                          <a:cs typeface="Times New Roman" panose="02020603050405020304" pitchFamily="18" charset="0"/>
                        </a:rPr>
                        <a:t>Error message indicating the application number does not exist</a:t>
                      </a:r>
                    </a:p>
                  </a:txBody>
                  <a:tcPr anchor="ctr"/>
                </a:tc>
                <a:tc>
                  <a:txBody>
                    <a:bodyPr/>
                    <a:lstStyle/>
                    <a:p>
                      <a:pPr algn="ctr"/>
                      <a:r>
                        <a:rPr lang="en-US" dirty="0">
                          <a:latin typeface="Times New Roman" panose="02020603050405020304" pitchFamily="18" charset="0"/>
                          <a:cs typeface="Times New Roman" panose="02020603050405020304" pitchFamily="18" charset="0"/>
                        </a:rPr>
                        <a:t>Pass</a:t>
                      </a:r>
                      <a:endParaRPr lang="en-IN"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743954104"/>
                  </a:ext>
                </a:extLst>
              </a:tr>
              <a:tr h="1110703">
                <a:tc>
                  <a:txBody>
                    <a:bodyPr/>
                    <a:lstStyle/>
                    <a:p>
                      <a:pPr algn="ctr"/>
                      <a:r>
                        <a:rPr lang="en-IN" b="1" dirty="0">
                          <a:latin typeface="Times New Roman" panose="02020603050405020304" pitchFamily="18" charset="0"/>
                          <a:cs typeface="Times New Roman" panose="02020603050405020304" pitchFamily="18" charset="0"/>
                        </a:rPr>
                        <a:t>1.3</a:t>
                      </a:r>
                      <a:endParaRPr lang="en-IN" dirty="0">
                        <a:latin typeface="Times New Roman" panose="02020603050405020304" pitchFamily="18" charset="0"/>
                        <a:cs typeface="Times New Roman" panose="02020603050405020304" pitchFamily="18" charset="0"/>
                      </a:endParaRPr>
                    </a:p>
                  </a:txBody>
                  <a:tcPr anchor="ctr"/>
                </a:tc>
                <a:tc>
                  <a:txBody>
                    <a:bodyPr/>
                    <a:lstStyle/>
                    <a:p>
                      <a:pPr algn="ctr"/>
                      <a:r>
                        <a:rPr lang="en-IN" dirty="0">
                          <a:latin typeface="Times New Roman" panose="02020603050405020304" pitchFamily="18" charset="0"/>
                          <a:cs typeface="Times New Roman" panose="02020603050405020304" pitchFamily="18" charset="0"/>
                        </a:rPr>
                        <a:t>Invalid Hall Ticket Number</a:t>
                      </a:r>
                    </a:p>
                  </a:txBody>
                  <a:tcPr anchor="ctr"/>
                </a:tc>
                <a:tc>
                  <a:txBody>
                    <a:bodyPr/>
                    <a:lstStyle/>
                    <a:p>
                      <a:pPr algn="ctr"/>
                      <a:r>
                        <a:rPr lang="en-US" dirty="0">
                          <a:latin typeface="Times New Roman" panose="02020603050405020304" pitchFamily="18" charset="0"/>
                          <a:cs typeface="Times New Roman" panose="02020603050405020304" pitchFamily="18" charset="0"/>
                        </a:rPr>
                        <a:t>Valid application number, invalid hall ticket number</a:t>
                      </a:r>
                    </a:p>
                  </a:txBody>
                  <a:tcPr anchor="ctr"/>
                </a:tc>
                <a:tc>
                  <a:txBody>
                    <a:bodyPr/>
                    <a:lstStyle/>
                    <a:p>
                      <a:pPr algn="ctr"/>
                      <a:r>
                        <a:rPr lang="en-US" dirty="0">
                          <a:latin typeface="Times New Roman" panose="02020603050405020304" pitchFamily="18" charset="0"/>
                          <a:cs typeface="Times New Roman" panose="02020603050405020304" pitchFamily="18" charset="0"/>
                        </a:rPr>
                        <a:t>Error message indicating the hall ticket number does not match</a:t>
                      </a:r>
                    </a:p>
                  </a:txBody>
                  <a:tcPr anchor="ctr"/>
                </a:tc>
                <a:tc>
                  <a:txBody>
                    <a:bodyPr/>
                    <a:lstStyle/>
                    <a:p>
                      <a:pPr algn="ctr"/>
                      <a:r>
                        <a:rPr lang="en-US" dirty="0">
                          <a:latin typeface="Times New Roman" panose="02020603050405020304" pitchFamily="18" charset="0"/>
                          <a:cs typeface="Times New Roman" panose="02020603050405020304" pitchFamily="18" charset="0"/>
                        </a:rPr>
                        <a:t>Pass</a:t>
                      </a:r>
                      <a:endParaRPr lang="en-IN"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360592052"/>
                  </a:ext>
                </a:extLst>
              </a:tr>
              <a:tr h="1110703">
                <a:tc>
                  <a:txBody>
                    <a:bodyPr/>
                    <a:lstStyle/>
                    <a:p>
                      <a:pPr algn="ctr"/>
                      <a:r>
                        <a:rPr lang="en-IN" b="1" dirty="0">
                          <a:latin typeface="Times New Roman" panose="02020603050405020304" pitchFamily="18" charset="0"/>
                          <a:cs typeface="Times New Roman" panose="02020603050405020304" pitchFamily="18" charset="0"/>
                        </a:rPr>
                        <a:t>1.4</a:t>
                      </a:r>
                      <a:endParaRPr lang="en-IN" dirty="0">
                        <a:latin typeface="Times New Roman" panose="02020603050405020304" pitchFamily="18" charset="0"/>
                        <a:cs typeface="Times New Roman" panose="02020603050405020304" pitchFamily="18" charset="0"/>
                      </a:endParaRPr>
                    </a:p>
                  </a:txBody>
                  <a:tcPr anchor="ctr"/>
                </a:tc>
                <a:tc>
                  <a:txBody>
                    <a:bodyPr/>
                    <a:lstStyle/>
                    <a:p>
                      <a:pPr algn="ctr"/>
                      <a:r>
                        <a:rPr lang="en-US" dirty="0">
                          <a:latin typeface="Times New Roman" panose="02020603050405020304" pitchFamily="18" charset="0"/>
                          <a:cs typeface="Times New Roman" panose="02020603050405020304" pitchFamily="18" charset="0"/>
                        </a:rPr>
                        <a:t>Both Invalid Application and Hall Ticket Numbers</a:t>
                      </a:r>
                    </a:p>
                  </a:txBody>
                  <a:tcPr anchor="ctr"/>
                </a:tc>
                <a:tc>
                  <a:txBody>
                    <a:bodyPr/>
                    <a:lstStyle/>
                    <a:p>
                      <a:pPr algn="ctr"/>
                      <a:r>
                        <a:rPr lang="en-US" dirty="0">
                          <a:latin typeface="Times New Roman" panose="02020603050405020304" pitchFamily="18" charset="0"/>
                          <a:cs typeface="Times New Roman" panose="02020603050405020304" pitchFamily="18" charset="0"/>
                        </a:rPr>
                        <a:t>Invalid application number and hall ticket number</a:t>
                      </a:r>
                      <a:endParaRPr lang="en-IN" dirty="0">
                        <a:latin typeface="Times New Roman" panose="02020603050405020304" pitchFamily="18" charset="0"/>
                        <a:cs typeface="Times New Roman" panose="02020603050405020304" pitchFamily="18" charset="0"/>
                      </a:endParaRPr>
                    </a:p>
                  </a:txBody>
                  <a:tcPr/>
                </a:tc>
                <a:tc>
                  <a:txBody>
                    <a:bodyPr/>
                    <a:lstStyle/>
                    <a:p>
                      <a:pPr algn="ctr"/>
                      <a:r>
                        <a:rPr lang="en-US" dirty="0">
                          <a:latin typeface="Times New Roman" panose="02020603050405020304" pitchFamily="18" charset="0"/>
                          <a:cs typeface="Times New Roman" panose="02020603050405020304" pitchFamily="18" charset="0"/>
                        </a:rPr>
                        <a:t>Error message indicating both details are incorrect</a:t>
                      </a:r>
                      <a:endParaRPr lang="en-IN" dirty="0">
                        <a:latin typeface="Times New Roman" panose="02020603050405020304" pitchFamily="18" charset="0"/>
                        <a:cs typeface="Times New Roman" panose="02020603050405020304" pitchFamily="18" charset="0"/>
                      </a:endParaRPr>
                    </a:p>
                  </a:txBody>
                  <a:tcPr/>
                </a:tc>
                <a:tc>
                  <a:txBody>
                    <a:bodyPr/>
                    <a:lstStyle/>
                    <a:p>
                      <a:pPr algn="ctr"/>
                      <a:endParaRPr lang="en-US" dirty="0">
                        <a:latin typeface="Times New Roman" panose="02020603050405020304" pitchFamily="18" charset="0"/>
                        <a:cs typeface="Times New Roman" panose="02020603050405020304" pitchFamily="18" charset="0"/>
                      </a:endParaRPr>
                    </a:p>
                    <a:p>
                      <a:pPr algn="ctr"/>
                      <a:r>
                        <a:rPr lang="en-US" dirty="0">
                          <a:latin typeface="Times New Roman" panose="02020603050405020304" pitchFamily="18" charset="0"/>
                          <a:cs typeface="Times New Roman" panose="02020603050405020304" pitchFamily="18" charset="0"/>
                        </a:rPr>
                        <a:t>Pass</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31816356"/>
                  </a:ext>
                </a:extLst>
              </a:tr>
            </a:tbl>
          </a:graphicData>
        </a:graphic>
      </p:graphicFrame>
      <p:sp>
        <p:nvSpPr>
          <p:cNvPr id="10" name="TextBox 9">
            <a:extLst>
              <a:ext uri="{FF2B5EF4-FFF2-40B4-BE49-F238E27FC236}">
                <a16:creationId xmlns:a16="http://schemas.microsoft.com/office/drawing/2014/main" id="{C4217BFC-7FF0-4EBD-9DB7-8181CFC1F1B8}"/>
              </a:ext>
            </a:extLst>
          </p:cNvPr>
          <p:cNvSpPr txBox="1"/>
          <p:nvPr/>
        </p:nvSpPr>
        <p:spPr>
          <a:xfrm>
            <a:off x="802341" y="482618"/>
            <a:ext cx="2622176" cy="400110"/>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For Sign up:</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3872537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95B8D4A-18A8-4121-BF26-59BA4566CFBF}"/>
              </a:ext>
            </a:extLst>
          </p:cNvPr>
          <p:cNvSpPr>
            <a:spLocks noGrp="1"/>
          </p:cNvSpPr>
          <p:nvPr>
            <p:ph type="dt" sz="half" idx="10"/>
          </p:nvPr>
        </p:nvSpPr>
        <p:spPr/>
        <p:txBody>
          <a:bodyPr/>
          <a:lstStyle/>
          <a:p>
            <a:fld id="{273920F3-E9EE-4606-B483-2A8FAA3529CA}" type="datetime1">
              <a:rPr lang="en-US" smtClean="0"/>
              <a:t>10/13/2025</a:t>
            </a:fld>
            <a:endParaRPr lang="en-US"/>
          </a:p>
        </p:txBody>
      </p:sp>
      <p:sp>
        <p:nvSpPr>
          <p:cNvPr id="3" name="Footer Placeholder 2">
            <a:extLst>
              <a:ext uri="{FF2B5EF4-FFF2-40B4-BE49-F238E27FC236}">
                <a16:creationId xmlns:a16="http://schemas.microsoft.com/office/drawing/2014/main" id="{9C46D278-1808-484E-87EC-DD4D66882D6A}"/>
              </a:ext>
            </a:extLst>
          </p:cNvPr>
          <p:cNvSpPr>
            <a:spLocks noGrp="1"/>
          </p:cNvSpPr>
          <p:nvPr>
            <p:ph type="ftr" sz="quarter" idx="11"/>
          </p:nvPr>
        </p:nvSpPr>
        <p:spPr/>
        <p:txBody>
          <a:bodyPr/>
          <a:lstStyle/>
          <a:p>
            <a:r>
              <a:rPr lang="en-US"/>
              <a:t>NextGen College Advisor: AI-Powered Guidance for Students</a:t>
            </a:r>
          </a:p>
        </p:txBody>
      </p:sp>
      <p:sp>
        <p:nvSpPr>
          <p:cNvPr id="4" name="Slide Number Placeholder 3">
            <a:extLst>
              <a:ext uri="{FF2B5EF4-FFF2-40B4-BE49-F238E27FC236}">
                <a16:creationId xmlns:a16="http://schemas.microsoft.com/office/drawing/2014/main" id="{A8B24C22-A598-495C-A03E-ACEB7E36DD42}"/>
              </a:ext>
            </a:extLst>
          </p:cNvPr>
          <p:cNvSpPr>
            <a:spLocks noGrp="1"/>
          </p:cNvSpPr>
          <p:nvPr>
            <p:ph type="sldNum" sz="quarter" idx="12"/>
          </p:nvPr>
        </p:nvSpPr>
        <p:spPr/>
        <p:txBody>
          <a:bodyPr/>
          <a:lstStyle/>
          <a:p>
            <a:fld id="{FA11DADA-ACB1-42D7-8648-2A253C2E43B8}" type="slidenum">
              <a:rPr lang="en-US" smtClean="0"/>
              <a:pPr/>
              <a:t>20</a:t>
            </a:fld>
            <a:endParaRPr lang="en-US"/>
          </a:p>
        </p:txBody>
      </p:sp>
      <p:graphicFrame>
        <p:nvGraphicFramePr>
          <p:cNvPr id="5" name="Table 4">
            <a:extLst>
              <a:ext uri="{FF2B5EF4-FFF2-40B4-BE49-F238E27FC236}">
                <a16:creationId xmlns:a16="http://schemas.microsoft.com/office/drawing/2014/main" id="{649010F8-476F-4CA8-A6F5-3C720EBB27C9}"/>
              </a:ext>
            </a:extLst>
          </p:cNvPr>
          <p:cNvGraphicFramePr>
            <a:graphicFrameLocks noGrp="1"/>
          </p:cNvGraphicFramePr>
          <p:nvPr>
            <p:extLst>
              <p:ext uri="{D42A27DB-BD31-4B8C-83A1-F6EECF244321}">
                <p14:modId xmlns:p14="http://schemas.microsoft.com/office/powerpoint/2010/main" val="2929060607"/>
              </p:ext>
            </p:extLst>
          </p:nvPr>
        </p:nvGraphicFramePr>
        <p:xfrm>
          <a:off x="838200" y="857074"/>
          <a:ext cx="10551459" cy="5143852"/>
        </p:xfrm>
        <a:graphic>
          <a:graphicData uri="http://schemas.openxmlformats.org/drawingml/2006/table">
            <a:tbl>
              <a:tblPr firstRow="1" bandRow="1">
                <a:tableStyleId>{5C22544A-7EE6-4342-B048-85BDC9FD1C3A}</a:tableStyleId>
              </a:tblPr>
              <a:tblGrid>
                <a:gridCol w="1161279">
                  <a:extLst>
                    <a:ext uri="{9D8B030D-6E8A-4147-A177-3AD203B41FA5}">
                      <a16:colId xmlns:a16="http://schemas.microsoft.com/office/drawing/2014/main" val="3968098617"/>
                    </a:ext>
                  </a:extLst>
                </a:gridCol>
                <a:gridCol w="2347545">
                  <a:extLst>
                    <a:ext uri="{9D8B030D-6E8A-4147-A177-3AD203B41FA5}">
                      <a16:colId xmlns:a16="http://schemas.microsoft.com/office/drawing/2014/main" val="697899857"/>
                    </a:ext>
                  </a:extLst>
                </a:gridCol>
                <a:gridCol w="2347545">
                  <a:extLst>
                    <a:ext uri="{9D8B030D-6E8A-4147-A177-3AD203B41FA5}">
                      <a16:colId xmlns:a16="http://schemas.microsoft.com/office/drawing/2014/main" val="1577248526"/>
                    </a:ext>
                  </a:extLst>
                </a:gridCol>
                <a:gridCol w="2642172">
                  <a:extLst>
                    <a:ext uri="{9D8B030D-6E8A-4147-A177-3AD203B41FA5}">
                      <a16:colId xmlns:a16="http://schemas.microsoft.com/office/drawing/2014/main" val="430824365"/>
                    </a:ext>
                  </a:extLst>
                </a:gridCol>
                <a:gridCol w="2052918">
                  <a:extLst>
                    <a:ext uri="{9D8B030D-6E8A-4147-A177-3AD203B41FA5}">
                      <a16:colId xmlns:a16="http://schemas.microsoft.com/office/drawing/2014/main" val="1883588811"/>
                    </a:ext>
                  </a:extLst>
                </a:gridCol>
              </a:tblGrid>
              <a:tr h="665903">
                <a:tc>
                  <a:txBody>
                    <a:bodyPr/>
                    <a:lstStyle/>
                    <a:p>
                      <a:pPr algn="ctr"/>
                      <a:r>
                        <a:rPr lang="en-US" sz="2000" dirty="0">
                          <a:latin typeface="Times New Roman" panose="02020603050405020304" pitchFamily="18" charset="0"/>
                          <a:cs typeface="Times New Roman" panose="02020603050405020304" pitchFamily="18" charset="0"/>
                        </a:rPr>
                        <a:t>Test case ID</a:t>
                      </a:r>
                      <a:endParaRPr lang="en-IN" sz="2000" dirty="0">
                        <a:latin typeface="Times New Roman" panose="02020603050405020304" pitchFamily="18" charset="0"/>
                        <a:cs typeface="Times New Roman" panose="02020603050405020304" pitchFamily="18" charset="0"/>
                      </a:endParaRPr>
                    </a:p>
                  </a:txBody>
                  <a:tcPr/>
                </a:tc>
                <a:tc>
                  <a:txBody>
                    <a:bodyPr/>
                    <a:lstStyle/>
                    <a:p>
                      <a:pPr algn="ctr"/>
                      <a:r>
                        <a:rPr lang="en-IN" sz="2000" dirty="0">
                          <a:latin typeface="Times New Roman" panose="02020603050405020304" pitchFamily="18" charset="0"/>
                          <a:cs typeface="Times New Roman" panose="02020603050405020304" pitchFamily="18" charset="0"/>
                        </a:rPr>
                        <a:t>Test Scenario</a:t>
                      </a:r>
                    </a:p>
                  </a:txBody>
                  <a:tcPr/>
                </a:tc>
                <a:tc>
                  <a:txBody>
                    <a:bodyPr/>
                    <a:lstStyle/>
                    <a:p>
                      <a:pPr algn="ctr"/>
                      <a:r>
                        <a:rPr lang="en-IN" sz="2000" dirty="0">
                          <a:latin typeface="Times New Roman" panose="02020603050405020304" pitchFamily="18" charset="0"/>
                          <a:cs typeface="Times New Roman" panose="02020603050405020304" pitchFamily="18" charset="0"/>
                        </a:rPr>
                        <a:t>Input</a:t>
                      </a:r>
                    </a:p>
                  </a:txBody>
                  <a:tcPr/>
                </a:tc>
                <a:tc>
                  <a:txBody>
                    <a:bodyPr/>
                    <a:lstStyle/>
                    <a:p>
                      <a:pPr algn="ctr"/>
                      <a:r>
                        <a:rPr lang="en-IN" sz="2000" dirty="0">
                          <a:latin typeface="Times New Roman" panose="02020603050405020304" pitchFamily="18" charset="0"/>
                          <a:cs typeface="Times New Roman" panose="02020603050405020304" pitchFamily="18" charset="0"/>
                        </a:rPr>
                        <a:t>Expected Output</a:t>
                      </a:r>
                    </a:p>
                  </a:txBody>
                  <a:tcPr/>
                </a:tc>
                <a:tc>
                  <a:txBody>
                    <a:bodyPr/>
                    <a:lstStyle/>
                    <a:p>
                      <a:pPr algn="ctr"/>
                      <a:r>
                        <a:rPr lang="en-IN" sz="2000" dirty="0">
                          <a:latin typeface="Times New Roman" panose="02020603050405020304" pitchFamily="18" charset="0"/>
                          <a:cs typeface="Times New Roman" panose="02020603050405020304" pitchFamily="18" charset="0"/>
                        </a:rPr>
                        <a:t>Pass/Fail</a:t>
                      </a:r>
                    </a:p>
                  </a:txBody>
                  <a:tcPr/>
                </a:tc>
                <a:extLst>
                  <a:ext uri="{0D108BD9-81ED-4DB2-BD59-A6C34878D82A}">
                    <a16:rowId xmlns:a16="http://schemas.microsoft.com/office/drawing/2014/main" val="966879065"/>
                  </a:ext>
                </a:extLst>
              </a:tr>
              <a:tr h="1110703">
                <a:tc>
                  <a:txBody>
                    <a:bodyPr/>
                    <a:lstStyle/>
                    <a:p>
                      <a:pPr algn="ctr"/>
                      <a:r>
                        <a:rPr lang="en-IN" b="1">
                          <a:latin typeface="Times New Roman" panose="02020603050405020304" pitchFamily="18" charset="0"/>
                          <a:cs typeface="Times New Roman" panose="02020603050405020304" pitchFamily="18" charset="0"/>
                        </a:rPr>
                        <a:t>4.1</a:t>
                      </a:r>
                      <a:endParaRPr lang="en-IN">
                        <a:latin typeface="Times New Roman" panose="02020603050405020304" pitchFamily="18" charset="0"/>
                        <a:cs typeface="Times New Roman" panose="02020603050405020304" pitchFamily="18" charset="0"/>
                      </a:endParaRPr>
                    </a:p>
                  </a:txBody>
                  <a:tcPr anchor="ctr"/>
                </a:tc>
                <a:tc>
                  <a:txBody>
                    <a:bodyPr/>
                    <a:lstStyle/>
                    <a:p>
                      <a:pPr algn="ctr"/>
                      <a:r>
                        <a:rPr lang="en-IN">
                          <a:latin typeface="Times New Roman" panose="02020603050405020304" pitchFamily="18" charset="0"/>
                          <a:cs typeface="Times New Roman" panose="02020603050405020304" pitchFamily="18" charset="0"/>
                        </a:rPr>
                        <a:t>Accurate Prediction</a:t>
                      </a:r>
                    </a:p>
                  </a:txBody>
                  <a:tcPr anchor="ctr"/>
                </a:tc>
                <a:tc>
                  <a:txBody>
                    <a:bodyPr/>
                    <a:lstStyle/>
                    <a:p>
                      <a:pPr algn="ctr"/>
                      <a:r>
                        <a:rPr lang="en-US">
                          <a:latin typeface="Times New Roman" panose="02020603050405020304" pitchFamily="18" charset="0"/>
                          <a:cs typeface="Times New Roman" panose="02020603050405020304" pitchFamily="18" charset="0"/>
                        </a:rPr>
                        <a:t>KCET rank with historical data available</a:t>
                      </a:r>
                    </a:p>
                  </a:txBody>
                  <a:tcPr anchor="ctr"/>
                </a:tc>
                <a:tc>
                  <a:txBody>
                    <a:bodyPr/>
                    <a:lstStyle/>
                    <a:p>
                      <a:pPr algn="ctr"/>
                      <a:r>
                        <a:rPr lang="en-US">
                          <a:latin typeface="Times New Roman" panose="02020603050405020304" pitchFamily="18" charset="0"/>
                          <a:cs typeface="Times New Roman" panose="02020603050405020304" pitchFamily="18" charset="0"/>
                        </a:rPr>
                        <a:t>System accurately predicts the cutoff and chances of admission</a:t>
                      </a:r>
                    </a:p>
                  </a:txBody>
                  <a:tcPr anchor="ctr"/>
                </a:tc>
                <a:tc>
                  <a:txBody>
                    <a:bodyPr/>
                    <a:lstStyle/>
                    <a:p>
                      <a:pPr algn="ctr"/>
                      <a:r>
                        <a:rPr lang="en-US" dirty="0">
                          <a:latin typeface="Times New Roman" panose="02020603050405020304" pitchFamily="18" charset="0"/>
                          <a:cs typeface="Times New Roman" panose="02020603050405020304" pitchFamily="18" charset="0"/>
                        </a:rPr>
                        <a:t>Pass</a:t>
                      </a:r>
                      <a:endParaRPr lang="en-IN"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425402865"/>
                  </a:ext>
                </a:extLst>
              </a:tr>
              <a:tr h="1110703">
                <a:tc>
                  <a:txBody>
                    <a:bodyPr/>
                    <a:lstStyle/>
                    <a:p>
                      <a:pPr algn="ctr"/>
                      <a:r>
                        <a:rPr lang="en-IN" b="1">
                          <a:latin typeface="Times New Roman" panose="02020603050405020304" pitchFamily="18" charset="0"/>
                          <a:cs typeface="Times New Roman" panose="02020603050405020304" pitchFamily="18" charset="0"/>
                        </a:rPr>
                        <a:t>4.2</a:t>
                      </a:r>
                      <a:endParaRPr lang="en-IN">
                        <a:latin typeface="Times New Roman" panose="02020603050405020304" pitchFamily="18" charset="0"/>
                        <a:cs typeface="Times New Roman" panose="02020603050405020304" pitchFamily="18" charset="0"/>
                      </a:endParaRPr>
                    </a:p>
                  </a:txBody>
                  <a:tcPr anchor="ctr"/>
                </a:tc>
                <a:tc>
                  <a:txBody>
                    <a:bodyPr/>
                    <a:lstStyle/>
                    <a:p>
                      <a:pPr algn="ctr"/>
                      <a:r>
                        <a:rPr lang="en-US" dirty="0">
                          <a:latin typeface="Times New Roman" panose="02020603050405020304" pitchFamily="18" charset="0"/>
                          <a:cs typeface="Times New Roman" panose="02020603050405020304" pitchFamily="18" charset="0"/>
                        </a:rPr>
                        <a:t>Edge Case with Lowest Rank</a:t>
                      </a:r>
                    </a:p>
                  </a:txBody>
                  <a:tcPr anchor="ctr"/>
                </a:tc>
                <a:tc>
                  <a:txBody>
                    <a:bodyPr/>
                    <a:lstStyle/>
                    <a:p>
                      <a:pPr algn="ctr"/>
                      <a:r>
                        <a:rPr lang="en-US">
                          <a:latin typeface="Times New Roman" panose="02020603050405020304" pitchFamily="18" charset="0"/>
                          <a:cs typeface="Times New Roman" panose="02020603050405020304" pitchFamily="18" charset="0"/>
                        </a:rPr>
                        <a:t>A very low KCET rank</a:t>
                      </a:r>
                    </a:p>
                  </a:txBody>
                  <a:tcPr anchor="ctr"/>
                </a:tc>
                <a:tc>
                  <a:txBody>
                    <a:bodyPr/>
                    <a:lstStyle/>
                    <a:p>
                      <a:pPr algn="ctr"/>
                      <a:r>
                        <a:rPr lang="en-US" dirty="0">
                          <a:latin typeface="Times New Roman" panose="02020603050405020304" pitchFamily="18" charset="0"/>
                          <a:cs typeface="Times New Roman" panose="02020603050405020304" pitchFamily="18" charset="0"/>
                        </a:rPr>
                        <a:t>System predicts low chances of getting into top colleges</a:t>
                      </a:r>
                    </a:p>
                  </a:txBody>
                  <a:tcPr anchor="ctr"/>
                </a:tc>
                <a:tc>
                  <a:txBody>
                    <a:bodyPr/>
                    <a:lstStyle/>
                    <a:p>
                      <a:pPr algn="ctr"/>
                      <a:r>
                        <a:rPr lang="en-US" dirty="0">
                          <a:latin typeface="Times New Roman" panose="02020603050405020304" pitchFamily="18" charset="0"/>
                          <a:cs typeface="Times New Roman" panose="02020603050405020304" pitchFamily="18" charset="0"/>
                        </a:rPr>
                        <a:t>Pass</a:t>
                      </a:r>
                      <a:endParaRPr lang="en-IN"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262419793"/>
                  </a:ext>
                </a:extLst>
              </a:tr>
              <a:tr h="1110703">
                <a:tc>
                  <a:txBody>
                    <a:bodyPr/>
                    <a:lstStyle/>
                    <a:p>
                      <a:pPr algn="ctr"/>
                      <a:r>
                        <a:rPr lang="en-IN" b="1">
                          <a:latin typeface="Times New Roman" panose="02020603050405020304" pitchFamily="18" charset="0"/>
                          <a:cs typeface="Times New Roman" panose="02020603050405020304" pitchFamily="18" charset="0"/>
                        </a:rPr>
                        <a:t>4.3</a:t>
                      </a:r>
                      <a:endParaRPr lang="en-IN">
                        <a:latin typeface="Times New Roman" panose="02020603050405020304" pitchFamily="18" charset="0"/>
                        <a:cs typeface="Times New Roman" panose="02020603050405020304" pitchFamily="18" charset="0"/>
                      </a:endParaRPr>
                    </a:p>
                  </a:txBody>
                  <a:tcPr anchor="ctr"/>
                </a:tc>
                <a:tc>
                  <a:txBody>
                    <a:bodyPr/>
                    <a:lstStyle/>
                    <a:p>
                      <a:pPr algn="ctr"/>
                      <a:r>
                        <a:rPr lang="en-US" dirty="0">
                          <a:latin typeface="Times New Roman" panose="02020603050405020304" pitchFamily="18" charset="0"/>
                          <a:cs typeface="Times New Roman" panose="02020603050405020304" pitchFamily="18" charset="0"/>
                        </a:rPr>
                        <a:t>Edge Case with Highest Rank</a:t>
                      </a:r>
                    </a:p>
                  </a:txBody>
                  <a:tcPr anchor="ctr"/>
                </a:tc>
                <a:tc>
                  <a:txBody>
                    <a:bodyPr/>
                    <a:lstStyle/>
                    <a:p>
                      <a:pPr algn="ctr"/>
                      <a:r>
                        <a:rPr lang="en-US">
                          <a:latin typeface="Times New Roman" panose="02020603050405020304" pitchFamily="18" charset="0"/>
                          <a:cs typeface="Times New Roman" panose="02020603050405020304" pitchFamily="18" charset="0"/>
                        </a:rPr>
                        <a:t>A very high KCET rank</a:t>
                      </a:r>
                    </a:p>
                  </a:txBody>
                  <a:tcPr anchor="ctr"/>
                </a:tc>
                <a:tc>
                  <a:txBody>
                    <a:bodyPr/>
                    <a:lstStyle/>
                    <a:p>
                      <a:pPr algn="ctr"/>
                      <a:r>
                        <a:rPr lang="en-US">
                          <a:latin typeface="Times New Roman" panose="02020603050405020304" pitchFamily="18" charset="0"/>
                          <a:cs typeface="Times New Roman" panose="02020603050405020304" pitchFamily="18" charset="0"/>
                        </a:rPr>
                        <a:t>System predicts high chances of getting into multiple colleges</a:t>
                      </a:r>
                    </a:p>
                  </a:txBody>
                  <a:tcPr anchor="ctr"/>
                </a:tc>
                <a:tc>
                  <a:txBody>
                    <a:bodyPr/>
                    <a:lstStyle/>
                    <a:p>
                      <a:pPr algn="ctr"/>
                      <a:r>
                        <a:rPr lang="en-US" dirty="0">
                          <a:latin typeface="Times New Roman" panose="02020603050405020304" pitchFamily="18" charset="0"/>
                          <a:cs typeface="Times New Roman" panose="02020603050405020304" pitchFamily="18" charset="0"/>
                        </a:rPr>
                        <a:t>Pass</a:t>
                      </a:r>
                      <a:endParaRPr lang="en-IN"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483010436"/>
                  </a:ext>
                </a:extLst>
              </a:tr>
              <a:tr h="1110703">
                <a:tc>
                  <a:txBody>
                    <a:bodyPr/>
                    <a:lstStyle/>
                    <a:p>
                      <a:pPr algn="ctr"/>
                      <a:r>
                        <a:rPr lang="en-IN" b="1">
                          <a:latin typeface="Times New Roman" panose="02020603050405020304" pitchFamily="18" charset="0"/>
                          <a:cs typeface="Times New Roman" panose="02020603050405020304" pitchFamily="18" charset="0"/>
                        </a:rPr>
                        <a:t>4.4</a:t>
                      </a:r>
                      <a:endParaRPr lang="en-IN">
                        <a:latin typeface="Times New Roman" panose="02020603050405020304" pitchFamily="18" charset="0"/>
                        <a:cs typeface="Times New Roman" panose="02020603050405020304" pitchFamily="18" charset="0"/>
                      </a:endParaRPr>
                    </a:p>
                  </a:txBody>
                  <a:tcPr anchor="ctr"/>
                </a:tc>
                <a:tc>
                  <a:txBody>
                    <a:bodyPr/>
                    <a:lstStyle/>
                    <a:p>
                      <a:pPr algn="ctr"/>
                      <a:r>
                        <a:rPr lang="en-IN">
                          <a:latin typeface="Times New Roman" panose="02020603050405020304" pitchFamily="18" charset="0"/>
                          <a:cs typeface="Times New Roman" panose="02020603050405020304" pitchFamily="18" charset="0"/>
                        </a:rPr>
                        <a:t>No Historical Data Available</a:t>
                      </a:r>
                    </a:p>
                  </a:txBody>
                  <a:tcPr anchor="ctr"/>
                </a:tc>
                <a:tc>
                  <a:txBody>
                    <a:bodyPr/>
                    <a:lstStyle/>
                    <a:p>
                      <a:pPr algn="ctr"/>
                      <a:r>
                        <a:rPr lang="en-US">
                          <a:latin typeface="Times New Roman" panose="02020603050405020304" pitchFamily="18" charset="0"/>
                          <a:cs typeface="Times New Roman" panose="02020603050405020304" pitchFamily="18" charset="0"/>
                        </a:rPr>
                        <a:t>College/branch with no historical data available</a:t>
                      </a:r>
                    </a:p>
                  </a:txBody>
                  <a:tcPr anchor="ctr"/>
                </a:tc>
                <a:tc>
                  <a:txBody>
                    <a:bodyPr/>
                    <a:lstStyle/>
                    <a:p>
                      <a:pPr algn="ctr"/>
                      <a:r>
                        <a:rPr lang="en-US" dirty="0">
                          <a:latin typeface="Times New Roman" panose="02020603050405020304" pitchFamily="18" charset="0"/>
                          <a:cs typeface="Times New Roman" panose="02020603050405020304" pitchFamily="18" charset="0"/>
                        </a:rPr>
                        <a:t>Error message or fallback explaining lack of prediction due to no data</a:t>
                      </a:r>
                    </a:p>
                  </a:txBody>
                  <a:tcPr anchor="ctr"/>
                </a:tc>
                <a:tc>
                  <a:txBody>
                    <a:bodyPr/>
                    <a:lstStyle/>
                    <a:p>
                      <a:pPr algn="ctr"/>
                      <a:r>
                        <a:rPr lang="en-US" dirty="0">
                          <a:latin typeface="Times New Roman" panose="02020603050405020304" pitchFamily="18" charset="0"/>
                          <a:cs typeface="Times New Roman" panose="02020603050405020304" pitchFamily="18" charset="0"/>
                        </a:rPr>
                        <a:t>Pass</a:t>
                      </a:r>
                      <a:endParaRPr lang="en-IN"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04882803"/>
                  </a:ext>
                </a:extLst>
              </a:tr>
            </a:tbl>
          </a:graphicData>
        </a:graphic>
      </p:graphicFrame>
      <p:sp>
        <p:nvSpPr>
          <p:cNvPr id="6" name="TextBox 5">
            <a:extLst>
              <a:ext uri="{FF2B5EF4-FFF2-40B4-BE49-F238E27FC236}">
                <a16:creationId xmlns:a16="http://schemas.microsoft.com/office/drawing/2014/main" id="{2FD38B47-954C-42DB-BC73-5F835ED0A4A3}"/>
              </a:ext>
            </a:extLst>
          </p:cNvPr>
          <p:cNvSpPr txBox="1"/>
          <p:nvPr/>
        </p:nvSpPr>
        <p:spPr>
          <a:xfrm>
            <a:off x="770965" y="430306"/>
            <a:ext cx="4356847" cy="400110"/>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For Machine Learning Predictions:</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1777082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B3D636C-7E0D-4842-91AF-C392F9894556}"/>
              </a:ext>
            </a:extLst>
          </p:cNvPr>
          <p:cNvSpPr>
            <a:spLocks noGrp="1"/>
          </p:cNvSpPr>
          <p:nvPr>
            <p:ph type="dt" sz="half" idx="10"/>
          </p:nvPr>
        </p:nvSpPr>
        <p:spPr/>
        <p:txBody>
          <a:bodyPr/>
          <a:lstStyle/>
          <a:p>
            <a:fld id="{273920F3-E9EE-4606-B483-2A8FAA3529CA}" type="datetime1">
              <a:rPr lang="en-US" smtClean="0"/>
              <a:t>10/13/2025</a:t>
            </a:fld>
            <a:endParaRPr lang="en-US"/>
          </a:p>
        </p:txBody>
      </p:sp>
      <p:sp>
        <p:nvSpPr>
          <p:cNvPr id="3" name="Footer Placeholder 2">
            <a:extLst>
              <a:ext uri="{FF2B5EF4-FFF2-40B4-BE49-F238E27FC236}">
                <a16:creationId xmlns:a16="http://schemas.microsoft.com/office/drawing/2014/main" id="{704B2510-0565-4B69-9869-EDAD2F4DDB26}"/>
              </a:ext>
            </a:extLst>
          </p:cNvPr>
          <p:cNvSpPr>
            <a:spLocks noGrp="1"/>
          </p:cNvSpPr>
          <p:nvPr>
            <p:ph type="ftr" sz="quarter" idx="11"/>
          </p:nvPr>
        </p:nvSpPr>
        <p:spPr/>
        <p:txBody>
          <a:bodyPr/>
          <a:lstStyle/>
          <a:p>
            <a:r>
              <a:rPr lang="en-US"/>
              <a:t>NextGen College Advisor: AI-Powered Guidance for Students</a:t>
            </a:r>
          </a:p>
        </p:txBody>
      </p:sp>
      <p:sp>
        <p:nvSpPr>
          <p:cNvPr id="4" name="Slide Number Placeholder 3">
            <a:extLst>
              <a:ext uri="{FF2B5EF4-FFF2-40B4-BE49-F238E27FC236}">
                <a16:creationId xmlns:a16="http://schemas.microsoft.com/office/drawing/2014/main" id="{D791E47F-F042-4F00-A70E-B1F5214255E1}"/>
              </a:ext>
            </a:extLst>
          </p:cNvPr>
          <p:cNvSpPr>
            <a:spLocks noGrp="1"/>
          </p:cNvSpPr>
          <p:nvPr>
            <p:ph type="sldNum" sz="quarter" idx="12"/>
          </p:nvPr>
        </p:nvSpPr>
        <p:spPr/>
        <p:txBody>
          <a:bodyPr/>
          <a:lstStyle/>
          <a:p>
            <a:fld id="{FA11DADA-ACB1-42D7-8648-2A253C2E43B8}" type="slidenum">
              <a:rPr lang="en-US" smtClean="0"/>
              <a:pPr/>
              <a:t>21</a:t>
            </a:fld>
            <a:endParaRPr lang="en-US"/>
          </a:p>
        </p:txBody>
      </p:sp>
      <p:graphicFrame>
        <p:nvGraphicFramePr>
          <p:cNvPr id="5" name="Table 4">
            <a:extLst>
              <a:ext uri="{FF2B5EF4-FFF2-40B4-BE49-F238E27FC236}">
                <a16:creationId xmlns:a16="http://schemas.microsoft.com/office/drawing/2014/main" id="{754B544C-317E-468C-A0C9-E41B7FED3DBF}"/>
              </a:ext>
            </a:extLst>
          </p:cNvPr>
          <p:cNvGraphicFramePr>
            <a:graphicFrameLocks noGrp="1"/>
          </p:cNvGraphicFramePr>
          <p:nvPr>
            <p:extLst>
              <p:ext uri="{D42A27DB-BD31-4B8C-83A1-F6EECF244321}">
                <p14:modId xmlns:p14="http://schemas.microsoft.com/office/powerpoint/2010/main" val="3938174442"/>
              </p:ext>
            </p:extLst>
          </p:nvPr>
        </p:nvGraphicFramePr>
        <p:xfrm>
          <a:off x="838200" y="1412425"/>
          <a:ext cx="10551459" cy="4033149"/>
        </p:xfrm>
        <a:graphic>
          <a:graphicData uri="http://schemas.openxmlformats.org/drawingml/2006/table">
            <a:tbl>
              <a:tblPr firstRow="1" bandRow="1">
                <a:tableStyleId>{5C22544A-7EE6-4342-B048-85BDC9FD1C3A}</a:tableStyleId>
              </a:tblPr>
              <a:tblGrid>
                <a:gridCol w="1161279">
                  <a:extLst>
                    <a:ext uri="{9D8B030D-6E8A-4147-A177-3AD203B41FA5}">
                      <a16:colId xmlns:a16="http://schemas.microsoft.com/office/drawing/2014/main" val="3036764611"/>
                    </a:ext>
                  </a:extLst>
                </a:gridCol>
                <a:gridCol w="2347545">
                  <a:extLst>
                    <a:ext uri="{9D8B030D-6E8A-4147-A177-3AD203B41FA5}">
                      <a16:colId xmlns:a16="http://schemas.microsoft.com/office/drawing/2014/main" val="3134166865"/>
                    </a:ext>
                  </a:extLst>
                </a:gridCol>
                <a:gridCol w="2347545">
                  <a:extLst>
                    <a:ext uri="{9D8B030D-6E8A-4147-A177-3AD203B41FA5}">
                      <a16:colId xmlns:a16="http://schemas.microsoft.com/office/drawing/2014/main" val="3420308232"/>
                    </a:ext>
                  </a:extLst>
                </a:gridCol>
                <a:gridCol w="2642172">
                  <a:extLst>
                    <a:ext uri="{9D8B030D-6E8A-4147-A177-3AD203B41FA5}">
                      <a16:colId xmlns:a16="http://schemas.microsoft.com/office/drawing/2014/main" val="3128743087"/>
                    </a:ext>
                  </a:extLst>
                </a:gridCol>
                <a:gridCol w="2052918">
                  <a:extLst>
                    <a:ext uri="{9D8B030D-6E8A-4147-A177-3AD203B41FA5}">
                      <a16:colId xmlns:a16="http://schemas.microsoft.com/office/drawing/2014/main" val="4092665229"/>
                    </a:ext>
                  </a:extLst>
                </a:gridCol>
              </a:tblGrid>
              <a:tr h="665903">
                <a:tc>
                  <a:txBody>
                    <a:bodyPr/>
                    <a:lstStyle/>
                    <a:p>
                      <a:pPr algn="ctr"/>
                      <a:r>
                        <a:rPr lang="en-US" sz="2000" dirty="0">
                          <a:latin typeface="Times New Roman" panose="02020603050405020304" pitchFamily="18" charset="0"/>
                          <a:cs typeface="Times New Roman" panose="02020603050405020304" pitchFamily="18" charset="0"/>
                        </a:rPr>
                        <a:t>Test case ID</a:t>
                      </a:r>
                      <a:endParaRPr lang="en-IN" sz="2000" dirty="0">
                        <a:latin typeface="Times New Roman" panose="02020603050405020304" pitchFamily="18" charset="0"/>
                        <a:cs typeface="Times New Roman" panose="02020603050405020304" pitchFamily="18" charset="0"/>
                      </a:endParaRPr>
                    </a:p>
                  </a:txBody>
                  <a:tcPr/>
                </a:tc>
                <a:tc>
                  <a:txBody>
                    <a:bodyPr/>
                    <a:lstStyle/>
                    <a:p>
                      <a:pPr algn="ctr"/>
                      <a:r>
                        <a:rPr lang="en-IN" sz="2000" dirty="0">
                          <a:latin typeface="Times New Roman" panose="02020603050405020304" pitchFamily="18" charset="0"/>
                          <a:cs typeface="Times New Roman" panose="02020603050405020304" pitchFamily="18" charset="0"/>
                        </a:rPr>
                        <a:t>Test Scenario</a:t>
                      </a:r>
                    </a:p>
                  </a:txBody>
                  <a:tcPr/>
                </a:tc>
                <a:tc>
                  <a:txBody>
                    <a:bodyPr/>
                    <a:lstStyle/>
                    <a:p>
                      <a:pPr algn="ctr"/>
                      <a:r>
                        <a:rPr lang="en-IN" sz="2000" dirty="0">
                          <a:latin typeface="Times New Roman" panose="02020603050405020304" pitchFamily="18" charset="0"/>
                          <a:cs typeface="Times New Roman" panose="02020603050405020304" pitchFamily="18" charset="0"/>
                        </a:rPr>
                        <a:t>Input</a:t>
                      </a:r>
                    </a:p>
                  </a:txBody>
                  <a:tcPr/>
                </a:tc>
                <a:tc>
                  <a:txBody>
                    <a:bodyPr/>
                    <a:lstStyle/>
                    <a:p>
                      <a:pPr algn="ctr"/>
                      <a:r>
                        <a:rPr lang="en-IN" sz="2000" dirty="0">
                          <a:latin typeface="Times New Roman" panose="02020603050405020304" pitchFamily="18" charset="0"/>
                          <a:cs typeface="Times New Roman" panose="02020603050405020304" pitchFamily="18" charset="0"/>
                        </a:rPr>
                        <a:t>Expected Output</a:t>
                      </a:r>
                    </a:p>
                  </a:txBody>
                  <a:tcPr/>
                </a:tc>
                <a:tc>
                  <a:txBody>
                    <a:bodyPr/>
                    <a:lstStyle/>
                    <a:p>
                      <a:pPr algn="ctr"/>
                      <a:r>
                        <a:rPr lang="en-IN" sz="2000" dirty="0">
                          <a:latin typeface="Times New Roman" panose="02020603050405020304" pitchFamily="18" charset="0"/>
                          <a:cs typeface="Times New Roman" panose="02020603050405020304" pitchFamily="18" charset="0"/>
                        </a:rPr>
                        <a:t>Pass/Fail</a:t>
                      </a:r>
                    </a:p>
                  </a:txBody>
                  <a:tcPr/>
                </a:tc>
                <a:extLst>
                  <a:ext uri="{0D108BD9-81ED-4DB2-BD59-A6C34878D82A}">
                    <a16:rowId xmlns:a16="http://schemas.microsoft.com/office/drawing/2014/main" val="3379506728"/>
                  </a:ext>
                </a:extLst>
              </a:tr>
              <a:tr h="1110703">
                <a:tc>
                  <a:txBody>
                    <a:bodyPr/>
                    <a:lstStyle/>
                    <a:p>
                      <a:pPr algn="ctr"/>
                      <a:r>
                        <a:rPr lang="en-US" b="1" dirty="0">
                          <a:latin typeface="Times New Roman" panose="02020603050405020304" pitchFamily="18" charset="0"/>
                          <a:cs typeface="Times New Roman" panose="02020603050405020304" pitchFamily="18" charset="0"/>
                        </a:rPr>
                        <a:t>2</a:t>
                      </a:r>
                      <a:r>
                        <a:rPr lang="en-IN" b="1" dirty="0">
                          <a:latin typeface="Times New Roman" panose="02020603050405020304" pitchFamily="18" charset="0"/>
                          <a:cs typeface="Times New Roman" panose="02020603050405020304" pitchFamily="18" charset="0"/>
                        </a:rPr>
                        <a:t>.1</a:t>
                      </a:r>
                      <a:endParaRPr lang="en-IN" dirty="0">
                        <a:latin typeface="Times New Roman" panose="02020603050405020304" pitchFamily="18" charset="0"/>
                        <a:cs typeface="Times New Roman" panose="02020603050405020304" pitchFamily="18" charset="0"/>
                      </a:endParaRPr>
                    </a:p>
                  </a:txBody>
                  <a:tcPr anchor="ctr"/>
                </a:tc>
                <a:tc>
                  <a:txBody>
                    <a:bodyPr/>
                    <a:lstStyle/>
                    <a:p>
                      <a:pPr algn="ctr"/>
                      <a:r>
                        <a:rPr lang="en-IN" dirty="0">
                          <a:latin typeface="Times New Roman" panose="02020603050405020304" pitchFamily="18" charset="0"/>
                          <a:cs typeface="Times New Roman" panose="02020603050405020304" pitchFamily="18" charset="0"/>
                        </a:rPr>
                        <a:t>Valid Login</a:t>
                      </a:r>
                    </a:p>
                  </a:txBody>
                  <a:tcPr anchor="ctr"/>
                </a:tc>
                <a:tc>
                  <a:txBody>
                    <a:bodyPr/>
                    <a:lstStyle/>
                    <a:p>
                      <a:pPr algn="ctr"/>
                      <a:r>
                        <a:rPr lang="en-US">
                          <a:latin typeface="Times New Roman" panose="02020603050405020304" pitchFamily="18" charset="0"/>
                          <a:cs typeface="Times New Roman" panose="02020603050405020304" pitchFamily="18" charset="0"/>
                        </a:rPr>
                        <a:t>Correct application number and secret key</a:t>
                      </a:r>
                    </a:p>
                  </a:txBody>
                  <a:tcPr anchor="ctr"/>
                </a:tc>
                <a:tc>
                  <a:txBody>
                    <a:bodyPr/>
                    <a:lstStyle/>
                    <a:p>
                      <a:pPr algn="ctr"/>
                      <a:r>
                        <a:rPr lang="en-US" dirty="0">
                          <a:latin typeface="Times New Roman" panose="02020603050405020304" pitchFamily="18" charset="0"/>
                          <a:cs typeface="Times New Roman" panose="02020603050405020304" pitchFamily="18" charset="0"/>
                        </a:rPr>
                        <a:t>User successfully logs in and is redirected to the dashboard</a:t>
                      </a:r>
                    </a:p>
                  </a:txBody>
                  <a:tcPr anchor="ctr"/>
                </a:tc>
                <a:tc>
                  <a:txBody>
                    <a:bodyPr/>
                    <a:lstStyle/>
                    <a:p>
                      <a:pPr algn="ctr"/>
                      <a:r>
                        <a:rPr lang="en-US" dirty="0">
                          <a:latin typeface="Times New Roman" panose="02020603050405020304" pitchFamily="18" charset="0"/>
                          <a:cs typeface="Times New Roman" panose="02020603050405020304" pitchFamily="18" charset="0"/>
                        </a:rPr>
                        <a:t>Pass</a:t>
                      </a:r>
                      <a:endParaRPr lang="en-IN"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916340131"/>
                  </a:ext>
                </a:extLst>
              </a:tr>
              <a:tr h="1110703">
                <a:tc>
                  <a:txBody>
                    <a:bodyPr/>
                    <a:lstStyle/>
                    <a:p>
                      <a:pPr algn="ctr"/>
                      <a:r>
                        <a:rPr lang="en-IN" b="1" dirty="0">
                          <a:latin typeface="Times New Roman" panose="02020603050405020304" pitchFamily="18" charset="0"/>
                          <a:cs typeface="Times New Roman" panose="02020603050405020304" pitchFamily="18" charset="0"/>
                        </a:rPr>
                        <a:t>2.2</a:t>
                      </a:r>
                      <a:endParaRPr lang="en-IN" dirty="0">
                        <a:latin typeface="Times New Roman" panose="02020603050405020304" pitchFamily="18" charset="0"/>
                        <a:cs typeface="Times New Roman" panose="02020603050405020304" pitchFamily="18" charset="0"/>
                      </a:endParaRPr>
                    </a:p>
                  </a:txBody>
                  <a:tcPr anchor="ctr"/>
                </a:tc>
                <a:tc>
                  <a:txBody>
                    <a:bodyPr/>
                    <a:lstStyle/>
                    <a:p>
                      <a:pPr algn="ctr"/>
                      <a:r>
                        <a:rPr lang="en-IN" dirty="0">
                          <a:latin typeface="Times New Roman" panose="02020603050405020304" pitchFamily="18" charset="0"/>
                          <a:cs typeface="Times New Roman" panose="02020603050405020304" pitchFamily="18" charset="0"/>
                        </a:rPr>
                        <a:t>Invalid Password (Secret Key)</a:t>
                      </a:r>
                    </a:p>
                  </a:txBody>
                  <a:tcPr anchor="ctr"/>
                </a:tc>
                <a:tc>
                  <a:txBody>
                    <a:bodyPr/>
                    <a:lstStyle/>
                    <a:p>
                      <a:pPr algn="ctr"/>
                      <a:r>
                        <a:rPr lang="en-US">
                          <a:latin typeface="Times New Roman" panose="02020603050405020304" pitchFamily="18" charset="0"/>
                          <a:cs typeface="Times New Roman" panose="02020603050405020304" pitchFamily="18" charset="0"/>
                        </a:rPr>
                        <a:t>Correct application number, incorrect secret key</a:t>
                      </a:r>
                    </a:p>
                  </a:txBody>
                  <a:tcPr anchor="ctr"/>
                </a:tc>
                <a:tc>
                  <a:txBody>
                    <a:bodyPr/>
                    <a:lstStyle/>
                    <a:p>
                      <a:pPr algn="ctr"/>
                      <a:r>
                        <a:rPr lang="en-US" dirty="0">
                          <a:latin typeface="Times New Roman" panose="02020603050405020304" pitchFamily="18" charset="0"/>
                          <a:cs typeface="Times New Roman" panose="02020603050405020304" pitchFamily="18" charset="0"/>
                        </a:rPr>
                        <a:t>Error message indicating the password is incorrect</a:t>
                      </a:r>
                    </a:p>
                  </a:txBody>
                  <a:tcPr anchor="ctr"/>
                </a:tc>
                <a:tc>
                  <a:txBody>
                    <a:bodyPr/>
                    <a:lstStyle/>
                    <a:p>
                      <a:pPr algn="ctr"/>
                      <a:r>
                        <a:rPr lang="en-US" dirty="0">
                          <a:latin typeface="Times New Roman" panose="02020603050405020304" pitchFamily="18" charset="0"/>
                          <a:cs typeface="Times New Roman" panose="02020603050405020304" pitchFamily="18" charset="0"/>
                        </a:rPr>
                        <a:t>Pass</a:t>
                      </a:r>
                      <a:endParaRPr lang="en-IN"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895635531"/>
                  </a:ext>
                </a:extLst>
              </a:tr>
              <a:tr h="1110703">
                <a:tc>
                  <a:txBody>
                    <a:bodyPr/>
                    <a:lstStyle/>
                    <a:p>
                      <a:pPr algn="ctr"/>
                      <a:r>
                        <a:rPr lang="en-IN" b="1" dirty="0">
                          <a:latin typeface="Times New Roman" panose="02020603050405020304" pitchFamily="18" charset="0"/>
                          <a:cs typeface="Times New Roman" panose="02020603050405020304" pitchFamily="18" charset="0"/>
                        </a:rPr>
                        <a:t>2.3</a:t>
                      </a:r>
                      <a:endParaRPr lang="en-IN" dirty="0">
                        <a:latin typeface="Times New Roman" panose="02020603050405020304" pitchFamily="18" charset="0"/>
                        <a:cs typeface="Times New Roman" panose="02020603050405020304" pitchFamily="18" charset="0"/>
                      </a:endParaRPr>
                    </a:p>
                  </a:txBody>
                  <a:tcPr anchor="ctr"/>
                </a:tc>
                <a:tc>
                  <a:txBody>
                    <a:bodyPr/>
                    <a:lstStyle/>
                    <a:p>
                      <a:pPr algn="ctr"/>
                      <a:r>
                        <a:rPr lang="en-IN" dirty="0">
                          <a:latin typeface="Times New Roman" panose="02020603050405020304" pitchFamily="18" charset="0"/>
                          <a:cs typeface="Times New Roman" panose="02020603050405020304" pitchFamily="18" charset="0"/>
                        </a:rPr>
                        <a:t>Invalid Application Number</a:t>
                      </a:r>
                    </a:p>
                  </a:txBody>
                  <a:tcPr anchor="ctr"/>
                </a:tc>
                <a:tc>
                  <a:txBody>
                    <a:bodyPr/>
                    <a:lstStyle/>
                    <a:p>
                      <a:pPr algn="ctr"/>
                      <a:r>
                        <a:rPr lang="en-US">
                          <a:latin typeface="Times New Roman" panose="02020603050405020304" pitchFamily="18" charset="0"/>
                          <a:cs typeface="Times New Roman" panose="02020603050405020304" pitchFamily="18" charset="0"/>
                        </a:rPr>
                        <a:t>Invalid application number, any password</a:t>
                      </a:r>
                    </a:p>
                  </a:txBody>
                  <a:tcPr anchor="ctr"/>
                </a:tc>
                <a:tc>
                  <a:txBody>
                    <a:bodyPr/>
                    <a:lstStyle/>
                    <a:p>
                      <a:pPr algn="ctr"/>
                      <a:r>
                        <a:rPr lang="en-US">
                          <a:latin typeface="Times New Roman" panose="02020603050405020304" pitchFamily="18" charset="0"/>
                          <a:cs typeface="Times New Roman" panose="02020603050405020304" pitchFamily="18" charset="0"/>
                        </a:rPr>
                        <a:t>Error message indicating the application number does not exist</a:t>
                      </a:r>
                    </a:p>
                  </a:txBody>
                  <a:tcPr anchor="ctr"/>
                </a:tc>
                <a:tc>
                  <a:txBody>
                    <a:bodyPr/>
                    <a:lstStyle/>
                    <a:p>
                      <a:pPr algn="ctr"/>
                      <a:r>
                        <a:rPr lang="en-US" dirty="0">
                          <a:latin typeface="Times New Roman" panose="02020603050405020304" pitchFamily="18" charset="0"/>
                          <a:cs typeface="Times New Roman" panose="02020603050405020304" pitchFamily="18" charset="0"/>
                        </a:rPr>
                        <a:t>Pass</a:t>
                      </a:r>
                      <a:endParaRPr lang="en-IN"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50966479"/>
                  </a:ext>
                </a:extLst>
              </a:tr>
            </a:tbl>
          </a:graphicData>
        </a:graphic>
      </p:graphicFrame>
      <p:sp>
        <p:nvSpPr>
          <p:cNvPr id="6" name="TextBox 5">
            <a:extLst>
              <a:ext uri="{FF2B5EF4-FFF2-40B4-BE49-F238E27FC236}">
                <a16:creationId xmlns:a16="http://schemas.microsoft.com/office/drawing/2014/main" id="{329CD522-3E22-4C26-A5CE-B286E7DCAFB7}"/>
              </a:ext>
            </a:extLst>
          </p:cNvPr>
          <p:cNvSpPr txBox="1"/>
          <p:nvPr/>
        </p:nvSpPr>
        <p:spPr>
          <a:xfrm>
            <a:off x="802341" y="1012315"/>
            <a:ext cx="2622176" cy="400110"/>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For Login: </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0040220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6856527-AEF9-4A88-9A34-8230D6EF0BD1}"/>
              </a:ext>
            </a:extLst>
          </p:cNvPr>
          <p:cNvSpPr>
            <a:spLocks noGrp="1"/>
          </p:cNvSpPr>
          <p:nvPr>
            <p:ph type="dt" sz="half" idx="10"/>
          </p:nvPr>
        </p:nvSpPr>
        <p:spPr/>
        <p:txBody>
          <a:bodyPr/>
          <a:lstStyle/>
          <a:p>
            <a:fld id="{273920F3-E9EE-4606-B483-2A8FAA3529CA}" type="datetime1">
              <a:rPr lang="en-US" smtClean="0"/>
              <a:t>10/13/2025</a:t>
            </a:fld>
            <a:endParaRPr lang="en-US"/>
          </a:p>
        </p:txBody>
      </p:sp>
      <p:sp>
        <p:nvSpPr>
          <p:cNvPr id="3" name="Footer Placeholder 2">
            <a:extLst>
              <a:ext uri="{FF2B5EF4-FFF2-40B4-BE49-F238E27FC236}">
                <a16:creationId xmlns:a16="http://schemas.microsoft.com/office/drawing/2014/main" id="{4A71BBAC-6967-4153-A593-5ED8A6841DD6}"/>
              </a:ext>
            </a:extLst>
          </p:cNvPr>
          <p:cNvSpPr>
            <a:spLocks noGrp="1"/>
          </p:cNvSpPr>
          <p:nvPr>
            <p:ph type="ftr" sz="quarter" idx="11"/>
          </p:nvPr>
        </p:nvSpPr>
        <p:spPr/>
        <p:txBody>
          <a:bodyPr/>
          <a:lstStyle/>
          <a:p>
            <a:r>
              <a:rPr lang="en-US"/>
              <a:t>NextGen College Advisor: AI-Powered Guidance for Students</a:t>
            </a:r>
          </a:p>
        </p:txBody>
      </p:sp>
      <p:sp>
        <p:nvSpPr>
          <p:cNvPr id="4" name="Slide Number Placeholder 3">
            <a:extLst>
              <a:ext uri="{FF2B5EF4-FFF2-40B4-BE49-F238E27FC236}">
                <a16:creationId xmlns:a16="http://schemas.microsoft.com/office/drawing/2014/main" id="{B0FBA3B0-12F3-4B73-B991-062E331DBDFC}"/>
              </a:ext>
            </a:extLst>
          </p:cNvPr>
          <p:cNvSpPr>
            <a:spLocks noGrp="1"/>
          </p:cNvSpPr>
          <p:nvPr>
            <p:ph type="sldNum" sz="quarter" idx="12"/>
          </p:nvPr>
        </p:nvSpPr>
        <p:spPr/>
        <p:txBody>
          <a:bodyPr/>
          <a:lstStyle/>
          <a:p>
            <a:fld id="{FA11DADA-ACB1-42D7-8648-2A253C2E43B8}" type="slidenum">
              <a:rPr lang="en-US" smtClean="0"/>
              <a:pPr/>
              <a:t>22</a:t>
            </a:fld>
            <a:endParaRPr lang="en-US"/>
          </a:p>
        </p:txBody>
      </p:sp>
      <p:graphicFrame>
        <p:nvGraphicFramePr>
          <p:cNvPr id="5" name="Table 4">
            <a:extLst>
              <a:ext uri="{FF2B5EF4-FFF2-40B4-BE49-F238E27FC236}">
                <a16:creationId xmlns:a16="http://schemas.microsoft.com/office/drawing/2014/main" id="{67901B2C-4A87-4D58-A2BD-487E67EB4018}"/>
              </a:ext>
            </a:extLst>
          </p:cNvPr>
          <p:cNvGraphicFramePr>
            <a:graphicFrameLocks noGrp="1"/>
          </p:cNvGraphicFramePr>
          <p:nvPr>
            <p:extLst>
              <p:ext uri="{D42A27DB-BD31-4B8C-83A1-F6EECF244321}">
                <p14:modId xmlns:p14="http://schemas.microsoft.com/office/powerpoint/2010/main" val="3871054058"/>
              </p:ext>
            </p:extLst>
          </p:nvPr>
        </p:nvGraphicFramePr>
        <p:xfrm>
          <a:off x="838200" y="1412425"/>
          <a:ext cx="10551459" cy="4189183"/>
        </p:xfrm>
        <a:graphic>
          <a:graphicData uri="http://schemas.openxmlformats.org/drawingml/2006/table">
            <a:tbl>
              <a:tblPr firstRow="1" bandRow="1">
                <a:tableStyleId>{5C22544A-7EE6-4342-B048-85BDC9FD1C3A}</a:tableStyleId>
              </a:tblPr>
              <a:tblGrid>
                <a:gridCol w="1161279">
                  <a:extLst>
                    <a:ext uri="{9D8B030D-6E8A-4147-A177-3AD203B41FA5}">
                      <a16:colId xmlns:a16="http://schemas.microsoft.com/office/drawing/2014/main" val="778880167"/>
                    </a:ext>
                  </a:extLst>
                </a:gridCol>
                <a:gridCol w="2347545">
                  <a:extLst>
                    <a:ext uri="{9D8B030D-6E8A-4147-A177-3AD203B41FA5}">
                      <a16:colId xmlns:a16="http://schemas.microsoft.com/office/drawing/2014/main" val="3220598821"/>
                    </a:ext>
                  </a:extLst>
                </a:gridCol>
                <a:gridCol w="2347545">
                  <a:extLst>
                    <a:ext uri="{9D8B030D-6E8A-4147-A177-3AD203B41FA5}">
                      <a16:colId xmlns:a16="http://schemas.microsoft.com/office/drawing/2014/main" val="2067333671"/>
                    </a:ext>
                  </a:extLst>
                </a:gridCol>
                <a:gridCol w="2642172">
                  <a:extLst>
                    <a:ext uri="{9D8B030D-6E8A-4147-A177-3AD203B41FA5}">
                      <a16:colId xmlns:a16="http://schemas.microsoft.com/office/drawing/2014/main" val="428515089"/>
                    </a:ext>
                  </a:extLst>
                </a:gridCol>
                <a:gridCol w="2052918">
                  <a:extLst>
                    <a:ext uri="{9D8B030D-6E8A-4147-A177-3AD203B41FA5}">
                      <a16:colId xmlns:a16="http://schemas.microsoft.com/office/drawing/2014/main" val="2286696814"/>
                    </a:ext>
                  </a:extLst>
                </a:gridCol>
              </a:tblGrid>
              <a:tr h="665903">
                <a:tc>
                  <a:txBody>
                    <a:bodyPr/>
                    <a:lstStyle/>
                    <a:p>
                      <a:pPr algn="ctr"/>
                      <a:r>
                        <a:rPr lang="en-US" sz="2000" dirty="0">
                          <a:latin typeface="Times New Roman" panose="02020603050405020304" pitchFamily="18" charset="0"/>
                          <a:cs typeface="Times New Roman" panose="02020603050405020304" pitchFamily="18" charset="0"/>
                        </a:rPr>
                        <a:t>Test case ID</a:t>
                      </a:r>
                      <a:endParaRPr lang="en-IN" sz="2000" dirty="0">
                        <a:latin typeface="Times New Roman" panose="02020603050405020304" pitchFamily="18" charset="0"/>
                        <a:cs typeface="Times New Roman" panose="02020603050405020304" pitchFamily="18" charset="0"/>
                      </a:endParaRPr>
                    </a:p>
                  </a:txBody>
                  <a:tcPr/>
                </a:tc>
                <a:tc>
                  <a:txBody>
                    <a:bodyPr/>
                    <a:lstStyle/>
                    <a:p>
                      <a:pPr algn="ctr"/>
                      <a:r>
                        <a:rPr lang="en-IN" sz="2000" dirty="0">
                          <a:latin typeface="Times New Roman" panose="02020603050405020304" pitchFamily="18" charset="0"/>
                          <a:cs typeface="Times New Roman" panose="02020603050405020304" pitchFamily="18" charset="0"/>
                        </a:rPr>
                        <a:t>Test Scenario</a:t>
                      </a:r>
                    </a:p>
                  </a:txBody>
                  <a:tcPr/>
                </a:tc>
                <a:tc>
                  <a:txBody>
                    <a:bodyPr/>
                    <a:lstStyle/>
                    <a:p>
                      <a:pPr algn="ctr"/>
                      <a:r>
                        <a:rPr lang="en-IN" sz="2000" dirty="0">
                          <a:latin typeface="Times New Roman" panose="02020603050405020304" pitchFamily="18" charset="0"/>
                          <a:cs typeface="Times New Roman" panose="02020603050405020304" pitchFamily="18" charset="0"/>
                        </a:rPr>
                        <a:t>Input</a:t>
                      </a:r>
                    </a:p>
                  </a:txBody>
                  <a:tcPr/>
                </a:tc>
                <a:tc>
                  <a:txBody>
                    <a:bodyPr/>
                    <a:lstStyle/>
                    <a:p>
                      <a:pPr algn="ctr"/>
                      <a:r>
                        <a:rPr lang="en-IN" sz="2000" dirty="0">
                          <a:latin typeface="Times New Roman" panose="02020603050405020304" pitchFamily="18" charset="0"/>
                          <a:cs typeface="Times New Roman" panose="02020603050405020304" pitchFamily="18" charset="0"/>
                        </a:rPr>
                        <a:t>Expected Output</a:t>
                      </a:r>
                    </a:p>
                  </a:txBody>
                  <a:tcPr/>
                </a:tc>
                <a:tc>
                  <a:txBody>
                    <a:bodyPr/>
                    <a:lstStyle/>
                    <a:p>
                      <a:pPr algn="ctr"/>
                      <a:r>
                        <a:rPr lang="en-IN" sz="2000" dirty="0">
                          <a:latin typeface="Times New Roman" panose="02020603050405020304" pitchFamily="18" charset="0"/>
                          <a:cs typeface="Times New Roman" panose="02020603050405020304" pitchFamily="18" charset="0"/>
                        </a:rPr>
                        <a:t>Pass/Fail</a:t>
                      </a:r>
                    </a:p>
                  </a:txBody>
                  <a:tcPr/>
                </a:tc>
                <a:extLst>
                  <a:ext uri="{0D108BD9-81ED-4DB2-BD59-A6C34878D82A}">
                    <a16:rowId xmlns:a16="http://schemas.microsoft.com/office/drawing/2014/main" val="2837522468"/>
                  </a:ext>
                </a:extLst>
              </a:tr>
              <a:tr h="1110703">
                <a:tc>
                  <a:txBody>
                    <a:bodyPr/>
                    <a:lstStyle/>
                    <a:p>
                      <a:pPr algn="ctr"/>
                      <a:r>
                        <a:rPr lang="en-IN" b="1">
                          <a:latin typeface="Times New Roman" panose="02020603050405020304" pitchFamily="18" charset="0"/>
                          <a:cs typeface="Times New Roman" panose="02020603050405020304" pitchFamily="18" charset="0"/>
                        </a:rPr>
                        <a:t>3.1</a:t>
                      </a:r>
                      <a:endParaRPr lang="en-IN">
                        <a:latin typeface="Times New Roman" panose="02020603050405020304" pitchFamily="18" charset="0"/>
                        <a:cs typeface="Times New Roman" panose="02020603050405020304" pitchFamily="18" charset="0"/>
                      </a:endParaRPr>
                    </a:p>
                  </a:txBody>
                  <a:tcPr anchor="ctr"/>
                </a:tc>
                <a:tc>
                  <a:txBody>
                    <a:bodyPr/>
                    <a:lstStyle/>
                    <a:p>
                      <a:pPr algn="ctr"/>
                      <a:r>
                        <a:rPr lang="en-IN">
                          <a:latin typeface="Times New Roman" panose="02020603050405020304" pitchFamily="18" charset="0"/>
                          <a:cs typeface="Times New Roman" panose="02020603050405020304" pitchFamily="18" charset="0"/>
                        </a:rPr>
                        <a:t>Valid Input Submission</a:t>
                      </a:r>
                    </a:p>
                  </a:txBody>
                  <a:tcPr anchor="ctr"/>
                </a:tc>
                <a:tc>
                  <a:txBody>
                    <a:bodyPr/>
                    <a:lstStyle/>
                    <a:p>
                      <a:pPr algn="ctr"/>
                      <a:r>
                        <a:rPr lang="en-US">
                          <a:latin typeface="Times New Roman" panose="02020603050405020304" pitchFamily="18" charset="0"/>
                          <a:cs typeface="Times New Roman" panose="02020603050405020304" pitchFamily="18" charset="0"/>
                        </a:rPr>
                        <a:t>Valid hall ticket number, degree, branch, and KCET rank</a:t>
                      </a:r>
                    </a:p>
                  </a:txBody>
                  <a:tcPr anchor="ctr"/>
                </a:tc>
                <a:tc>
                  <a:txBody>
                    <a:bodyPr/>
                    <a:lstStyle/>
                    <a:p>
                      <a:pPr algn="ctr"/>
                      <a:r>
                        <a:rPr lang="en-US" dirty="0">
                          <a:latin typeface="Times New Roman" panose="02020603050405020304" pitchFamily="18" charset="0"/>
                          <a:cs typeface="Times New Roman" panose="02020603050405020304" pitchFamily="18" charset="0"/>
                        </a:rPr>
                        <a:t>System displays the predicted college name, branch, cutoff, and chances</a:t>
                      </a:r>
                    </a:p>
                  </a:txBody>
                  <a:tcPr anchor="ctr"/>
                </a:tc>
                <a:tc>
                  <a:txBody>
                    <a:bodyPr/>
                    <a:lstStyle/>
                    <a:p>
                      <a:pPr algn="ctr"/>
                      <a:r>
                        <a:rPr lang="en-US" dirty="0">
                          <a:latin typeface="Times New Roman" panose="02020603050405020304" pitchFamily="18" charset="0"/>
                          <a:cs typeface="Times New Roman" panose="02020603050405020304" pitchFamily="18" charset="0"/>
                        </a:rPr>
                        <a:t>Pass</a:t>
                      </a:r>
                      <a:endParaRPr lang="en-IN"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115261512"/>
                  </a:ext>
                </a:extLst>
              </a:tr>
              <a:tr h="1110703">
                <a:tc>
                  <a:txBody>
                    <a:bodyPr/>
                    <a:lstStyle/>
                    <a:p>
                      <a:pPr algn="ctr"/>
                      <a:r>
                        <a:rPr lang="en-IN" b="1">
                          <a:latin typeface="Times New Roman" panose="02020603050405020304" pitchFamily="18" charset="0"/>
                          <a:cs typeface="Times New Roman" panose="02020603050405020304" pitchFamily="18" charset="0"/>
                        </a:rPr>
                        <a:t>3.2</a:t>
                      </a:r>
                      <a:endParaRPr lang="en-IN">
                        <a:latin typeface="Times New Roman" panose="02020603050405020304" pitchFamily="18" charset="0"/>
                        <a:cs typeface="Times New Roman" panose="02020603050405020304" pitchFamily="18" charset="0"/>
                      </a:endParaRPr>
                    </a:p>
                  </a:txBody>
                  <a:tcPr anchor="ctr"/>
                </a:tc>
                <a:tc>
                  <a:txBody>
                    <a:bodyPr/>
                    <a:lstStyle/>
                    <a:p>
                      <a:pPr algn="ctr"/>
                      <a:r>
                        <a:rPr lang="en-IN" dirty="0">
                          <a:latin typeface="Times New Roman" panose="02020603050405020304" pitchFamily="18" charset="0"/>
                          <a:cs typeface="Times New Roman" panose="02020603050405020304" pitchFamily="18" charset="0"/>
                        </a:rPr>
                        <a:t>Invalid Hall Ticket Number</a:t>
                      </a:r>
                    </a:p>
                  </a:txBody>
                  <a:tcPr anchor="ctr"/>
                </a:tc>
                <a:tc>
                  <a:txBody>
                    <a:bodyPr/>
                    <a:lstStyle/>
                    <a:p>
                      <a:pPr algn="ctr"/>
                      <a:r>
                        <a:rPr lang="en-US">
                          <a:latin typeface="Times New Roman" panose="02020603050405020304" pitchFamily="18" charset="0"/>
                          <a:cs typeface="Times New Roman" panose="02020603050405020304" pitchFamily="18" charset="0"/>
                        </a:rPr>
                        <a:t>Invalid hall ticket number, valid degree, branch, and KCET rank</a:t>
                      </a:r>
                    </a:p>
                  </a:txBody>
                  <a:tcPr anchor="ctr"/>
                </a:tc>
                <a:tc>
                  <a:txBody>
                    <a:bodyPr/>
                    <a:lstStyle/>
                    <a:p>
                      <a:pPr algn="ctr"/>
                      <a:r>
                        <a:rPr lang="en-US">
                          <a:latin typeface="Times New Roman" panose="02020603050405020304" pitchFamily="18" charset="0"/>
                          <a:cs typeface="Times New Roman" panose="02020603050405020304" pitchFamily="18" charset="0"/>
                        </a:rPr>
                        <a:t>Error message indicating the hall ticket number is invalid</a:t>
                      </a:r>
                    </a:p>
                  </a:txBody>
                  <a:tcPr anchor="ctr"/>
                </a:tc>
                <a:tc>
                  <a:txBody>
                    <a:bodyPr/>
                    <a:lstStyle/>
                    <a:p>
                      <a:pPr algn="ctr"/>
                      <a:r>
                        <a:rPr lang="en-US" dirty="0">
                          <a:latin typeface="Times New Roman" panose="02020603050405020304" pitchFamily="18" charset="0"/>
                          <a:cs typeface="Times New Roman" panose="02020603050405020304" pitchFamily="18" charset="0"/>
                        </a:rPr>
                        <a:t>Pass</a:t>
                      </a:r>
                      <a:endParaRPr lang="en-IN"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703138061"/>
                  </a:ext>
                </a:extLst>
              </a:tr>
              <a:tr h="1110703">
                <a:tc>
                  <a:txBody>
                    <a:bodyPr/>
                    <a:lstStyle/>
                    <a:p>
                      <a:pPr algn="ctr"/>
                      <a:r>
                        <a:rPr lang="en-IN" b="1" dirty="0">
                          <a:latin typeface="Times New Roman" panose="02020603050405020304" pitchFamily="18" charset="0"/>
                          <a:cs typeface="Times New Roman" panose="02020603050405020304" pitchFamily="18" charset="0"/>
                        </a:rPr>
                        <a:t>3.3</a:t>
                      </a:r>
                      <a:endParaRPr lang="en-IN" dirty="0">
                        <a:latin typeface="Times New Roman" panose="02020603050405020304" pitchFamily="18" charset="0"/>
                        <a:cs typeface="Times New Roman" panose="02020603050405020304" pitchFamily="18" charset="0"/>
                      </a:endParaRPr>
                    </a:p>
                  </a:txBody>
                  <a:tcPr anchor="ctr"/>
                </a:tc>
                <a:tc>
                  <a:txBody>
                    <a:bodyPr/>
                    <a:lstStyle/>
                    <a:p>
                      <a:pPr algn="ctr"/>
                      <a:r>
                        <a:rPr lang="en-US" dirty="0">
                          <a:latin typeface="Times New Roman" panose="02020603050405020304" pitchFamily="18" charset="0"/>
                          <a:cs typeface="Times New Roman" panose="02020603050405020304" pitchFamily="18" charset="0"/>
                        </a:rPr>
                        <a:t>Missing or Empty Input Fields</a:t>
                      </a:r>
                    </a:p>
                  </a:txBody>
                  <a:tcPr anchor="ctr"/>
                </a:tc>
                <a:tc>
                  <a:txBody>
                    <a:bodyPr/>
                    <a:lstStyle/>
                    <a:p>
                      <a:pPr algn="ctr"/>
                      <a:r>
                        <a:rPr lang="en-US" dirty="0">
                          <a:latin typeface="Times New Roman" panose="02020603050405020304" pitchFamily="18" charset="0"/>
                          <a:cs typeface="Times New Roman" panose="02020603050405020304" pitchFamily="18" charset="0"/>
                        </a:rPr>
                        <a:t>Missing or empty hall ticket number, degree, branch, or KCET rank</a:t>
                      </a:r>
                    </a:p>
                  </a:txBody>
                  <a:tcPr anchor="ctr"/>
                </a:tc>
                <a:tc>
                  <a:txBody>
                    <a:bodyPr/>
                    <a:lstStyle/>
                    <a:p>
                      <a:pPr algn="ctr"/>
                      <a:r>
                        <a:rPr lang="en-US" dirty="0">
                          <a:latin typeface="Times New Roman" panose="02020603050405020304" pitchFamily="18" charset="0"/>
                          <a:cs typeface="Times New Roman" panose="02020603050405020304" pitchFamily="18" charset="0"/>
                        </a:rPr>
                        <a:t>Error message prompting the user to fill in all required fields</a:t>
                      </a:r>
                    </a:p>
                  </a:txBody>
                  <a:tcPr anchor="ctr"/>
                </a:tc>
                <a:tc>
                  <a:txBody>
                    <a:bodyPr/>
                    <a:lstStyle/>
                    <a:p>
                      <a:pPr algn="ctr"/>
                      <a:r>
                        <a:rPr lang="en-US" dirty="0">
                          <a:latin typeface="Times New Roman" panose="02020603050405020304" pitchFamily="18" charset="0"/>
                          <a:cs typeface="Times New Roman" panose="02020603050405020304" pitchFamily="18" charset="0"/>
                        </a:rPr>
                        <a:t>Pass</a:t>
                      </a:r>
                      <a:endParaRPr lang="en-IN"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919043297"/>
                  </a:ext>
                </a:extLst>
              </a:tr>
            </a:tbl>
          </a:graphicData>
        </a:graphic>
      </p:graphicFrame>
      <p:sp>
        <p:nvSpPr>
          <p:cNvPr id="6" name="TextBox 5">
            <a:extLst>
              <a:ext uri="{FF2B5EF4-FFF2-40B4-BE49-F238E27FC236}">
                <a16:creationId xmlns:a16="http://schemas.microsoft.com/office/drawing/2014/main" id="{DC6714B7-39B1-4228-9108-8A3B3219977A}"/>
              </a:ext>
            </a:extLst>
          </p:cNvPr>
          <p:cNvSpPr txBox="1"/>
          <p:nvPr/>
        </p:nvSpPr>
        <p:spPr>
          <a:xfrm>
            <a:off x="802341" y="1012315"/>
            <a:ext cx="2962835" cy="400110"/>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For Dashboard:</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7434726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3BFB789-A083-26A8-ADCA-3BC6708D1483}"/>
              </a:ext>
            </a:extLst>
          </p:cNvPr>
          <p:cNvSpPr>
            <a:spLocks noGrp="1"/>
          </p:cNvSpPr>
          <p:nvPr>
            <p:ph type="dt" sz="half" idx="10"/>
          </p:nvPr>
        </p:nvSpPr>
        <p:spPr/>
        <p:txBody>
          <a:bodyPr/>
          <a:lstStyle/>
          <a:p>
            <a:fld id="{273920F3-E9EE-4606-B483-2A8FAA3529CA}" type="datetime1">
              <a:rPr lang="en-US" smtClean="0"/>
              <a:t>10/13/2025</a:t>
            </a:fld>
            <a:endParaRPr lang="en-US"/>
          </a:p>
        </p:txBody>
      </p:sp>
      <p:sp>
        <p:nvSpPr>
          <p:cNvPr id="3" name="Footer Placeholder 2">
            <a:extLst>
              <a:ext uri="{FF2B5EF4-FFF2-40B4-BE49-F238E27FC236}">
                <a16:creationId xmlns:a16="http://schemas.microsoft.com/office/drawing/2014/main" id="{EE992BD3-F53B-CA3E-0845-E9C41AD07193}"/>
              </a:ext>
            </a:extLst>
          </p:cNvPr>
          <p:cNvSpPr>
            <a:spLocks noGrp="1"/>
          </p:cNvSpPr>
          <p:nvPr>
            <p:ph type="ftr" sz="quarter" idx="11"/>
          </p:nvPr>
        </p:nvSpPr>
        <p:spPr/>
        <p:txBody>
          <a:bodyPr/>
          <a:lstStyle/>
          <a:p>
            <a:r>
              <a:rPr lang="en-US"/>
              <a:t>NextGen College Advisor: AI-Powered Guidance for Students</a:t>
            </a:r>
          </a:p>
        </p:txBody>
      </p:sp>
      <p:sp>
        <p:nvSpPr>
          <p:cNvPr id="4" name="Slide Number Placeholder 3">
            <a:extLst>
              <a:ext uri="{FF2B5EF4-FFF2-40B4-BE49-F238E27FC236}">
                <a16:creationId xmlns:a16="http://schemas.microsoft.com/office/drawing/2014/main" id="{85D67699-2827-43DD-E2A3-41B91A878AD5}"/>
              </a:ext>
            </a:extLst>
          </p:cNvPr>
          <p:cNvSpPr>
            <a:spLocks noGrp="1"/>
          </p:cNvSpPr>
          <p:nvPr>
            <p:ph type="sldNum" sz="quarter" idx="12"/>
          </p:nvPr>
        </p:nvSpPr>
        <p:spPr/>
        <p:txBody>
          <a:bodyPr/>
          <a:lstStyle/>
          <a:p>
            <a:fld id="{FA11DADA-ACB1-42D7-8648-2A253C2E43B8}" type="slidenum">
              <a:rPr lang="en-US" smtClean="0"/>
              <a:pPr/>
              <a:t>23</a:t>
            </a:fld>
            <a:endParaRPr lang="en-US"/>
          </a:p>
        </p:txBody>
      </p:sp>
      <p:pic>
        <p:nvPicPr>
          <p:cNvPr id="6" name="Picture 5">
            <a:extLst>
              <a:ext uri="{FF2B5EF4-FFF2-40B4-BE49-F238E27FC236}">
                <a16:creationId xmlns:a16="http://schemas.microsoft.com/office/drawing/2014/main" id="{F0DAE4D2-8272-F62F-0986-659A51F2A5C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86411" y="875189"/>
            <a:ext cx="4756286" cy="2553811"/>
          </a:xfrm>
          <a:prstGeom prst="rect">
            <a:avLst/>
          </a:prstGeom>
        </p:spPr>
      </p:pic>
      <p:sp>
        <p:nvSpPr>
          <p:cNvPr id="8" name="TextBox 7">
            <a:extLst>
              <a:ext uri="{FF2B5EF4-FFF2-40B4-BE49-F238E27FC236}">
                <a16:creationId xmlns:a16="http://schemas.microsoft.com/office/drawing/2014/main" id="{92CB033B-0BF7-E51B-1434-A3F9A78EA79A}"/>
              </a:ext>
            </a:extLst>
          </p:cNvPr>
          <p:cNvSpPr txBox="1"/>
          <p:nvPr/>
        </p:nvSpPr>
        <p:spPr>
          <a:xfrm>
            <a:off x="4465454" y="136525"/>
            <a:ext cx="3857146" cy="1077218"/>
          </a:xfrm>
          <a:prstGeom prst="rect">
            <a:avLst/>
          </a:prstGeom>
          <a:noFill/>
        </p:spPr>
        <p:txBody>
          <a:bodyPr wrap="none" rtlCol="0">
            <a:spAutoFit/>
          </a:bodyPr>
          <a:lstStyle/>
          <a:p>
            <a:r>
              <a:rPr lang="en-US" sz="3200" b="1" dirty="0">
                <a:solidFill>
                  <a:schemeClr val="accent5">
                    <a:lumMod val="50000"/>
                  </a:schemeClr>
                </a:solidFill>
                <a:latin typeface="Times New Roman" panose="02020603050405020304" pitchFamily="18" charset="0"/>
                <a:cs typeface="Times New Roman" panose="02020603050405020304" pitchFamily="18" charset="0"/>
              </a:rPr>
              <a:t>Results &amp; Discussion</a:t>
            </a:r>
          </a:p>
          <a:p>
            <a:endParaRPr lang="en-IN" sz="3200" b="1" dirty="0">
              <a:solidFill>
                <a:schemeClr val="accent5">
                  <a:lumMod val="50000"/>
                </a:schemeClr>
              </a:solidFill>
            </a:endParaRPr>
          </a:p>
        </p:txBody>
      </p:sp>
      <p:pic>
        <p:nvPicPr>
          <p:cNvPr id="10" name="Picture 9">
            <a:extLst>
              <a:ext uri="{FF2B5EF4-FFF2-40B4-BE49-F238E27FC236}">
                <a16:creationId xmlns:a16="http://schemas.microsoft.com/office/drawing/2014/main" id="{41CF4C16-583E-5675-D3F8-8AD465FD7AC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349304" y="875189"/>
            <a:ext cx="4756287" cy="2553812"/>
          </a:xfrm>
          <a:prstGeom prst="rect">
            <a:avLst/>
          </a:prstGeom>
        </p:spPr>
      </p:pic>
      <p:pic>
        <p:nvPicPr>
          <p:cNvPr id="12" name="Picture 11">
            <a:extLst>
              <a:ext uri="{FF2B5EF4-FFF2-40B4-BE49-F238E27FC236}">
                <a16:creationId xmlns:a16="http://schemas.microsoft.com/office/drawing/2014/main" id="{B2C05F05-605F-01D1-C1D7-4F3CF8BDB11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717857" y="3615768"/>
            <a:ext cx="4756285" cy="2553812"/>
          </a:xfrm>
          <a:prstGeom prst="rect">
            <a:avLst/>
          </a:prstGeom>
        </p:spPr>
      </p:pic>
    </p:spTree>
    <p:extLst>
      <p:ext uri="{BB962C8B-B14F-4D97-AF65-F5344CB8AC3E}">
        <p14:creationId xmlns:p14="http://schemas.microsoft.com/office/powerpoint/2010/main" val="38466503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10A7317-2A4A-FBE8-D1DC-313CA95966B5}"/>
              </a:ext>
            </a:extLst>
          </p:cNvPr>
          <p:cNvSpPr>
            <a:spLocks noGrp="1"/>
          </p:cNvSpPr>
          <p:nvPr>
            <p:ph type="dt" sz="half" idx="10"/>
          </p:nvPr>
        </p:nvSpPr>
        <p:spPr/>
        <p:txBody>
          <a:bodyPr/>
          <a:lstStyle/>
          <a:p>
            <a:fld id="{273920F3-E9EE-4606-B483-2A8FAA3529CA}" type="datetime1">
              <a:rPr lang="en-US" smtClean="0"/>
              <a:t>10/13/2025</a:t>
            </a:fld>
            <a:endParaRPr lang="en-US"/>
          </a:p>
        </p:txBody>
      </p:sp>
      <p:sp>
        <p:nvSpPr>
          <p:cNvPr id="3" name="Footer Placeholder 2">
            <a:extLst>
              <a:ext uri="{FF2B5EF4-FFF2-40B4-BE49-F238E27FC236}">
                <a16:creationId xmlns:a16="http://schemas.microsoft.com/office/drawing/2014/main" id="{4CD05352-862D-4841-DE5D-65E064A005BF}"/>
              </a:ext>
            </a:extLst>
          </p:cNvPr>
          <p:cNvSpPr>
            <a:spLocks noGrp="1"/>
          </p:cNvSpPr>
          <p:nvPr>
            <p:ph type="ftr" sz="quarter" idx="11"/>
          </p:nvPr>
        </p:nvSpPr>
        <p:spPr/>
        <p:txBody>
          <a:bodyPr/>
          <a:lstStyle/>
          <a:p>
            <a:r>
              <a:rPr lang="en-US"/>
              <a:t>NextGen College Advisor: AI-Powered Guidance for Students</a:t>
            </a:r>
          </a:p>
        </p:txBody>
      </p:sp>
      <p:sp>
        <p:nvSpPr>
          <p:cNvPr id="4" name="Slide Number Placeholder 3">
            <a:extLst>
              <a:ext uri="{FF2B5EF4-FFF2-40B4-BE49-F238E27FC236}">
                <a16:creationId xmlns:a16="http://schemas.microsoft.com/office/drawing/2014/main" id="{FE418B5A-EDAE-FA8D-1ECD-B0C55E309A9A}"/>
              </a:ext>
            </a:extLst>
          </p:cNvPr>
          <p:cNvSpPr>
            <a:spLocks noGrp="1"/>
          </p:cNvSpPr>
          <p:nvPr>
            <p:ph type="sldNum" sz="quarter" idx="12"/>
          </p:nvPr>
        </p:nvSpPr>
        <p:spPr/>
        <p:txBody>
          <a:bodyPr/>
          <a:lstStyle/>
          <a:p>
            <a:fld id="{FA11DADA-ACB1-42D7-8648-2A253C2E43B8}" type="slidenum">
              <a:rPr lang="en-US" smtClean="0"/>
              <a:pPr/>
              <a:t>24</a:t>
            </a:fld>
            <a:endParaRPr lang="en-US"/>
          </a:p>
        </p:txBody>
      </p:sp>
      <p:pic>
        <p:nvPicPr>
          <p:cNvPr id="6" name="Picture 5">
            <a:extLst>
              <a:ext uri="{FF2B5EF4-FFF2-40B4-BE49-F238E27FC236}">
                <a16:creationId xmlns:a16="http://schemas.microsoft.com/office/drawing/2014/main" id="{F392CF75-49FE-39C7-21D9-C9B51A10F81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8200" y="402816"/>
            <a:ext cx="10515600" cy="1975781"/>
          </a:xfrm>
          <a:prstGeom prst="rect">
            <a:avLst/>
          </a:prstGeom>
        </p:spPr>
      </p:pic>
      <p:pic>
        <p:nvPicPr>
          <p:cNvPr id="8" name="Picture 7">
            <a:extLst>
              <a:ext uri="{FF2B5EF4-FFF2-40B4-BE49-F238E27FC236}">
                <a16:creationId xmlns:a16="http://schemas.microsoft.com/office/drawing/2014/main" id="{FF649887-E6E8-8FAD-BB45-DEDC60F2C2C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48114" y="2475777"/>
            <a:ext cx="3895771" cy="3880573"/>
          </a:xfrm>
          <a:prstGeom prst="rect">
            <a:avLst/>
          </a:prstGeom>
        </p:spPr>
      </p:pic>
    </p:spTree>
    <p:extLst>
      <p:ext uri="{BB962C8B-B14F-4D97-AF65-F5344CB8AC3E}">
        <p14:creationId xmlns:p14="http://schemas.microsoft.com/office/powerpoint/2010/main" val="114117420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F9443F0-0997-56D0-36E9-9CDF40ACEFB1}"/>
              </a:ext>
            </a:extLst>
          </p:cNvPr>
          <p:cNvSpPr>
            <a:spLocks noGrp="1"/>
          </p:cNvSpPr>
          <p:nvPr>
            <p:ph type="dt" sz="half" idx="10"/>
          </p:nvPr>
        </p:nvSpPr>
        <p:spPr/>
        <p:txBody>
          <a:bodyPr/>
          <a:lstStyle/>
          <a:p>
            <a:fld id="{273920F3-E9EE-4606-B483-2A8FAA3529CA}" type="datetime1">
              <a:rPr lang="en-US" smtClean="0"/>
              <a:t>10/13/2025</a:t>
            </a:fld>
            <a:endParaRPr lang="en-US"/>
          </a:p>
        </p:txBody>
      </p:sp>
      <p:sp>
        <p:nvSpPr>
          <p:cNvPr id="3" name="Footer Placeholder 2">
            <a:extLst>
              <a:ext uri="{FF2B5EF4-FFF2-40B4-BE49-F238E27FC236}">
                <a16:creationId xmlns:a16="http://schemas.microsoft.com/office/drawing/2014/main" id="{60F1D01A-6422-1EBA-19F5-CDD5431F4232}"/>
              </a:ext>
            </a:extLst>
          </p:cNvPr>
          <p:cNvSpPr>
            <a:spLocks noGrp="1"/>
          </p:cNvSpPr>
          <p:nvPr>
            <p:ph type="ftr" sz="quarter" idx="11"/>
          </p:nvPr>
        </p:nvSpPr>
        <p:spPr/>
        <p:txBody>
          <a:bodyPr/>
          <a:lstStyle/>
          <a:p>
            <a:r>
              <a:rPr lang="en-US"/>
              <a:t>NextGen College Advisor: AI-Powered Guidance for Students</a:t>
            </a:r>
          </a:p>
        </p:txBody>
      </p:sp>
      <p:sp>
        <p:nvSpPr>
          <p:cNvPr id="4" name="Slide Number Placeholder 3">
            <a:extLst>
              <a:ext uri="{FF2B5EF4-FFF2-40B4-BE49-F238E27FC236}">
                <a16:creationId xmlns:a16="http://schemas.microsoft.com/office/drawing/2014/main" id="{FAD02ED4-590F-3D24-3F19-BEFC52335200}"/>
              </a:ext>
            </a:extLst>
          </p:cNvPr>
          <p:cNvSpPr>
            <a:spLocks noGrp="1"/>
          </p:cNvSpPr>
          <p:nvPr>
            <p:ph type="sldNum" sz="quarter" idx="12"/>
          </p:nvPr>
        </p:nvSpPr>
        <p:spPr/>
        <p:txBody>
          <a:bodyPr/>
          <a:lstStyle/>
          <a:p>
            <a:fld id="{FA11DADA-ACB1-42D7-8648-2A253C2E43B8}" type="slidenum">
              <a:rPr lang="en-US" smtClean="0"/>
              <a:pPr/>
              <a:t>25</a:t>
            </a:fld>
            <a:endParaRPr lang="en-US"/>
          </a:p>
        </p:txBody>
      </p:sp>
      <p:pic>
        <p:nvPicPr>
          <p:cNvPr id="6" name="Picture 5">
            <a:extLst>
              <a:ext uri="{FF2B5EF4-FFF2-40B4-BE49-F238E27FC236}">
                <a16:creationId xmlns:a16="http://schemas.microsoft.com/office/drawing/2014/main" id="{26E86B9F-E08D-69FE-4A2E-A850FAA5E7D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40407" y="348867"/>
            <a:ext cx="5111186" cy="3080133"/>
          </a:xfrm>
          <a:prstGeom prst="rect">
            <a:avLst/>
          </a:prstGeom>
        </p:spPr>
      </p:pic>
      <p:pic>
        <p:nvPicPr>
          <p:cNvPr id="8" name="Picture 7">
            <a:extLst>
              <a:ext uri="{FF2B5EF4-FFF2-40B4-BE49-F238E27FC236}">
                <a16:creationId xmlns:a16="http://schemas.microsoft.com/office/drawing/2014/main" id="{48120161-18B7-DA58-2793-DA7EAE14CA0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90700" y="3658265"/>
            <a:ext cx="8610600" cy="2468820"/>
          </a:xfrm>
          <a:prstGeom prst="rect">
            <a:avLst/>
          </a:prstGeom>
        </p:spPr>
      </p:pic>
    </p:spTree>
    <p:extLst>
      <p:ext uri="{BB962C8B-B14F-4D97-AF65-F5344CB8AC3E}">
        <p14:creationId xmlns:p14="http://schemas.microsoft.com/office/powerpoint/2010/main" val="204984588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491B6B7-56E9-3B63-7396-2234D46E413B}"/>
              </a:ext>
            </a:extLst>
          </p:cNvPr>
          <p:cNvSpPr>
            <a:spLocks noGrp="1"/>
          </p:cNvSpPr>
          <p:nvPr>
            <p:ph type="dt" sz="half" idx="10"/>
          </p:nvPr>
        </p:nvSpPr>
        <p:spPr/>
        <p:txBody>
          <a:bodyPr/>
          <a:lstStyle/>
          <a:p>
            <a:fld id="{273920F3-E9EE-4606-B483-2A8FAA3529CA}" type="datetime1">
              <a:rPr lang="en-US" smtClean="0"/>
              <a:t>10/13/2025</a:t>
            </a:fld>
            <a:endParaRPr lang="en-US"/>
          </a:p>
        </p:txBody>
      </p:sp>
      <p:sp>
        <p:nvSpPr>
          <p:cNvPr id="3" name="Footer Placeholder 2">
            <a:extLst>
              <a:ext uri="{FF2B5EF4-FFF2-40B4-BE49-F238E27FC236}">
                <a16:creationId xmlns:a16="http://schemas.microsoft.com/office/drawing/2014/main" id="{BCE74A3E-BC76-7399-984F-3D67B64B7DA0}"/>
              </a:ext>
            </a:extLst>
          </p:cNvPr>
          <p:cNvSpPr>
            <a:spLocks noGrp="1"/>
          </p:cNvSpPr>
          <p:nvPr>
            <p:ph type="ftr" sz="quarter" idx="11"/>
          </p:nvPr>
        </p:nvSpPr>
        <p:spPr/>
        <p:txBody>
          <a:bodyPr/>
          <a:lstStyle/>
          <a:p>
            <a:r>
              <a:rPr lang="en-US"/>
              <a:t>NextGen College Advisor: AI-Powered Guidance for Students</a:t>
            </a:r>
          </a:p>
        </p:txBody>
      </p:sp>
      <p:sp>
        <p:nvSpPr>
          <p:cNvPr id="4" name="Slide Number Placeholder 3">
            <a:extLst>
              <a:ext uri="{FF2B5EF4-FFF2-40B4-BE49-F238E27FC236}">
                <a16:creationId xmlns:a16="http://schemas.microsoft.com/office/drawing/2014/main" id="{0E40049B-B46D-F57A-14D3-A1E60ED9882C}"/>
              </a:ext>
            </a:extLst>
          </p:cNvPr>
          <p:cNvSpPr>
            <a:spLocks noGrp="1"/>
          </p:cNvSpPr>
          <p:nvPr>
            <p:ph type="sldNum" sz="quarter" idx="12"/>
          </p:nvPr>
        </p:nvSpPr>
        <p:spPr/>
        <p:txBody>
          <a:bodyPr/>
          <a:lstStyle/>
          <a:p>
            <a:fld id="{FA11DADA-ACB1-42D7-8648-2A253C2E43B8}" type="slidenum">
              <a:rPr lang="en-US" smtClean="0"/>
              <a:pPr/>
              <a:t>26</a:t>
            </a:fld>
            <a:endParaRPr lang="en-US"/>
          </a:p>
        </p:txBody>
      </p:sp>
      <p:pic>
        <p:nvPicPr>
          <p:cNvPr id="6" name="Picture 5">
            <a:extLst>
              <a:ext uri="{FF2B5EF4-FFF2-40B4-BE49-F238E27FC236}">
                <a16:creationId xmlns:a16="http://schemas.microsoft.com/office/drawing/2014/main" id="{0768EB11-65C5-5B34-BA91-2BC51B9F724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1566" y="278947"/>
            <a:ext cx="9148867" cy="2873316"/>
          </a:xfrm>
          <a:prstGeom prst="rect">
            <a:avLst/>
          </a:prstGeom>
        </p:spPr>
      </p:pic>
      <p:pic>
        <p:nvPicPr>
          <p:cNvPr id="8" name="Picture 7">
            <a:extLst>
              <a:ext uri="{FF2B5EF4-FFF2-40B4-BE49-F238E27FC236}">
                <a16:creationId xmlns:a16="http://schemas.microsoft.com/office/drawing/2014/main" id="{0BD9F349-B36F-71A3-6139-76D25E44CDE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882628" y="3429000"/>
            <a:ext cx="6426744" cy="2726345"/>
          </a:xfrm>
          <a:prstGeom prst="rect">
            <a:avLst/>
          </a:prstGeom>
        </p:spPr>
      </p:pic>
    </p:spTree>
    <p:extLst>
      <p:ext uri="{BB962C8B-B14F-4D97-AF65-F5344CB8AC3E}">
        <p14:creationId xmlns:p14="http://schemas.microsoft.com/office/powerpoint/2010/main" val="117877357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21918D7-9286-FE77-7137-7697C9A82683}"/>
              </a:ext>
            </a:extLst>
          </p:cNvPr>
          <p:cNvSpPr>
            <a:spLocks noGrp="1"/>
          </p:cNvSpPr>
          <p:nvPr>
            <p:ph type="dt" sz="half" idx="10"/>
          </p:nvPr>
        </p:nvSpPr>
        <p:spPr/>
        <p:txBody>
          <a:bodyPr/>
          <a:lstStyle/>
          <a:p>
            <a:fld id="{273920F3-E9EE-4606-B483-2A8FAA3529CA}" type="datetime1">
              <a:rPr lang="en-US" smtClean="0"/>
              <a:t>10/13/2025</a:t>
            </a:fld>
            <a:endParaRPr lang="en-US"/>
          </a:p>
        </p:txBody>
      </p:sp>
      <p:sp>
        <p:nvSpPr>
          <p:cNvPr id="3" name="Footer Placeholder 2">
            <a:extLst>
              <a:ext uri="{FF2B5EF4-FFF2-40B4-BE49-F238E27FC236}">
                <a16:creationId xmlns:a16="http://schemas.microsoft.com/office/drawing/2014/main" id="{9DEEC00B-21E6-022B-CA8C-6A0C28C1E435}"/>
              </a:ext>
            </a:extLst>
          </p:cNvPr>
          <p:cNvSpPr>
            <a:spLocks noGrp="1"/>
          </p:cNvSpPr>
          <p:nvPr>
            <p:ph type="ftr" sz="quarter" idx="11"/>
          </p:nvPr>
        </p:nvSpPr>
        <p:spPr/>
        <p:txBody>
          <a:bodyPr/>
          <a:lstStyle/>
          <a:p>
            <a:r>
              <a:rPr lang="en-US"/>
              <a:t>NextGen College Advisor: AI-Powered Guidance for Students</a:t>
            </a:r>
          </a:p>
        </p:txBody>
      </p:sp>
      <p:sp>
        <p:nvSpPr>
          <p:cNvPr id="4" name="Slide Number Placeholder 3">
            <a:extLst>
              <a:ext uri="{FF2B5EF4-FFF2-40B4-BE49-F238E27FC236}">
                <a16:creationId xmlns:a16="http://schemas.microsoft.com/office/drawing/2014/main" id="{562A87A4-31EE-8409-1A04-4F5F3987DB3C}"/>
              </a:ext>
            </a:extLst>
          </p:cNvPr>
          <p:cNvSpPr>
            <a:spLocks noGrp="1"/>
          </p:cNvSpPr>
          <p:nvPr>
            <p:ph type="sldNum" sz="quarter" idx="12"/>
          </p:nvPr>
        </p:nvSpPr>
        <p:spPr/>
        <p:txBody>
          <a:bodyPr/>
          <a:lstStyle/>
          <a:p>
            <a:fld id="{FA11DADA-ACB1-42D7-8648-2A253C2E43B8}" type="slidenum">
              <a:rPr lang="en-US" smtClean="0"/>
              <a:pPr/>
              <a:t>27</a:t>
            </a:fld>
            <a:endParaRPr lang="en-US"/>
          </a:p>
        </p:txBody>
      </p:sp>
      <p:pic>
        <p:nvPicPr>
          <p:cNvPr id="6" name="Picture 5">
            <a:extLst>
              <a:ext uri="{FF2B5EF4-FFF2-40B4-BE49-F238E27FC236}">
                <a16:creationId xmlns:a16="http://schemas.microsoft.com/office/drawing/2014/main" id="{E3332F52-44D9-8140-3D74-F39DC45F28D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79539" y="290126"/>
            <a:ext cx="6832922" cy="3138874"/>
          </a:xfrm>
          <a:prstGeom prst="rect">
            <a:avLst/>
          </a:prstGeom>
        </p:spPr>
      </p:pic>
      <p:pic>
        <p:nvPicPr>
          <p:cNvPr id="8" name="Picture 7">
            <a:extLst>
              <a:ext uri="{FF2B5EF4-FFF2-40B4-BE49-F238E27FC236}">
                <a16:creationId xmlns:a16="http://schemas.microsoft.com/office/drawing/2014/main" id="{A8B6DC57-D450-8E0A-70C9-F06C156254D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2274" y="3645896"/>
            <a:ext cx="10247452" cy="2778020"/>
          </a:xfrm>
          <a:prstGeom prst="rect">
            <a:avLst/>
          </a:prstGeom>
        </p:spPr>
      </p:pic>
    </p:spTree>
    <p:extLst>
      <p:ext uri="{BB962C8B-B14F-4D97-AF65-F5344CB8AC3E}">
        <p14:creationId xmlns:p14="http://schemas.microsoft.com/office/powerpoint/2010/main" val="392966396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EFDA64B-84DC-4E85-8C51-E2FCF6EC4E75}"/>
              </a:ext>
            </a:extLst>
          </p:cNvPr>
          <p:cNvSpPr>
            <a:spLocks noGrp="1"/>
          </p:cNvSpPr>
          <p:nvPr>
            <p:ph type="dt" sz="half" idx="10"/>
          </p:nvPr>
        </p:nvSpPr>
        <p:spPr/>
        <p:txBody>
          <a:bodyPr/>
          <a:lstStyle/>
          <a:p>
            <a:fld id="{273920F3-E9EE-4606-B483-2A8FAA3529CA}" type="datetime1">
              <a:rPr lang="en-US" smtClean="0"/>
              <a:t>10/13/2025</a:t>
            </a:fld>
            <a:endParaRPr lang="en-US"/>
          </a:p>
        </p:txBody>
      </p:sp>
      <p:sp>
        <p:nvSpPr>
          <p:cNvPr id="3" name="Footer Placeholder 2">
            <a:extLst>
              <a:ext uri="{FF2B5EF4-FFF2-40B4-BE49-F238E27FC236}">
                <a16:creationId xmlns:a16="http://schemas.microsoft.com/office/drawing/2014/main" id="{7939B950-98B9-6867-6450-CECD012E3E3A}"/>
              </a:ext>
            </a:extLst>
          </p:cNvPr>
          <p:cNvSpPr>
            <a:spLocks noGrp="1"/>
          </p:cNvSpPr>
          <p:nvPr>
            <p:ph type="ftr" sz="quarter" idx="11"/>
          </p:nvPr>
        </p:nvSpPr>
        <p:spPr/>
        <p:txBody>
          <a:bodyPr/>
          <a:lstStyle/>
          <a:p>
            <a:r>
              <a:rPr lang="en-US"/>
              <a:t>NextGen College Advisor: AI-Powered Guidance for Students</a:t>
            </a:r>
          </a:p>
        </p:txBody>
      </p:sp>
      <p:sp>
        <p:nvSpPr>
          <p:cNvPr id="4" name="Slide Number Placeholder 3">
            <a:extLst>
              <a:ext uri="{FF2B5EF4-FFF2-40B4-BE49-F238E27FC236}">
                <a16:creationId xmlns:a16="http://schemas.microsoft.com/office/drawing/2014/main" id="{73B62652-AB19-507C-2C3F-0C139AE92982}"/>
              </a:ext>
            </a:extLst>
          </p:cNvPr>
          <p:cNvSpPr>
            <a:spLocks noGrp="1"/>
          </p:cNvSpPr>
          <p:nvPr>
            <p:ph type="sldNum" sz="quarter" idx="12"/>
          </p:nvPr>
        </p:nvSpPr>
        <p:spPr/>
        <p:txBody>
          <a:bodyPr/>
          <a:lstStyle/>
          <a:p>
            <a:fld id="{FA11DADA-ACB1-42D7-8648-2A253C2E43B8}" type="slidenum">
              <a:rPr lang="en-US" smtClean="0"/>
              <a:pPr/>
              <a:t>28</a:t>
            </a:fld>
            <a:endParaRPr lang="en-US"/>
          </a:p>
        </p:txBody>
      </p:sp>
      <p:pic>
        <p:nvPicPr>
          <p:cNvPr id="6" name="Picture 5">
            <a:extLst>
              <a:ext uri="{FF2B5EF4-FFF2-40B4-BE49-F238E27FC236}">
                <a16:creationId xmlns:a16="http://schemas.microsoft.com/office/drawing/2014/main" id="{97FFF3F3-48F2-C69A-EB9B-83824727AE3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54012" y="190983"/>
            <a:ext cx="5283976" cy="3157175"/>
          </a:xfrm>
          <a:prstGeom prst="rect">
            <a:avLst/>
          </a:prstGeom>
        </p:spPr>
      </p:pic>
      <p:pic>
        <p:nvPicPr>
          <p:cNvPr id="8" name="Picture 7">
            <a:extLst>
              <a:ext uri="{FF2B5EF4-FFF2-40B4-BE49-F238E27FC236}">
                <a16:creationId xmlns:a16="http://schemas.microsoft.com/office/drawing/2014/main" id="{1ED13907-0BA3-43D2-5BB5-9462E56BF35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86683" y="3507089"/>
            <a:ext cx="7618634" cy="2690330"/>
          </a:xfrm>
          <a:prstGeom prst="rect">
            <a:avLst/>
          </a:prstGeom>
        </p:spPr>
      </p:pic>
    </p:spTree>
    <p:extLst>
      <p:ext uri="{BB962C8B-B14F-4D97-AF65-F5344CB8AC3E}">
        <p14:creationId xmlns:p14="http://schemas.microsoft.com/office/powerpoint/2010/main" val="225556987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1895B0-9DC9-4F8B-9E75-0E7A204472E1}"/>
              </a:ext>
            </a:extLst>
          </p:cNvPr>
          <p:cNvSpPr>
            <a:spLocks noGrp="1"/>
          </p:cNvSpPr>
          <p:nvPr>
            <p:ph type="title"/>
          </p:nvPr>
        </p:nvSpPr>
        <p:spPr>
          <a:xfrm>
            <a:off x="4807321" y="78756"/>
            <a:ext cx="2577353" cy="1069228"/>
          </a:xfrm>
        </p:spPr>
        <p:txBody>
          <a:bodyPr>
            <a:normAutofit/>
          </a:bodyPr>
          <a:lstStyle/>
          <a:p>
            <a:pPr algn="ctr"/>
            <a:r>
              <a:rPr lang="en-US" sz="3200" b="1" dirty="0">
                <a:solidFill>
                  <a:schemeClr val="accent1">
                    <a:lumMod val="50000"/>
                  </a:schemeClr>
                </a:solidFill>
                <a:latin typeface="Times New Roman" panose="02020603050405020304" pitchFamily="18" charset="0"/>
                <a:cs typeface="Times New Roman" panose="02020603050405020304" pitchFamily="18" charset="0"/>
              </a:rPr>
              <a:t>Conclusion</a:t>
            </a:r>
            <a:endParaRPr lang="en-IN" sz="3200" b="1" dirty="0">
              <a:solidFill>
                <a:schemeClr val="accent1">
                  <a:lumMod val="50000"/>
                </a:schemeClr>
              </a:solidFill>
              <a:latin typeface="Times New Roman" panose="02020603050405020304" pitchFamily="18" charset="0"/>
              <a:cs typeface="Times New Roman" panose="02020603050405020304" pitchFamily="18" charset="0"/>
            </a:endParaRPr>
          </a:p>
        </p:txBody>
      </p:sp>
      <p:sp>
        <p:nvSpPr>
          <p:cNvPr id="3" name="Date Placeholder 2">
            <a:extLst>
              <a:ext uri="{FF2B5EF4-FFF2-40B4-BE49-F238E27FC236}">
                <a16:creationId xmlns:a16="http://schemas.microsoft.com/office/drawing/2014/main" id="{F8AD8DF1-152D-4683-8560-8D90EB695E5B}"/>
              </a:ext>
            </a:extLst>
          </p:cNvPr>
          <p:cNvSpPr>
            <a:spLocks noGrp="1"/>
          </p:cNvSpPr>
          <p:nvPr>
            <p:ph type="dt" sz="half" idx="10"/>
          </p:nvPr>
        </p:nvSpPr>
        <p:spPr/>
        <p:txBody>
          <a:bodyPr/>
          <a:lstStyle/>
          <a:p>
            <a:fld id="{F1BDBE5B-A0ED-4D70-8D0F-A1ADCEE58C6C}" type="datetime1">
              <a:rPr lang="en-US" smtClean="0"/>
              <a:t>10/13/2025</a:t>
            </a:fld>
            <a:endParaRPr lang="en-US"/>
          </a:p>
        </p:txBody>
      </p:sp>
      <p:sp>
        <p:nvSpPr>
          <p:cNvPr id="4" name="Footer Placeholder 3">
            <a:extLst>
              <a:ext uri="{FF2B5EF4-FFF2-40B4-BE49-F238E27FC236}">
                <a16:creationId xmlns:a16="http://schemas.microsoft.com/office/drawing/2014/main" id="{3F3900B6-9C59-4B16-A7CA-15107C49905F}"/>
              </a:ext>
            </a:extLst>
          </p:cNvPr>
          <p:cNvSpPr>
            <a:spLocks noGrp="1"/>
          </p:cNvSpPr>
          <p:nvPr>
            <p:ph type="ftr" sz="quarter" idx="11"/>
          </p:nvPr>
        </p:nvSpPr>
        <p:spPr/>
        <p:txBody>
          <a:bodyPr/>
          <a:lstStyle/>
          <a:p>
            <a:r>
              <a:rPr lang="en-US"/>
              <a:t>NextGen College Advisor: AI-Powered Guidance for Students</a:t>
            </a:r>
          </a:p>
        </p:txBody>
      </p:sp>
      <p:sp>
        <p:nvSpPr>
          <p:cNvPr id="5" name="Slide Number Placeholder 4">
            <a:extLst>
              <a:ext uri="{FF2B5EF4-FFF2-40B4-BE49-F238E27FC236}">
                <a16:creationId xmlns:a16="http://schemas.microsoft.com/office/drawing/2014/main" id="{9A569147-BA86-4C1E-906C-54D3D1AED9CD}"/>
              </a:ext>
            </a:extLst>
          </p:cNvPr>
          <p:cNvSpPr>
            <a:spLocks noGrp="1"/>
          </p:cNvSpPr>
          <p:nvPr>
            <p:ph type="sldNum" sz="quarter" idx="12"/>
          </p:nvPr>
        </p:nvSpPr>
        <p:spPr/>
        <p:txBody>
          <a:bodyPr/>
          <a:lstStyle/>
          <a:p>
            <a:fld id="{FA11DADA-ACB1-42D7-8648-2A253C2E43B8}" type="slidenum">
              <a:rPr lang="en-US" smtClean="0"/>
              <a:pPr/>
              <a:t>29</a:t>
            </a:fld>
            <a:endParaRPr lang="en-US"/>
          </a:p>
        </p:txBody>
      </p:sp>
      <p:sp>
        <p:nvSpPr>
          <p:cNvPr id="6" name="TextBox 5">
            <a:extLst>
              <a:ext uri="{FF2B5EF4-FFF2-40B4-BE49-F238E27FC236}">
                <a16:creationId xmlns:a16="http://schemas.microsoft.com/office/drawing/2014/main" id="{C68BD3A0-3C91-4EE2-99CC-4276E57A2564}"/>
              </a:ext>
            </a:extLst>
          </p:cNvPr>
          <p:cNvSpPr txBox="1"/>
          <p:nvPr/>
        </p:nvSpPr>
        <p:spPr>
          <a:xfrm>
            <a:off x="699245" y="3981411"/>
            <a:ext cx="10793506" cy="2120068"/>
          </a:xfrm>
          <a:prstGeom prst="rect">
            <a:avLst/>
          </a:prstGeom>
          <a:noFill/>
        </p:spPr>
        <p:txBody>
          <a:bodyPr wrap="square" rtlCol="0">
            <a:spAutoFit/>
          </a:bodyPr>
          <a:lstStyle/>
          <a:p>
            <a:pPr algn="just">
              <a:lnSpc>
                <a:spcPct val="150000"/>
              </a:lnSpc>
            </a:pPr>
            <a:r>
              <a:rPr lang="en-US" dirty="0">
                <a:latin typeface="Times New Roman" panose="02020603050405020304" pitchFamily="18" charset="0"/>
                <a:cs typeface="Times New Roman" panose="02020603050405020304" pitchFamily="18" charset="0"/>
              </a:rPr>
              <a:t>With the increasing complexity of the college admission process, students often struggle to make timely and informed decisions. The 'NextGen College Advisor' addresses this challenge by using Machine learning models  to deliver accurate, engineering college admission predictions. This innovative platform not only simplifies the process but also empowers students to navigate their academic futures with confidence and efficiency, showcasing the transformative potential of AI in education.</a:t>
            </a:r>
            <a:endParaRPr lang="en-IN" dirty="0">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7432ECC3-8BF4-40B3-A3F6-9C729209442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84100" y="1147984"/>
            <a:ext cx="4823799" cy="2833427"/>
          </a:xfrm>
          <a:prstGeom prst="rect">
            <a:avLst/>
          </a:prstGeom>
        </p:spPr>
      </p:pic>
    </p:spTree>
    <p:extLst>
      <p:ext uri="{BB962C8B-B14F-4D97-AF65-F5344CB8AC3E}">
        <p14:creationId xmlns:p14="http://schemas.microsoft.com/office/powerpoint/2010/main" val="369969972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74E3A5-D072-48A3-B8C9-8707FBB4D2B8}"/>
              </a:ext>
            </a:extLst>
          </p:cNvPr>
          <p:cNvSpPr>
            <a:spLocks noGrp="1"/>
          </p:cNvSpPr>
          <p:nvPr>
            <p:ph type="title"/>
          </p:nvPr>
        </p:nvSpPr>
        <p:spPr>
          <a:xfrm>
            <a:off x="4961964" y="191574"/>
            <a:ext cx="2268072" cy="576169"/>
          </a:xfrm>
        </p:spPr>
        <p:txBody>
          <a:bodyPr>
            <a:normAutofit/>
          </a:bodyPr>
          <a:lstStyle/>
          <a:p>
            <a:r>
              <a:rPr lang="en-US" sz="3200" b="1" dirty="0">
                <a:solidFill>
                  <a:schemeClr val="accent1">
                    <a:lumMod val="50000"/>
                  </a:schemeClr>
                </a:solidFill>
                <a:latin typeface="Times New Roman" panose="02020603050405020304" pitchFamily="18" charset="0"/>
                <a:cs typeface="Times New Roman" panose="02020603050405020304" pitchFamily="18" charset="0"/>
              </a:rPr>
              <a:t>References</a:t>
            </a:r>
            <a:endParaRPr lang="en-IN" sz="3200" b="1" dirty="0">
              <a:solidFill>
                <a:schemeClr val="accent1">
                  <a:lumMod val="50000"/>
                </a:schemeClr>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1C921D84-60F8-4864-99A9-D4C105AABB55}"/>
              </a:ext>
            </a:extLst>
          </p:cNvPr>
          <p:cNvSpPr>
            <a:spLocks noGrp="1"/>
          </p:cNvSpPr>
          <p:nvPr>
            <p:ph idx="1"/>
          </p:nvPr>
        </p:nvSpPr>
        <p:spPr>
          <a:xfrm>
            <a:off x="838200" y="1180166"/>
            <a:ext cx="10515600" cy="4351338"/>
          </a:xfrm>
        </p:spPr>
        <p:txBody>
          <a:bodyPr>
            <a:normAutofit/>
          </a:bodyPr>
          <a:lstStyle/>
          <a:p>
            <a:pPr marL="457200" indent="-457200" algn="just">
              <a:buFont typeface="+mj-lt"/>
              <a:buAutoNum type="arabicPeriod"/>
            </a:pPr>
            <a:r>
              <a:rPr lang="en-IN" sz="1800" dirty="0">
                <a:latin typeface="Times New Roman" panose="02020603050405020304" pitchFamily="18" charset="0"/>
                <a:cs typeface="Times New Roman" panose="02020603050405020304" pitchFamily="18" charset="0"/>
              </a:rPr>
              <a:t>Jadhav Sayali Pramod, Patil Durga Ananda, Kamble Sonali Arun, Shinde Sumit Sahebrao</a:t>
            </a:r>
            <a:r>
              <a:rPr lang="en-US" sz="1800" dirty="0">
                <a:latin typeface="Times New Roman" panose="02020603050405020304" pitchFamily="18" charset="0"/>
                <a:cs typeface="Times New Roman" panose="02020603050405020304" pitchFamily="18" charset="0"/>
              </a:rPr>
              <a:t> “College Recommendation System using Machine Learning”,2020,</a:t>
            </a:r>
            <a:r>
              <a:rPr lang="en-IN" sz="1800" dirty="0">
                <a:latin typeface="Times New Roman" panose="02020603050405020304" pitchFamily="18" charset="0"/>
                <a:cs typeface="Times New Roman" panose="02020603050405020304" pitchFamily="18" charset="0"/>
              </a:rPr>
              <a:t> e-ISSN: 2395-0056, p-ISSN: 2395-0072</a:t>
            </a:r>
            <a:endParaRPr lang="en-US" sz="1800" dirty="0">
              <a:latin typeface="Times New Roman" panose="02020603050405020304" pitchFamily="18" charset="0"/>
              <a:cs typeface="Times New Roman" panose="02020603050405020304" pitchFamily="18" charset="0"/>
            </a:endParaRPr>
          </a:p>
          <a:p>
            <a:pPr marL="457200" indent="-457200" algn="just">
              <a:buFont typeface="+mj-lt"/>
              <a:buAutoNum type="arabicPeriod"/>
            </a:pPr>
            <a:r>
              <a:rPr lang="en-US" sz="1800" dirty="0">
                <a:latin typeface="Times New Roman" panose="02020603050405020304" pitchFamily="18" charset="0"/>
                <a:cs typeface="Times New Roman" panose="02020603050405020304" pitchFamily="18" charset="0"/>
              </a:rPr>
              <a:t>Sunil Sonawane , Madhavi Gosavi , Aparna Pawar, Omkar Pawar and Dhananjay </a:t>
            </a:r>
            <a:r>
              <a:rPr lang="en-US" sz="1800" dirty="0" err="1">
                <a:latin typeface="Times New Roman" panose="02020603050405020304" pitchFamily="18" charset="0"/>
                <a:cs typeface="Times New Roman" panose="02020603050405020304" pitchFamily="18" charset="0"/>
              </a:rPr>
              <a:t>Dighe</a:t>
            </a:r>
            <a:r>
              <a:rPr lang="en-US" sz="1800" dirty="0">
                <a:latin typeface="Times New Roman" panose="02020603050405020304" pitchFamily="18" charset="0"/>
                <a:cs typeface="Times New Roman" panose="02020603050405020304" pitchFamily="18" charset="0"/>
              </a:rPr>
              <a:t> “College Recommendation System Using Artificial Intelligence And Machine Learning” 2023, e-ISSN: 2582-5208</a:t>
            </a:r>
          </a:p>
          <a:p>
            <a:pPr marL="457200" indent="-457200" algn="just">
              <a:buFont typeface="+mj-lt"/>
              <a:buAutoNum type="arabicPeriod"/>
            </a:pPr>
            <a:r>
              <a:rPr lang="en-US" sz="1800" b="0" i="0" dirty="0">
                <a:effectLst/>
                <a:highlight>
                  <a:srgbClr val="FFFFFF"/>
                </a:highlight>
                <a:latin typeface="Times New Roman" panose="02020603050405020304" pitchFamily="18" charset="0"/>
                <a:cs typeface="Times New Roman" panose="02020603050405020304" pitchFamily="18" charset="0"/>
              </a:rPr>
              <a:t>Sachin Bhoitea ,Vikas Magar and C. H. Patil  “</a:t>
            </a:r>
            <a:r>
              <a:rPr lang="en-US" sz="1800" b="0" i="0" dirty="0">
                <a:solidFill>
                  <a:srgbClr val="000000"/>
                </a:solidFill>
                <a:effectLst/>
                <a:highlight>
                  <a:srgbClr val="FFFFFF"/>
                </a:highlight>
                <a:latin typeface="Times New Roman" panose="02020603050405020304" pitchFamily="18" charset="0"/>
                <a:cs typeface="Times New Roman" panose="02020603050405020304" pitchFamily="18" charset="0"/>
              </a:rPr>
              <a:t>AI-driven global talent prediction: Anticipating international graduate admissions”</a:t>
            </a:r>
            <a:r>
              <a:rPr lang="en-US" sz="1800" dirty="0">
                <a:solidFill>
                  <a:srgbClr val="000000"/>
                </a:solidFill>
                <a:highlight>
                  <a:srgbClr val="FFFFFF"/>
                </a:highlight>
                <a:latin typeface="Times New Roman" panose="02020603050405020304" pitchFamily="18" charset="0"/>
                <a:cs typeface="Times New Roman" panose="02020603050405020304" pitchFamily="18" charset="0"/>
              </a:rPr>
              <a:t>,2024, </a:t>
            </a:r>
            <a:r>
              <a:rPr lang="en-IN" sz="1800" b="0" i="0" dirty="0">
                <a:solidFill>
                  <a:srgbClr val="666666"/>
                </a:solidFill>
                <a:effectLst/>
                <a:highlight>
                  <a:srgbClr val="FFFFFF"/>
                </a:highlight>
                <a:latin typeface="Times New Roman" panose="02020603050405020304" pitchFamily="18" charset="0"/>
                <a:cs typeface="Times New Roman" panose="02020603050405020304" pitchFamily="18" charset="0"/>
              </a:rPr>
              <a:t>ISBN :</a:t>
            </a:r>
            <a:r>
              <a:rPr lang="en-IN" sz="1800" b="0" i="0" dirty="0">
                <a:solidFill>
                  <a:srgbClr val="000000"/>
                </a:solidFill>
                <a:effectLst/>
                <a:highlight>
                  <a:srgbClr val="FFFFFF"/>
                </a:highlight>
                <a:latin typeface="Times New Roman" panose="02020603050405020304" pitchFamily="18" charset="0"/>
                <a:cs typeface="Times New Roman" panose="02020603050405020304" pitchFamily="18" charset="0"/>
              </a:rPr>
              <a:t>9781003471059</a:t>
            </a:r>
          </a:p>
          <a:p>
            <a:pPr marL="457200" indent="-457200" algn="just">
              <a:buFont typeface="+mj-lt"/>
              <a:buAutoNum type="arabicPeriod"/>
            </a:pPr>
            <a:r>
              <a:rPr lang="en-IN" sz="1800" dirty="0">
                <a:latin typeface="Times New Roman" panose="02020603050405020304" pitchFamily="18" charset="0"/>
                <a:cs typeface="Times New Roman" panose="02020603050405020304" pitchFamily="18" charset="0"/>
              </a:rPr>
              <a:t>Sommerville, Ian Software engineering / Ian Sommerville. — 9th ed. p. cm. Includes index. ISBN-13: 978-0-13-703515-1 ISBN-10: 0-13-703515-2 </a:t>
            </a:r>
          </a:p>
        </p:txBody>
      </p:sp>
      <p:sp>
        <p:nvSpPr>
          <p:cNvPr id="10" name="Date Placeholder 9">
            <a:extLst>
              <a:ext uri="{FF2B5EF4-FFF2-40B4-BE49-F238E27FC236}">
                <a16:creationId xmlns:a16="http://schemas.microsoft.com/office/drawing/2014/main" id="{7DDCF457-9B5C-1F4A-6F10-5AE62FFAAAD3}"/>
              </a:ext>
            </a:extLst>
          </p:cNvPr>
          <p:cNvSpPr>
            <a:spLocks noGrp="1"/>
          </p:cNvSpPr>
          <p:nvPr>
            <p:ph type="dt" sz="half" idx="10"/>
          </p:nvPr>
        </p:nvSpPr>
        <p:spPr/>
        <p:txBody>
          <a:bodyPr/>
          <a:lstStyle/>
          <a:p>
            <a:fld id="{6B9893A2-F33E-4C1C-A69E-416A5BD443B3}" type="datetime1">
              <a:rPr lang="en-US" smtClean="0"/>
              <a:t>10/13/2025</a:t>
            </a:fld>
            <a:endParaRPr lang="en-US"/>
          </a:p>
        </p:txBody>
      </p:sp>
      <p:sp>
        <p:nvSpPr>
          <p:cNvPr id="11" name="Footer Placeholder 10">
            <a:extLst>
              <a:ext uri="{FF2B5EF4-FFF2-40B4-BE49-F238E27FC236}">
                <a16:creationId xmlns:a16="http://schemas.microsoft.com/office/drawing/2014/main" id="{DFC5E7FC-6999-CA0E-DA0D-E0ECBD2F9F22}"/>
              </a:ext>
            </a:extLst>
          </p:cNvPr>
          <p:cNvSpPr>
            <a:spLocks noGrp="1"/>
          </p:cNvSpPr>
          <p:nvPr>
            <p:ph type="ftr" sz="quarter" idx="11"/>
          </p:nvPr>
        </p:nvSpPr>
        <p:spPr/>
        <p:txBody>
          <a:bodyPr/>
          <a:lstStyle/>
          <a:p>
            <a:r>
              <a:rPr lang="en-US"/>
              <a:t>NextGen College Advisor: AI-Powered Guidance for Students</a:t>
            </a:r>
          </a:p>
        </p:txBody>
      </p:sp>
      <p:sp>
        <p:nvSpPr>
          <p:cNvPr id="12" name="Slide Number Placeholder 11">
            <a:extLst>
              <a:ext uri="{FF2B5EF4-FFF2-40B4-BE49-F238E27FC236}">
                <a16:creationId xmlns:a16="http://schemas.microsoft.com/office/drawing/2014/main" id="{574B1003-7885-9209-263B-7DDEA2794118}"/>
              </a:ext>
            </a:extLst>
          </p:cNvPr>
          <p:cNvSpPr>
            <a:spLocks noGrp="1"/>
          </p:cNvSpPr>
          <p:nvPr>
            <p:ph type="sldNum" sz="quarter" idx="12"/>
          </p:nvPr>
        </p:nvSpPr>
        <p:spPr/>
        <p:txBody>
          <a:bodyPr/>
          <a:lstStyle/>
          <a:p>
            <a:fld id="{FA11DADA-ACB1-42D7-8648-2A253C2E43B8}" type="slidenum">
              <a:rPr lang="en-US" smtClean="0"/>
              <a:pPr/>
              <a:t>30</a:t>
            </a:fld>
            <a:endParaRPr lang="en-US"/>
          </a:p>
        </p:txBody>
      </p:sp>
    </p:spTree>
    <p:extLst>
      <p:ext uri="{BB962C8B-B14F-4D97-AF65-F5344CB8AC3E}">
        <p14:creationId xmlns:p14="http://schemas.microsoft.com/office/powerpoint/2010/main" val="130664074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7CB98B9-B582-4CAF-8E0D-B9EE064C417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09534" y="-304800"/>
            <a:ext cx="9172931" cy="6468092"/>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2312</TotalTime>
  <Words>1777</Words>
  <Application>Microsoft Office PowerPoint</Application>
  <PresentationFormat>Widescreen</PresentationFormat>
  <Paragraphs>325</Paragraphs>
  <Slides>31</Slides>
  <Notes>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31</vt:i4>
      </vt:variant>
    </vt:vector>
  </HeadingPairs>
  <TitlesOfParts>
    <vt:vector size="37" baseType="lpstr">
      <vt:lpstr>Arial</vt:lpstr>
      <vt:lpstr>Calibri</vt:lpstr>
      <vt:lpstr>Calibri Light</vt:lpstr>
      <vt:lpstr>Times New Roman</vt:lpstr>
      <vt:lpstr>Wingdings</vt:lpstr>
      <vt:lpstr>Office Theme</vt:lpstr>
      <vt:lpstr>PowerPoint Presentation</vt:lpstr>
      <vt:lpstr> Abstract </vt:lpstr>
      <vt:lpstr> Contents </vt:lpstr>
      <vt:lpstr> Introduction  </vt:lpstr>
      <vt:lpstr> Literature Survey </vt:lpstr>
      <vt:lpstr>PowerPoint Presentation</vt:lpstr>
      <vt:lpstr> Objectives </vt:lpstr>
      <vt:lpstr> Problem Statement  </vt:lpstr>
      <vt:lpstr>PowerPoint Presentation</vt:lpstr>
      <vt:lpstr>Methodology</vt:lpstr>
      <vt:lpstr>Requirements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Test cases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Conclusion</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Operating Systems</dc:title>
  <dc:creator>Dr Mallikarjuna</dc:creator>
  <cp:lastModifiedBy>MAHESH GHORPADE M</cp:lastModifiedBy>
  <cp:revision>150</cp:revision>
  <dcterms:created xsi:type="dcterms:W3CDTF">2023-11-12T16:48:07Z</dcterms:created>
  <dcterms:modified xsi:type="dcterms:W3CDTF">2025-10-13T15:47:44Z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0e3aa5229c7c4541b6da3e70e40f69f1</vt:lpwstr>
  </property>
</Properties>
</file>